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share of time (%)</c:v>
                </c:pt>
              </c:strCache>
            </c:strRef>
          </c:tx>
          <c:spPr>
            <a:solidFill>
              <a:srgbClr val="9AA5B1"/>
            </a:solidFill>
          </c:spPr>
          <c:dPt>
            <c:idx val="0"/>
            <c:spPr>
              <a:solidFill>
                <a:srgbClr val="9AA5B1"/>
              </a:solidFill>
            </c:spPr>
          </c:dPt>
          <c:dPt>
            <c:idx val="1"/>
            <c:spPr>
              <a:solidFill>
                <a:srgbClr val="9AA5B1"/>
              </a:solidFill>
            </c:spPr>
          </c:dPt>
          <c:dPt>
            <c:idx val="2"/>
            <c:spPr>
              <a:solidFill>
                <a:srgbClr val="D9822B"/>
              </a:solidFill>
            </c:spPr>
          </c:dPt>
          <c:dPt>
            <c:idx val="3"/>
            <c:spPr>
              <a:solidFill>
                <a:srgbClr val="9AA5B1"/>
              </a:solidFill>
            </c:spPr>
          </c:dPt>
          <c:dPt>
            <c:idx val="4"/>
            <c:spPr>
              <a:solidFill>
                <a:srgbClr val="1C9A86"/>
              </a:solidFill>
            </c:spPr>
          </c:dPt>
          <c:cat>
            <c:strRef>
              <c:f>Sheet1!$A$2:$A$6</c:f>
              <c:strCache>
                <c:ptCount val="5"/>
                <c:pt idx="0">
                  <c:v>interpreter loop</c:v>
                </c:pt>
                <c:pt idx="1">
                  <c:v>float arithmetic</c:v>
                </c:pt>
                <c:pt idx="2">
                  <c:v>list indexing</c:v>
                </c:pt>
                <c:pt idx="3">
                  <c:v>float objects</c:v>
                </c:pt>
                <c:pt idx="4">
                  <c:v>pow (**)</c:v>
                </c:pt>
              </c:strCache>
            </c:strRef>
          </c:cat>
          <c:val>
            <c:numRef>
              <c:f>Sheet1!$B$2:$B$6</c:f>
              <c:numCache>
                <c:formatCode>General</c:formatCode>
                <c:ptCount val="5"/>
                <c:pt idx="0">
                  <c:v>44.9</c:v>
                </c:pt>
                <c:pt idx="1">
                  <c:v>19.4</c:v>
                </c:pt>
                <c:pt idx="2">
                  <c:v>14.8</c:v>
                </c:pt>
                <c:pt idx="3">
                  <c:v>12.9</c:v>
                </c:pt>
                <c:pt idx="4">
                  <c:v>1.8</c:v>
                </c:pt>
              </c:numCache>
            </c:numRef>
          </c:val>
        </c:ser>
        <c:dLbls>
          <c:numFmt formatCode="0.0&quot;%&quot;" sourceLinked="0"/>
          <c:txPr>
            <a:bodyPr/>
            <a:lstStyle/>
            <a:p>
              <a:pPr>
                <a:defRPr sz="1200">
                  <a:solidFill>
                    <a:srgbClr val="1E2A38"/>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C9D2DC"/>
            </a:solidFill>
          </a:ln>
        </c:spPr>
        <c:txPr>
          <a:bodyPr/>
          <a:lstStyle/>
          <a:p>
            <a:pPr>
              <a:defRPr sz="1200">
                <a:solidFill>
                  <a:srgbClr val="1E2A38"/>
                </a:solidFill>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200">
          <a:solidFill>
            <a:srgbClr val="1E2A38"/>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local variable</c:v>
                </c:pt>
              </c:strCache>
            </c:strRef>
          </c:tx>
          <c:spPr>
            <a:solidFill>
              <a:srgbClr val="1C9A86"/>
            </a:solidFill>
          </c:spPr>
          <c:cat>
            <c:strRef>
              <c:f>Sheet1!$A$2:$A$3</c:f>
              <c:strCache>
                <c:ptCount val="2"/>
                <c:pt idx="0">
                  <c:v>read</c:v>
                </c:pt>
                <c:pt idx="1">
                  <c:v>update (-=)</c:v>
                </c:pt>
              </c:strCache>
            </c:strRef>
          </c:cat>
          <c:val>
            <c:numRef>
              <c:f>Sheet1!$B$2:$B$3</c:f>
              <c:numCache>
                <c:formatCode>General</c:formatCode>
                <c:ptCount val="2"/>
                <c:pt idx="0">
                  <c:v>17</c:v>
                </c:pt>
                <c:pt idx="1">
                  <c:v>38</c:v>
                </c:pt>
              </c:numCache>
            </c:numRef>
          </c:val>
        </c:ser>
        <c:ser>
          <c:idx val="1"/>
          <c:order val="1"/>
          <c:tx>
            <c:strRef>
              <c:f>Sheet1!$C$1</c:f>
              <c:strCache>
                <c:ptCount val="1"/>
                <c:pt idx="0">
                  <c:v>list element</c:v>
                </c:pt>
              </c:strCache>
            </c:strRef>
          </c:tx>
          <c:spPr>
            <a:solidFill>
              <a:srgbClr val="9AA5B1"/>
            </a:solidFill>
          </c:spPr>
          <c:cat>
            <c:strRef>
              <c:f>Sheet1!$A$2:$A$3</c:f>
              <c:strCache>
                <c:ptCount val="2"/>
                <c:pt idx="0">
                  <c:v>read</c:v>
                </c:pt>
                <c:pt idx="1">
                  <c:v>update (-=)</c:v>
                </c:pt>
              </c:strCache>
            </c:strRef>
          </c:cat>
          <c:val>
            <c:numRef>
              <c:f>Sheet1!$C$2:$C$3</c:f>
              <c:numCache>
                <c:formatCode>General</c:formatCode>
                <c:ptCount val="2"/>
                <c:pt idx="0">
                  <c:v>33</c:v>
                </c:pt>
                <c:pt idx="1">
                  <c:v>80</c:v>
                </c:pt>
              </c:numCache>
            </c:numRef>
          </c:val>
        </c:ser>
        <c:dLbls>
          <c:numFmt formatCode="0&quot; ns&quot;" sourceLinked="0"/>
          <c:txPr>
            <a:bodyPr/>
            <a:lstStyle/>
            <a:p>
              <a:pPr>
                <a:defRPr sz="1300">
                  <a:solidFill>
                    <a:srgbClr val="1E2A38"/>
                  </a:solidFill>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C9D2DC"/>
            </a:solidFill>
          </a:ln>
        </c:spPr>
        <c:txPr>
          <a:bodyPr/>
          <a:lstStyle/>
          <a:p>
            <a:pPr>
              <a:defRPr sz="1300">
                <a:solidFill>
                  <a:srgbClr val="1E2A38"/>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b"/>
      <c:overlay val="0"/>
    </c:legend>
    <c:dispBlanksAs val="gap"/>
  </c:chart>
  <c:txPr>
    <a:bodyPr/>
    <a:lstStyle/>
    <a:p>
      <a:pPr>
        <a:defRPr sz="1300">
          <a:solidFill>
            <a:srgbClr val="1E2A38"/>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median (ms)</c:v>
                </c:pt>
              </c:strCache>
            </c:strRef>
          </c:tx>
          <c:spPr>
            <a:solidFill>
              <a:srgbClr val="9AA5B1"/>
            </a:solidFill>
          </c:spPr>
          <c:dPt>
            <c:idx val="0"/>
            <c:spPr>
              <a:solidFill>
                <a:srgbClr val="9AA5B1"/>
              </a:solidFill>
            </c:spPr>
          </c:dPt>
          <c:dPt>
            <c:idx val="1"/>
            <c:spPr>
              <a:solidFill>
                <a:srgbClr val="7FBFB3"/>
              </a:solidFill>
            </c:spPr>
          </c:dPt>
          <c:dPt>
            <c:idx val="2"/>
            <c:spPr>
              <a:solidFill>
                <a:srgbClr val="7FBFB3"/>
              </a:solidFill>
            </c:spPr>
          </c:dPt>
          <c:dPt>
            <c:idx val="3"/>
            <c:spPr>
              <a:solidFill>
                <a:srgbClr val="7FBFB3"/>
              </a:solidFill>
            </c:spPr>
          </c:dPt>
          <c:dPt>
            <c:idx val="4"/>
            <c:spPr>
              <a:solidFill>
                <a:srgbClr val="1C9A86"/>
              </a:solidFill>
            </c:spPr>
          </c:dPt>
          <c:cat>
            <c:strRef>
              <c:f>Sheet1!$A$2:$A$6</c:f>
              <c:strCache>
                <c:ptCount val="5"/>
                <c:pt idx="0">
                  <c:v>original</c:v>
                </c:pt>
                <c:pt idx="1">
                  <c:v>shadow_ray</c:v>
                </c:pt>
                <c:pt idx="2">
                  <c:v>sphere_floats</c:v>
                </c:pt>
                <c:pt idx="3">
                  <c:v>slots</c:v>
                </c:pt>
                <c:pt idx="4">
                  <c:v>combined</c:v>
                </c:pt>
              </c:strCache>
            </c:strRef>
          </c:cat>
          <c:val>
            <c:numRef>
              <c:f>Sheet1!$B$2:$B$6</c:f>
              <c:numCache>
                <c:formatCode>General</c:formatCode>
                <c:ptCount val="5"/>
                <c:pt idx="0">
                  <c:v>807.0</c:v>
                </c:pt>
                <c:pt idx="1">
                  <c:v>620.7</c:v>
                </c:pt>
                <c:pt idx="2">
                  <c:v>601.1</c:v>
                </c:pt>
                <c:pt idx="3">
                  <c:v>719.1</c:v>
                </c:pt>
                <c:pt idx="4">
                  <c:v>385.0</c:v>
                </c:pt>
              </c:numCache>
            </c:numRef>
          </c:val>
        </c:ser>
        <c:dLbls>
          <c:numFmt formatCode="0&quot; ms&quot;" sourceLinked="0"/>
          <c:txPr>
            <a:bodyPr/>
            <a:lstStyle/>
            <a:p>
              <a:pPr>
                <a:defRPr sz="1200">
                  <a:solidFill>
                    <a:srgbClr val="1E2A38"/>
                  </a:solidFill>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9D2DC"/>
            </a:solidFill>
          </a:ln>
        </c:spPr>
        <c:txPr>
          <a:bodyPr/>
          <a:lstStyle/>
          <a:p>
            <a:pPr>
              <a:defRPr sz="1200">
                <a:solidFill>
                  <a:srgbClr val="1E2A38"/>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200">
          <a:solidFill>
            <a:srgbClr val="1E2A38"/>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original</c:v>
                </c:pt>
              </c:strCache>
            </c:strRef>
          </c:tx>
          <c:spPr>
            <a:solidFill>
              <a:srgbClr val="9AA5B1"/>
            </a:solidFill>
          </c:spPr>
          <c:cat>
            <c:strRef>
              <c:f>Sheet1!$A$2:$A$3</c:f>
              <c:strCache>
                <c:ptCount val="2"/>
                <c:pt idx="0">
                  <c:v>nbody</c:v>
                </c:pt>
                <c:pt idx="1">
                  <c:v>raytrace</c:v>
                </c:pt>
              </c:strCache>
            </c:strRef>
          </c:cat>
          <c:val>
            <c:numRef>
              <c:f>Sheet1!$B$2:$B$3</c:f>
              <c:numCache>
                <c:formatCode>General</c:formatCode>
                <c:ptCount val="2"/>
                <c:pt idx="0">
                  <c:v>230.4</c:v>
                </c:pt>
                <c:pt idx="1">
                  <c:v>807.0</c:v>
                </c:pt>
              </c:numCache>
            </c:numRef>
          </c:val>
        </c:ser>
        <c:ser>
          <c:idx val="1"/>
          <c:order val="1"/>
          <c:tx>
            <c:strRef>
              <c:f>Sheet1!$C$1</c:f>
              <c:strCache>
                <c:ptCount val="1"/>
                <c:pt idx="0">
                  <c:v>optimized</c:v>
                </c:pt>
              </c:strCache>
            </c:strRef>
          </c:tx>
          <c:spPr>
            <a:solidFill>
              <a:srgbClr val="1C9A86"/>
            </a:solidFill>
          </c:spPr>
          <c:cat>
            <c:strRef>
              <c:f>Sheet1!$A$2:$A$3</c:f>
              <c:strCache>
                <c:ptCount val="2"/>
                <c:pt idx="0">
                  <c:v>nbody</c:v>
                </c:pt>
                <c:pt idx="1">
                  <c:v>raytrace</c:v>
                </c:pt>
              </c:strCache>
            </c:strRef>
          </c:cat>
          <c:val>
            <c:numRef>
              <c:f>Sheet1!$C$2:$C$3</c:f>
              <c:numCache>
                <c:formatCode>General</c:formatCode>
                <c:ptCount val="2"/>
                <c:pt idx="0">
                  <c:v>144.3</c:v>
                </c:pt>
                <c:pt idx="1">
                  <c:v>385.0</c:v>
                </c:pt>
              </c:numCache>
            </c:numRef>
          </c:val>
        </c:ser>
        <c:dLbls>
          <c:numFmt formatCode="0.0&quot; ms&quot;" sourceLinked="0"/>
          <c:txPr>
            <a:bodyPr/>
            <a:lstStyle/>
            <a:p>
              <a:pPr>
                <a:defRPr sz="1300">
                  <a:solidFill>
                    <a:srgbClr val="1E2A38"/>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C9D2DC"/>
            </a:solidFill>
          </a:ln>
        </c:spPr>
        <c:txPr>
          <a:bodyPr/>
          <a:lstStyle/>
          <a:p>
            <a:pPr>
              <a:defRPr sz="1300">
                <a:solidFill>
                  <a:srgbClr val="1E2A38"/>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b"/>
      <c:overlay val="0"/>
    </c:legend>
    <c:dispBlanksAs val="gap"/>
  </c:chart>
  <c:txPr>
    <a:bodyPr/>
    <a:lstStyle/>
    <a:p>
      <a:pPr>
        <a:defRPr sz="1300">
          <a:solidFill>
            <a:srgbClr val="1E2A38"/>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ms per iteration</c:v>
                </c:pt>
              </c:strCache>
            </c:strRef>
          </c:tx>
          <c:spPr>
            <a:solidFill>
              <a:srgbClr val="9AA5B1"/>
            </a:solidFill>
          </c:spPr>
          <c:dPt>
            <c:idx val="0"/>
            <c:spPr>
              <a:solidFill>
                <a:srgbClr val="9AA5B1"/>
              </a:solidFill>
            </c:spPr>
          </c:dPt>
          <c:dPt>
            <c:idx val="1"/>
            <c:spPr>
              <a:solidFill>
                <a:srgbClr val="7FBFB3"/>
              </a:solidFill>
            </c:spPr>
          </c:dPt>
          <c:dPt>
            <c:idx val="2"/>
            <c:spPr>
              <a:solidFill>
                <a:srgbClr val="D9822B"/>
              </a:solidFill>
            </c:spPr>
          </c:dPt>
          <c:cat>
            <c:strRef>
              <c:f>Sheet1!$A$2:$A$4</c:f>
              <c:strCache>
                <c:ptCount val="3"/>
                <c:pt idx="0">
                  <c:v>original SW</c:v>
                </c:pt>
                <c:pt idx="1">
                  <c:v>optimized SW</c:v>
                </c:pt>
                <c:pt idx="2">
                  <c:v>accelerator</c:v>
                </c:pt>
              </c:strCache>
            </c:strRef>
          </c:cat>
          <c:val>
            <c:numRef>
              <c:f>Sheet1!$B$2:$B$4</c:f>
              <c:numCache>
                <c:formatCode>General</c:formatCode>
                <c:ptCount val="3"/>
                <c:pt idx="0">
                  <c:v>232.2</c:v>
                </c:pt>
                <c:pt idx="1">
                  <c:v>143.7</c:v>
                </c:pt>
                <c:pt idx="2">
                  <c:v>41.0</c:v>
                </c:pt>
              </c:numCache>
            </c:numRef>
          </c:val>
        </c:ser>
        <c:dLbls>
          <c:numFmt formatCode="0.0&quot; ms&quot;" sourceLinked="0"/>
          <c:txPr>
            <a:bodyPr/>
            <a:lstStyle/>
            <a:p>
              <a:pPr>
                <a:defRPr sz="1300">
                  <a:solidFill>
                    <a:srgbClr val="1E2A38"/>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C9D2DC"/>
            </a:solidFill>
          </a:ln>
        </c:spPr>
        <c:txPr>
          <a:bodyPr/>
          <a:lstStyle/>
          <a:p>
            <a:pPr>
              <a:defRPr sz="1300">
                <a:solidFill>
                  <a:srgbClr val="1E2A38"/>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300">
          <a:solidFill>
            <a:srgbClr val="1E2A38"/>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two pyperformance benchmarks, nbody (a physics simulation) and raytrace (a small ray tracer). We profiled both, optimized them in Python, and designed a hardware accelerator for nbody. The three numbers are the headline results; every one of them is backed by measurements we will show.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structure of the talk and of our work. Profiling (3) drives the optimizations (4), and every optimization is verified (5) before we trust its number. The accelerator (6) is designed for the part that software cannot fix.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optimizing anything we made sure we could trust our numbers. The first raytrace run had a spread of plus-minus 10 percent, larger than the 7 percent improvement the project asks for. Tuning the VM and taking 120 samples brought it to 2 percent. We report medians because a few interrupted runs pull the mean up.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nbody is the classic N-body program. Each step computes the gravitational pull for all 10 pairs of bodies, updates velocities, then positions. Positions and velocities are small Python lists that are updated in place. There is no numeric library: every operation is a Python float operation. Keep this code in mind: the lists are the key.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raytrace renders a small image. For each pixel it finds the closest object, then computes colour from a reflected ray (recursion), shadow rays to the two lights, and ambient light. The code is very object-oriented: Vector and Point objects with small methods. Remember the shadow rays and the Vector objects: that is where the time goes.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used four complementary tools. perf report is the command from the project guide; with python3-dbg it names the interpreter's C functions. pyperformance's perf_record hook generates the flame graph the project asks for. Because Python 3.10 has no frame pointers, those flame graphs have no Python names, so we added py-spy, which shows functions and lines. perf stat tells us whether we are memory-bound or not.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flame graph from pyperformance, grouped by kind of work. Almost half is the bytecode dispatch loop; list indexing is 15 percent; pow, the one expensive math function, is only 1.8 percent. Right: py-spy shows the same thing per Python line: the six velocity-update lines alone are 48 percent. The counters say it is not a memory problem: the CPU just executes many instructions per float operation.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experiment that told us what to do. A local variable is one LOAD_FAST, a slot in the frame. A list element is three bytecodes plus type and bounds checks. Reading is 2 times slower, updating too. One access is only 40 nanoseconds extra, but nbody does 1.2 million list updates per run, so it adds up.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fix follows directly from the profile. We copy positions and velocities into local variables once, run all 20000 steps on locals, and write back once. Because the operations and their order are unchanged, the result is bit-identical. 1.60 times faster, a third fewer instructions, and list indexing disappears from the flame graph. Trade-off: the 10 pairs are written out, so it is specialised to 5 bodies with a fallback for other sizes.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sqrt is one CPU instruction, so replacing pow looked like a win. The flame graph said otherwise: pow is only 1.8 percent of the time. Measured, it was 1 percent slower, because calling sqrt from Python costs more than pow saves. Even making sqrt a local variable gave no significant difference. Lesson: measure, do not assume.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simplified copy of the py-spy flame graph. Nearly half the time is in _lightIsVisible, the shadow-ray check, and more than half of that is building the same Ray object again for every object in the scene. intersectionTime is 43 percent, mostly its small helper methods. At C level the picture is calls and dictionary lookups; the math itself is almost free. Unlike nbody, the problem is the object-oriented structure.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changes, each aimed at one bottleneck from the flame graph. Build the shadow ray once: 1.30x. Compute the sphere intersection with plain floats: 1.34x. __slots__ removes the per-object dictionary: 1.12x. Together 2.10x. They do not simply add up, because they overlap: once fewer rays are built, there are fewer Vectors for slots to speed up.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of the software part. Both benchmarks are far above the 7 percent target, and both produce exactly the same output as before. The counters show why: we execute a third fewer instructions in nbody and half in raytrace. Cache and branch behaviour barely changed, which confirms the bottleneck was interpreter work, not memory.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nbody: the whole benchmark is one loop, so offloading it leaves almost nothing on the CPU. After our software fix, half of what remains is float arithmetic and float objects, which no Python rewrite can remove. And the state is tiny, so PCIe is used once per call. raytrace's math is only 6 percent of its time, so accelerating it would not pay.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host side: the benchmark calls advance exactly as before; the driver writes the bodies and parameters into the card's registers over PCIe, starts it, waits for the done interrupt or polls STATUS, and reads the result back. If there is no card it runs the normal software, so nothing breaks. On the card: registers and body state, a controller FSM, the pair force pipeline, and the accumulator and position update.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mirrors the software formula stage by stage. A new pair can enter every cycle, and results come out 81 cycles later; sqrt and divide are the long stages. The accumulation must follow pair order to be bit-exact, because float addition is not associative. The cycle formula was measured in simulation for 2, 3, 5 and 16 bodies and fits exactly: 84 is the pipeline plus control, 6 per pair, 11 per body.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interface is this register map. The driver wraps the benchmark's own advance function, so the benchmark code does not change: that follows the rule from the accelerator lecture, keep changes inside a library and never break user code. Seventy register operations per call, no matter how many steps.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checked the hardware at three levels. Each floating-point unit against Python, bit for bit, on 274 thousand vectors including cancellation and rounding ties. The whole accelerator, driven only through its registers like the driver would, against the real benchmark code, including a full 20000-step call. And the driver in both modes. The only difference from the original is sqrt instead of pow: same math, rounding-level difference.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estimate uses only measured numbers: the software times from pyperformance and the cycle count from simulation. 41 milliseconds per iteration instead of 232: 5.7 times faster than the original, 3.5 times faster than our optimized Python. The overhead is paid per call, not per step, so the card only pays off with many steps per call.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trade-off analysis. Be ready to defend each one: why double and not fixed point (exactness), why 2 bits per stage (balance of clock, registers and power), why the accumulation is sequential (associativity), why not more parallel hardware (latency dominates), MMIO versus DMA, and the energy argument with its assumption.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take-aways. Close with the numbers and invite questions.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for the live demo. Good quick demos: verify_nbody.py (seconds), run_tests.sh (about 3 minutes, shows the bit-exact hardware tests and cycle counts), and opening a py-spy flame graph SVG in the browser.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202E"/>
        </a:solidFill>
        <a:effectLst/>
      </p:bgPr>
    </p:bg>
    <p:spTree>
      <p:nvGrpSpPr>
        <p:cNvPr id="1" name=""/>
        <p:cNvGrpSpPr/>
        <p:nvPr/>
      </p:nvGrpSpPr>
      <p:grpSpPr/>
      <p:sp>
        <p:nvSpPr>
          <p:cNvPr id="2" name="TextBox 1"/>
          <p:cNvSpPr txBox="1"/>
          <p:nvPr/>
        </p:nvSpPr>
        <p:spPr>
          <a:xfrm>
            <a:off x="731520" y="1097280"/>
            <a:ext cx="10515600" cy="457200"/>
          </a:xfrm>
          <a:prstGeom prst="rect">
            <a:avLst/>
          </a:prstGeom>
          <a:noFill/>
        </p:spPr>
        <p:txBody>
          <a:bodyPr wrap="square" anchor="t" lIns="45720" rIns="45720">
            <a:spAutoFit/>
          </a:bodyPr>
          <a:lstStyle/>
          <a:p>
            <a:pPr algn="l">
              <a:spcAft>
                <a:spcPts val="0"/>
              </a:spcAft>
            </a:pPr>
            <a:r>
              <a:rPr sz="1600" b="1" i="0">
                <a:solidFill>
                  <a:srgbClr val="D9822B"/>
                </a:solidFill>
                <a:latin typeface="Calibri"/>
              </a:rPr>
              <a:t>046882 HW/SW Co-design  ·  Final project</a:t>
            </a:r>
          </a:p>
        </p:txBody>
      </p:sp>
      <p:sp>
        <p:nvSpPr>
          <p:cNvPr id="3" name="TextBox 2"/>
          <p:cNvSpPr txBox="1"/>
          <p:nvPr/>
        </p:nvSpPr>
        <p:spPr>
          <a:xfrm>
            <a:off x="731520" y="1600200"/>
            <a:ext cx="10515600" cy="1463040"/>
          </a:xfrm>
          <a:prstGeom prst="rect">
            <a:avLst/>
          </a:prstGeom>
          <a:noFill/>
        </p:spPr>
        <p:txBody>
          <a:bodyPr wrap="square" anchor="t" lIns="45720" rIns="45720">
            <a:spAutoFit/>
          </a:bodyPr>
          <a:lstStyle/>
          <a:p>
            <a:pPr algn="l">
              <a:spcAft>
                <a:spcPts val="0"/>
              </a:spcAft>
            </a:pPr>
            <a:r>
              <a:rPr sz="4800" b="1" i="0">
                <a:solidFill>
                  <a:srgbClr val="FFFFFF"/>
                </a:solidFill>
                <a:latin typeface="Cambria"/>
              </a:rPr>
              <a:t>Faster Python: nbody &amp; raytrace</a:t>
            </a:r>
          </a:p>
        </p:txBody>
      </p:sp>
      <p:sp>
        <p:nvSpPr>
          <p:cNvPr id="4" name="TextBox 3"/>
          <p:cNvSpPr txBox="1"/>
          <p:nvPr/>
        </p:nvSpPr>
        <p:spPr>
          <a:xfrm>
            <a:off x="731520" y="2743200"/>
            <a:ext cx="10515600" cy="822960"/>
          </a:xfrm>
          <a:prstGeom prst="rect">
            <a:avLst/>
          </a:prstGeom>
          <a:noFill/>
        </p:spPr>
        <p:txBody>
          <a:bodyPr wrap="square" anchor="t" lIns="45720" rIns="45720">
            <a:spAutoFit/>
          </a:bodyPr>
          <a:lstStyle/>
          <a:p>
            <a:pPr algn="l">
              <a:spcAft>
                <a:spcPts val="0"/>
              </a:spcAft>
            </a:pPr>
            <a:r>
              <a:rPr sz="2000" b="0" i="0">
                <a:solidFill>
                  <a:srgbClr val="C9D3DE"/>
                </a:solidFill>
                <a:latin typeface="Calibri"/>
              </a:rPr>
              <a:t>Profiling, software optimization and a hardware accelerator for pyperformance benchmarks</a:t>
            </a:r>
          </a:p>
        </p:txBody>
      </p:sp>
      <p:sp>
        <p:nvSpPr>
          <p:cNvPr id="5" name="TextBox 4"/>
          <p:cNvSpPr txBox="1"/>
          <p:nvPr/>
        </p:nvSpPr>
        <p:spPr>
          <a:xfrm>
            <a:off x="731520" y="3429000"/>
            <a:ext cx="10515600" cy="411480"/>
          </a:xfrm>
          <a:prstGeom prst="rect">
            <a:avLst/>
          </a:prstGeom>
          <a:noFill/>
        </p:spPr>
        <p:txBody>
          <a:bodyPr wrap="square" anchor="t" lIns="45720" rIns="45720">
            <a:spAutoFit/>
          </a:bodyPr>
          <a:lstStyle/>
          <a:p>
            <a:pPr algn="l">
              <a:spcAft>
                <a:spcPts val="0"/>
              </a:spcAft>
            </a:pPr>
            <a:r>
              <a:rPr sz="1800" b="1" i="0">
                <a:solidFill>
                  <a:srgbClr val="FFFFFF"/>
                </a:solidFill>
                <a:latin typeface="Calibri"/>
              </a:rPr>
              <a:t>Student 1: Yousef Atrash    ·    Student 2: Housin Mohammed Agbaria</a:t>
            </a:r>
          </a:p>
        </p:txBody>
      </p:sp>
      <p:sp>
        <p:nvSpPr>
          <p:cNvPr id="6" name="TextBox 5"/>
          <p:cNvSpPr txBox="1"/>
          <p:nvPr/>
        </p:nvSpPr>
        <p:spPr>
          <a:xfrm>
            <a:off x="731520" y="4023360"/>
            <a:ext cx="3108960" cy="731520"/>
          </a:xfrm>
          <a:prstGeom prst="rect">
            <a:avLst/>
          </a:prstGeom>
          <a:noFill/>
        </p:spPr>
        <p:txBody>
          <a:bodyPr wrap="square" anchor="b" lIns="45720" rIns="45720">
            <a:spAutoFit/>
          </a:bodyPr>
          <a:lstStyle/>
          <a:p>
            <a:pPr algn="l">
              <a:spcAft>
                <a:spcPts val="0"/>
              </a:spcAft>
            </a:pPr>
            <a:r>
              <a:rPr sz="4400" b="1" i="0">
                <a:solidFill>
                  <a:srgbClr val="D9822B"/>
                </a:solidFill>
                <a:latin typeface="Cambria"/>
              </a:rPr>
              <a:t>1.60x</a:t>
            </a:r>
          </a:p>
        </p:txBody>
      </p:sp>
      <p:sp>
        <p:nvSpPr>
          <p:cNvPr id="7" name="TextBox 6"/>
          <p:cNvSpPr txBox="1"/>
          <p:nvPr/>
        </p:nvSpPr>
        <p:spPr>
          <a:xfrm>
            <a:off x="731520" y="4773168"/>
            <a:ext cx="3108960" cy="640080"/>
          </a:xfrm>
          <a:prstGeom prst="rect">
            <a:avLst/>
          </a:prstGeom>
          <a:noFill/>
        </p:spPr>
        <p:txBody>
          <a:bodyPr wrap="square" anchor="t" lIns="45720" rIns="45720">
            <a:spAutoFit/>
          </a:bodyPr>
          <a:lstStyle/>
          <a:p>
            <a:pPr algn="l">
              <a:spcAft>
                <a:spcPts val="0"/>
              </a:spcAft>
            </a:pPr>
            <a:r>
              <a:rPr sz="1400" b="0" i="0">
                <a:solidFill>
                  <a:srgbClr val="C9D3DE"/>
                </a:solidFill>
                <a:latin typeface="Calibri"/>
              </a:rPr>
              <a:t>nbody, software optimization</a:t>
            </a:r>
            <a:br/>
            <a:r>
              <a:rPr sz="1400" b="0" i="0">
                <a:solidFill>
                  <a:srgbClr val="C9D3DE"/>
                </a:solidFill>
                <a:latin typeface="Calibri"/>
              </a:rPr>
              <a:t>identical results</a:t>
            </a:r>
          </a:p>
        </p:txBody>
      </p:sp>
      <p:sp>
        <p:nvSpPr>
          <p:cNvPr id="8" name="TextBox 7"/>
          <p:cNvSpPr txBox="1"/>
          <p:nvPr/>
        </p:nvSpPr>
        <p:spPr>
          <a:xfrm>
            <a:off x="4206240" y="4023360"/>
            <a:ext cx="3108960" cy="731520"/>
          </a:xfrm>
          <a:prstGeom prst="rect">
            <a:avLst/>
          </a:prstGeom>
          <a:noFill/>
        </p:spPr>
        <p:txBody>
          <a:bodyPr wrap="square" anchor="b" lIns="45720" rIns="45720">
            <a:spAutoFit/>
          </a:bodyPr>
          <a:lstStyle/>
          <a:p>
            <a:pPr algn="l">
              <a:spcAft>
                <a:spcPts val="0"/>
              </a:spcAft>
            </a:pPr>
            <a:r>
              <a:rPr sz="4400" b="1" i="0">
                <a:solidFill>
                  <a:srgbClr val="D9822B"/>
                </a:solidFill>
                <a:latin typeface="Cambria"/>
              </a:rPr>
              <a:t>2.10x</a:t>
            </a:r>
          </a:p>
        </p:txBody>
      </p:sp>
      <p:sp>
        <p:nvSpPr>
          <p:cNvPr id="9" name="TextBox 8"/>
          <p:cNvSpPr txBox="1"/>
          <p:nvPr/>
        </p:nvSpPr>
        <p:spPr>
          <a:xfrm>
            <a:off x="4206240" y="4773168"/>
            <a:ext cx="3108960" cy="640080"/>
          </a:xfrm>
          <a:prstGeom prst="rect">
            <a:avLst/>
          </a:prstGeom>
          <a:noFill/>
        </p:spPr>
        <p:txBody>
          <a:bodyPr wrap="square" anchor="t" lIns="45720" rIns="45720">
            <a:spAutoFit/>
          </a:bodyPr>
          <a:lstStyle/>
          <a:p>
            <a:pPr algn="l">
              <a:spcAft>
                <a:spcPts val="0"/>
              </a:spcAft>
            </a:pPr>
            <a:r>
              <a:rPr sz="1400" b="0" i="0">
                <a:solidFill>
                  <a:srgbClr val="C9D3DE"/>
                </a:solidFill>
                <a:latin typeface="Calibri"/>
              </a:rPr>
              <a:t>raytrace, software optimization</a:t>
            </a:r>
            <a:br/>
            <a:r>
              <a:rPr sz="1400" b="0" i="0">
                <a:solidFill>
                  <a:srgbClr val="C9D3DE"/>
                </a:solidFill>
                <a:latin typeface="Calibri"/>
              </a:rPr>
              <a:t>identical image</a:t>
            </a:r>
          </a:p>
        </p:txBody>
      </p:sp>
      <p:sp>
        <p:nvSpPr>
          <p:cNvPr id="10" name="TextBox 9"/>
          <p:cNvSpPr txBox="1"/>
          <p:nvPr/>
        </p:nvSpPr>
        <p:spPr>
          <a:xfrm>
            <a:off x="7680960" y="4023360"/>
            <a:ext cx="3840480" cy="731520"/>
          </a:xfrm>
          <a:prstGeom prst="rect">
            <a:avLst/>
          </a:prstGeom>
          <a:noFill/>
        </p:spPr>
        <p:txBody>
          <a:bodyPr wrap="square" anchor="b" lIns="45720" rIns="45720">
            <a:spAutoFit/>
          </a:bodyPr>
          <a:lstStyle/>
          <a:p>
            <a:pPr algn="l">
              <a:spcAft>
                <a:spcPts val="0"/>
              </a:spcAft>
            </a:pPr>
            <a:r>
              <a:rPr sz="4400" b="1" i="0">
                <a:solidFill>
                  <a:srgbClr val="D9822B"/>
                </a:solidFill>
                <a:latin typeface="Cambria"/>
              </a:rPr>
              <a:t>5.7x</a:t>
            </a:r>
          </a:p>
        </p:txBody>
      </p:sp>
      <p:sp>
        <p:nvSpPr>
          <p:cNvPr id="11" name="TextBox 10"/>
          <p:cNvSpPr txBox="1"/>
          <p:nvPr/>
        </p:nvSpPr>
        <p:spPr>
          <a:xfrm>
            <a:off x="7680960" y="4773168"/>
            <a:ext cx="3840480" cy="640080"/>
          </a:xfrm>
          <a:prstGeom prst="rect">
            <a:avLst/>
          </a:prstGeom>
          <a:noFill/>
        </p:spPr>
        <p:txBody>
          <a:bodyPr wrap="square" anchor="t" lIns="45720" rIns="45720">
            <a:spAutoFit/>
          </a:bodyPr>
          <a:lstStyle/>
          <a:p>
            <a:pPr algn="l">
              <a:spcAft>
                <a:spcPts val="0"/>
              </a:spcAft>
            </a:pPr>
            <a:r>
              <a:rPr sz="1400" b="0" i="0">
                <a:solidFill>
                  <a:srgbClr val="C9D3DE"/>
                </a:solidFill>
                <a:latin typeface="Calibri"/>
              </a:rPr>
              <a:t>nbody, hardware accelerator</a:t>
            </a:r>
            <a:br/>
            <a:r>
              <a:rPr sz="1400" b="0" i="0">
                <a:solidFill>
                  <a:srgbClr val="C9D3DE"/>
                </a:solidFill>
                <a:latin typeface="Calibri"/>
              </a:rPr>
              <a:t>(estimate, incl. PCIe overhead)</a:t>
            </a:r>
          </a:p>
        </p:txBody>
      </p:sp>
      <p:sp>
        <p:nvSpPr>
          <p:cNvPr id="12" name="TextBox 11"/>
          <p:cNvSpPr txBox="1"/>
          <p:nvPr/>
        </p:nvSpPr>
        <p:spPr>
          <a:xfrm>
            <a:off x="731520" y="5989320"/>
            <a:ext cx="10515600" cy="365760"/>
          </a:xfrm>
          <a:prstGeom prst="rect">
            <a:avLst/>
          </a:prstGeom>
          <a:noFill/>
        </p:spPr>
        <p:txBody>
          <a:bodyPr wrap="square" anchor="t" lIns="45720" rIns="45720">
            <a:spAutoFit/>
          </a:bodyPr>
          <a:lstStyle/>
          <a:p>
            <a:pPr algn="l">
              <a:spcAft>
                <a:spcPts val="0"/>
              </a:spcAft>
            </a:pPr>
            <a:r>
              <a:rPr sz="1200" b="0" i="0">
                <a:solidFill>
                  <a:srgbClr val="8FA0B3"/>
                </a:solidFill>
                <a:latin typeface="Calibri"/>
              </a:rPr>
              <a:t>Draft: this presentation is not final and will be finalized before the presentation day.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ctr" lIns="45720" rIns="45720">
            <a:spAutoFit/>
          </a:bodyPr>
          <a:lstStyle/>
          <a:p>
            <a:pPr algn="l">
              <a:spcAft>
                <a:spcPts val="0"/>
              </a:spcAft>
            </a:pPr>
            <a:r>
              <a:rPr sz="3200" b="1" i="0">
                <a:solidFill>
                  <a:srgbClr val="1E2A38"/>
                </a:solidFill>
                <a:latin typeface="Cambria"/>
              </a:rPr>
              <a:t>How we worked</a:t>
            </a:r>
          </a:p>
        </p:txBody>
      </p:sp>
      <p:sp>
        <p:nvSpPr>
          <p:cNvPr id="3" name="TextBox 2"/>
          <p:cNvSpPr txBox="1"/>
          <p:nvPr/>
        </p:nvSpPr>
        <p:spPr>
          <a:xfrm>
            <a:off x="548640" y="1005840"/>
            <a:ext cx="11094415" cy="411480"/>
          </a:xfrm>
          <a:prstGeom prst="rect">
            <a:avLst/>
          </a:prstGeom>
          <a:noFill/>
        </p:spPr>
        <p:txBody>
          <a:bodyPr wrap="square" anchor="t" lIns="45720" rIns="45720">
            <a:spAutoFit/>
          </a:bodyPr>
          <a:lstStyle/>
          <a:p>
            <a:pPr algn="l">
              <a:spcAft>
                <a:spcPts val="0"/>
              </a:spcAft>
            </a:pPr>
            <a:r>
              <a:rPr sz="1600" b="0" i="0">
                <a:solidFill>
                  <a:srgbClr val="5F6B7A"/>
                </a:solidFill>
                <a:latin typeface="Calibri"/>
              </a:rPr>
              <a:t>The talk follows the same order as the project</a:t>
            </a:r>
          </a:p>
        </p:txBody>
      </p:sp>
      <p:sp>
        <p:nvSpPr>
          <p:cNvPr id="4" name="Oval 3"/>
          <p:cNvSpPr/>
          <p:nvPr/>
        </p:nvSpPr>
        <p:spPr>
          <a:xfrm>
            <a:off x="1143000" y="2011680"/>
            <a:ext cx="822960" cy="822960"/>
          </a:xfrm>
          <a:prstGeom prst="ellipse">
            <a:avLst/>
          </a:prstGeom>
          <a:solidFill>
            <a:srgbClr val="15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011680"/>
            <a:ext cx="822960" cy="822960"/>
          </a:xfrm>
          <a:prstGeom prst="rect">
            <a:avLst/>
          </a:prstGeom>
          <a:noFill/>
        </p:spPr>
        <p:txBody>
          <a:bodyPr wrap="square" anchor="ctr" lIns="0" rIns="0" tIns="0" bIns="0">
            <a:spAutoFit/>
          </a:bodyPr>
          <a:lstStyle/>
          <a:p>
            <a:pPr algn="ctr">
              <a:spcAft>
                <a:spcPts val="0"/>
              </a:spcAft>
            </a:pPr>
            <a:r>
              <a:rPr sz="2200" b="1" i="0">
                <a:solidFill>
                  <a:srgbClr val="FFFFFF"/>
                </a:solidFill>
                <a:latin typeface="Calibri"/>
              </a:rPr>
              <a:t>1</a:t>
            </a:r>
          </a:p>
        </p:txBody>
      </p:sp>
      <p:cxnSp>
        <p:nvCxnSpPr>
          <p:cNvPr id="6" name="Connector 5"/>
          <p:cNvCxnSpPr/>
          <p:nvPr/>
        </p:nvCxnSpPr>
        <p:spPr>
          <a:xfrm>
            <a:off x="2011680" y="2423160"/>
            <a:ext cx="932688" cy="0"/>
          </a:xfrm>
          <a:prstGeom prst="line">
            <a:avLst/>
          </a:prstGeom>
          <a:ln w="25400">
            <a:solidFill>
              <a:srgbClr val="C9D2DC"/>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3017520"/>
            <a:ext cx="1828800" cy="457200"/>
          </a:xfrm>
          <a:prstGeom prst="rect">
            <a:avLst/>
          </a:prstGeom>
          <a:noFill/>
        </p:spPr>
        <p:txBody>
          <a:bodyPr wrap="square" anchor="t" lIns="45720" rIns="45720">
            <a:spAutoFit/>
          </a:bodyPr>
          <a:lstStyle/>
          <a:p>
            <a:pPr algn="ctr">
              <a:spcAft>
                <a:spcPts val="600"/>
              </a:spcAft>
            </a:pPr>
            <a:r>
              <a:rPr sz="2000" b="1" i="0">
                <a:solidFill>
                  <a:srgbClr val="1E2A38"/>
                </a:solidFill>
                <a:latin typeface="Cambria"/>
              </a:rPr>
              <a:t>Understand</a:t>
            </a:r>
          </a:p>
        </p:txBody>
      </p:sp>
      <p:sp>
        <p:nvSpPr>
          <p:cNvPr id="8" name="TextBox 7"/>
          <p:cNvSpPr txBox="1"/>
          <p:nvPr/>
        </p:nvSpPr>
        <p:spPr>
          <a:xfrm>
            <a:off x="640080" y="3474720"/>
            <a:ext cx="1828800" cy="914400"/>
          </a:xfrm>
          <a:prstGeom prst="rect">
            <a:avLst/>
          </a:prstGeom>
          <a:noFill/>
        </p:spPr>
        <p:txBody>
          <a:bodyPr wrap="square" anchor="t" lIns="45720" rIns="45720">
            <a:spAutoFit/>
          </a:bodyPr>
          <a:lstStyle/>
          <a:p>
            <a:pPr algn="ctr">
              <a:spcAft>
                <a:spcPts val="600"/>
              </a:spcAft>
            </a:pPr>
            <a:r>
              <a:rPr sz="1400" b="0" i="0">
                <a:solidFill>
                  <a:srgbClr val="5F6B7A"/>
                </a:solidFill>
                <a:latin typeface="Calibri"/>
              </a:rPr>
              <a:t>read the code,</a:t>
            </a:r>
            <a:br/>
            <a:r>
              <a:rPr sz="1400" b="0" i="0">
                <a:solidFill>
                  <a:srgbClr val="5F6B7A"/>
                </a:solidFill>
                <a:latin typeface="Calibri"/>
              </a:rPr>
              <a:t>data structures</a:t>
            </a:r>
          </a:p>
        </p:txBody>
      </p:sp>
      <p:sp>
        <p:nvSpPr>
          <p:cNvPr id="9" name="Oval 8"/>
          <p:cNvSpPr/>
          <p:nvPr/>
        </p:nvSpPr>
        <p:spPr>
          <a:xfrm>
            <a:off x="2990087" y="2011680"/>
            <a:ext cx="822960" cy="822960"/>
          </a:xfrm>
          <a:prstGeom prst="ellipse">
            <a:avLst/>
          </a:prstGeom>
          <a:solidFill>
            <a:srgbClr val="15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90087" y="2011680"/>
            <a:ext cx="822960" cy="822960"/>
          </a:xfrm>
          <a:prstGeom prst="rect">
            <a:avLst/>
          </a:prstGeom>
          <a:noFill/>
        </p:spPr>
        <p:txBody>
          <a:bodyPr wrap="square" anchor="ctr" lIns="0" rIns="0" tIns="0" bIns="0">
            <a:spAutoFit/>
          </a:bodyPr>
          <a:lstStyle/>
          <a:p>
            <a:pPr algn="ctr">
              <a:spcAft>
                <a:spcPts val="0"/>
              </a:spcAft>
            </a:pPr>
            <a:r>
              <a:rPr sz="2200" b="1" i="0">
                <a:solidFill>
                  <a:srgbClr val="FFFFFF"/>
                </a:solidFill>
                <a:latin typeface="Calibri"/>
              </a:rPr>
              <a:t>2</a:t>
            </a:r>
          </a:p>
        </p:txBody>
      </p:sp>
      <p:cxnSp>
        <p:nvCxnSpPr>
          <p:cNvPr id="11" name="Connector 10"/>
          <p:cNvCxnSpPr/>
          <p:nvPr/>
        </p:nvCxnSpPr>
        <p:spPr>
          <a:xfrm>
            <a:off x="3858768" y="2423160"/>
            <a:ext cx="932688" cy="0"/>
          </a:xfrm>
          <a:prstGeom prst="line">
            <a:avLst/>
          </a:prstGeom>
          <a:ln w="25400">
            <a:solidFill>
              <a:srgbClr val="C9D2D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487168" y="3017520"/>
            <a:ext cx="1828800" cy="457200"/>
          </a:xfrm>
          <a:prstGeom prst="rect">
            <a:avLst/>
          </a:prstGeom>
          <a:noFill/>
        </p:spPr>
        <p:txBody>
          <a:bodyPr wrap="square" anchor="t" lIns="45720" rIns="45720">
            <a:spAutoFit/>
          </a:bodyPr>
          <a:lstStyle/>
          <a:p>
            <a:pPr algn="ctr">
              <a:spcAft>
                <a:spcPts val="600"/>
              </a:spcAft>
            </a:pPr>
            <a:r>
              <a:rPr sz="2000" b="1" i="0">
                <a:solidFill>
                  <a:srgbClr val="1E2A38"/>
                </a:solidFill>
                <a:latin typeface="Cambria"/>
              </a:rPr>
              <a:t>Measure</a:t>
            </a:r>
          </a:p>
        </p:txBody>
      </p:sp>
      <p:sp>
        <p:nvSpPr>
          <p:cNvPr id="13" name="TextBox 12"/>
          <p:cNvSpPr txBox="1"/>
          <p:nvPr/>
        </p:nvSpPr>
        <p:spPr>
          <a:xfrm>
            <a:off x="2487168" y="3474720"/>
            <a:ext cx="1828800" cy="914400"/>
          </a:xfrm>
          <a:prstGeom prst="rect">
            <a:avLst/>
          </a:prstGeom>
          <a:noFill/>
        </p:spPr>
        <p:txBody>
          <a:bodyPr wrap="square" anchor="t" lIns="45720" rIns="45720">
            <a:spAutoFit/>
          </a:bodyPr>
          <a:lstStyle/>
          <a:p>
            <a:pPr algn="ctr">
              <a:spcAft>
                <a:spcPts val="600"/>
              </a:spcAft>
            </a:pPr>
            <a:r>
              <a:rPr sz="1400" b="0" i="0">
                <a:solidFill>
                  <a:srgbClr val="5F6B7A"/>
                </a:solidFill>
                <a:latin typeface="Calibri"/>
              </a:rPr>
              <a:t>pyperformance</a:t>
            </a:r>
            <a:br/>
            <a:r>
              <a:rPr sz="1400" b="0" i="0">
                <a:solidFill>
                  <a:srgbClr val="5F6B7A"/>
                </a:solidFill>
                <a:latin typeface="Calibri"/>
              </a:rPr>
              <a:t>baseline</a:t>
            </a:r>
          </a:p>
        </p:txBody>
      </p:sp>
      <p:sp>
        <p:nvSpPr>
          <p:cNvPr id="14" name="Oval 13"/>
          <p:cNvSpPr/>
          <p:nvPr/>
        </p:nvSpPr>
        <p:spPr>
          <a:xfrm>
            <a:off x="4837176" y="2011680"/>
            <a:ext cx="822960" cy="82296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37176" y="2011680"/>
            <a:ext cx="822960" cy="822960"/>
          </a:xfrm>
          <a:prstGeom prst="rect">
            <a:avLst/>
          </a:prstGeom>
          <a:noFill/>
        </p:spPr>
        <p:txBody>
          <a:bodyPr wrap="square" anchor="ctr" lIns="0" rIns="0" tIns="0" bIns="0">
            <a:spAutoFit/>
          </a:bodyPr>
          <a:lstStyle/>
          <a:p>
            <a:pPr algn="ctr">
              <a:spcAft>
                <a:spcPts val="0"/>
              </a:spcAft>
            </a:pPr>
            <a:r>
              <a:rPr sz="2200" b="1" i="0">
                <a:solidFill>
                  <a:srgbClr val="FFFFFF"/>
                </a:solidFill>
                <a:latin typeface="Calibri"/>
              </a:rPr>
              <a:t>3</a:t>
            </a:r>
          </a:p>
        </p:txBody>
      </p:sp>
      <p:cxnSp>
        <p:nvCxnSpPr>
          <p:cNvPr id="16" name="Connector 15"/>
          <p:cNvCxnSpPr/>
          <p:nvPr/>
        </p:nvCxnSpPr>
        <p:spPr>
          <a:xfrm>
            <a:off x="5705856" y="2423160"/>
            <a:ext cx="932688" cy="0"/>
          </a:xfrm>
          <a:prstGeom prst="line">
            <a:avLst/>
          </a:prstGeom>
          <a:ln w="25400">
            <a:solidFill>
              <a:srgbClr val="C9D2D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334256" y="3017520"/>
            <a:ext cx="1828800" cy="457200"/>
          </a:xfrm>
          <a:prstGeom prst="rect">
            <a:avLst/>
          </a:prstGeom>
          <a:noFill/>
        </p:spPr>
        <p:txBody>
          <a:bodyPr wrap="square" anchor="t" lIns="45720" rIns="45720">
            <a:spAutoFit/>
          </a:bodyPr>
          <a:lstStyle/>
          <a:p>
            <a:pPr algn="ctr">
              <a:spcAft>
                <a:spcPts val="600"/>
              </a:spcAft>
            </a:pPr>
            <a:r>
              <a:rPr sz="2000" b="1" i="0">
                <a:solidFill>
                  <a:srgbClr val="1E2A38"/>
                </a:solidFill>
                <a:latin typeface="Cambria"/>
              </a:rPr>
              <a:t>Profile</a:t>
            </a:r>
          </a:p>
        </p:txBody>
      </p:sp>
      <p:sp>
        <p:nvSpPr>
          <p:cNvPr id="18" name="TextBox 17"/>
          <p:cNvSpPr txBox="1"/>
          <p:nvPr/>
        </p:nvSpPr>
        <p:spPr>
          <a:xfrm>
            <a:off x="4334256" y="3474720"/>
            <a:ext cx="1828800" cy="914400"/>
          </a:xfrm>
          <a:prstGeom prst="rect">
            <a:avLst/>
          </a:prstGeom>
          <a:noFill/>
        </p:spPr>
        <p:txBody>
          <a:bodyPr wrap="square" anchor="t" lIns="45720" rIns="45720">
            <a:spAutoFit/>
          </a:bodyPr>
          <a:lstStyle/>
          <a:p>
            <a:pPr algn="ctr">
              <a:spcAft>
                <a:spcPts val="600"/>
              </a:spcAft>
            </a:pPr>
            <a:r>
              <a:rPr sz="1400" b="0" i="0">
                <a:solidFill>
                  <a:srgbClr val="5F6B7A"/>
                </a:solidFill>
                <a:latin typeface="Calibri"/>
              </a:rPr>
              <a:t>perf, flame graphs,</a:t>
            </a:r>
            <a:br/>
            <a:r>
              <a:rPr sz="1400" b="0" i="0">
                <a:solidFill>
                  <a:srgbClr val="5F6B7A"/>
                </a:solidFill>
                <a:latin typeface="Calibri"/>
              </a:rPr>
              <a:t>py-spy, counters</a:t>
            </a:r>
          </a:p>
        </p:txBody>
      </p:sp>
      <p:sp>
        <p:nvSpPr>
          <p:cNvPr id="19" name="Oval 18"/>
          <p:cNvSpPr/>
          <p:nvPr/>
        </p:nvSpPr>
        <p:spPr>
          <a:xfrm>
            <a:off x="6684264" y="2011680"/>
            <a:ext cx="822960" cy="822960"/>
          </a:xfrm>
          <a:prstGeom prst="ellipse">
            <a:avLst/>
          </a:prstGeom>
          <a:solidFill>
            <a:srgbClr val="15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84264" y="2011680"/>
            <a:ext cx="822960" cy="822960"/>
          </a:xfrm>
          <a:prstGeom prst="rect">
            <a:avLst/>
          </a:prstGeom>
          <a:noFill/>
        </p:spPr>
        <p:txBody>
          <a:bodyPr wrap="square" anchor="ctr" lIns="0" rIns="0" tIns="0" bIns="0">
            <a:spAutoFit/>
          </a:bodyPr>
          <a:lstStyle/>
          <a:p>
            <a:pPr algn="ctr">
              <a:spcAft>
                <a:spcPts val="0"/>
              </a:spcAft>
            </a:pPr>
            <a:r>
              <a:rPr sz="2200" b="1" i="0">
                <a:solidFill>
                  <a:srgbClr val="FFFFFF"/>
                </a:solidFill>
                <a:latin typeface="Calibri"/>
              </a:rPr>
              <a:t>4</a:t>
            </a:r>
          </a:p>
        </p:txBody>
      </p:sp>
      <p:cxnSp>
        <p:nvCxnSpPr>
          <p:cNvPr id="21" name="Connector 20"/>
          <p:cNvCxnSpPr/>
          <p:nvPr/>
        </p:nvCxnSpPr>
        <p:spPr>
          <a:xfrm>
            <a:off x="7552944" y="2423160"/>
            <a:ext cx="932688" cy="0"/>
          </a:xfrm>
          <a:prstGeom prst="line">
            <a:avLst/>
          </a:prstGeom>
          <a:ln w="25400">
            <a:solidFill>
              <a:srgbClr val="C9D2D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181344" y="3017520"/>
            <a:ext cx="1828800" cy="457200"/>
          </a:xfrm>
          <a:prstGeom prst="rect">
            <a:avLst/>
          </a:prstGeom>
          <a:noFill/>
        </p:spPr>
        <p:txBody>
          <a:bodyPr wrap="square" anchor="t" lIns="45720" rIns="45720">
            <a:spAutoFit/>
          </a:bodyPr>
          <a:lstStyle/>
          <a:p>
            <a:pPr algn="ctr">
              <a:spcAft>
                <a:spcPts val="600"/>
              </a:spcAft>
            </a:pPr>
            <a:r>
              <a:rPr sz="2000" b="1" i="0">
                <a:solidFill>
                  <a:srgbClr val="1E2A38"/>
                </a:solidFill>
                <a:latin typeface="Cambria"/>
              </a:rPr>
              <a:t>Optimize</a:t>
            </a:r>
          </a:p>
        </p:txBody>
      </p:sp>
      <p:sp>
        <p:nvSpPr>
          <p:cNvPr id="23" name="TextBox 22"/>
          <p:cNvSpPr txBox="1"/>
          <p:nvPr/>
        </p:nvSpPr>
        <p:spPr>
          <a:xfrm>
            <a:off x="6181344" y="3474720"/>
            <a:ext cx="1828800" cy="914400"/>
          </a:xfrm>
          <a:prstGeom prst="rect">
            <a:avLst/>
          </a:prstGeom>
          <a:noFill/>
        </p:spPr>
        <p:txBody>
          <a:bodyPr wrap="square" anchor="t" lIns="45720" rIns="45720">
            <a:spAutoFit/>
          </a:bodyPr>
          <a:lstStyle/>
          <a:p>
            <a:pPr algn="ctr">
              <a:spcAft>
                <a:spcPts val="600"/>
              </a:spcAft>
            </a:pPr>
            <a:r>
              <a:rPr sz="1400" b="0" i="0">
                <a:solidFill>
                  <a:srgbClr val="5F6B7A"/>
                </a:solidFill>
                <a:latin typeface="Calibri"/>
              </a:rPr>
              <a:t>one change at a time,</a:t>
            </a:r>
            <a:br/>
            <a:r>
              <a:rPr sz="1400" b="0" i="0">
                <a:solidFill>
                  <a:srgbClr val="5F6B7A"/>
                </a:solidFill>
                <a:latin typeface="Calibri"/>
              </a:rPr>
              <a:t>measure each</a:t>
            </a:r>
          </a:p>
        </p:txBody>
      </p:sp>
      <p:sp>
        <p:nvSpPr>
          <p:cNvPr id="24" name="Oval 23"/>
          <p:cNvSpPr/>
          <p:nvPr/>
        </p:nvSpPr>
        <p:spPr>
          <a:xfrm>
            <a:off x="8531352" y="2011680"/>
            <a:ext cx="822960" cy="822960"/>
          </a:xfrm>
          <a:prstGeom prst="ellipse">
            <a:avLst/>
          </a:prstGeom>
          <a:solidFill>
            <a:srgbClr val="15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31352" y="2011680"/>
            <a:ext cx="822960" cy="822960"/>
          </a:xfrm>
          <a:prstGeom prst="rect">
            <a:avLst/>
          </a:prstGeom>
          <a:noFill/>
        </p:spPr>
        <p:txBody>
          <a:bodyPr wrap="square" anchor="ctr" lIns="0" rIns="0" tIns="0" bIns="0">
            <a:spAutoFit/>
          </a:bodyPr>
          <a:lstStyle/>
          <a:p>
            <a:pPr algn="ctr">
              <a:spcAft>
                <a:spcPts val="0"/>
              </a:spcAft>
            </a:pPr>
            <a:r>
              <a:rPr sz="2200" b="1" i="0">
                <a:solidFill>
                  <a:srgbClr val="FFFFFF"/>
                </a:solidFill>
                <a:latin typeface="Calibri"/>
              </a:rPr>
              <a:t>5</a:t>
            </a:r>
          </a:p>
        </p:txBody>
      </p:sp>
      <p:cxnSp>
        <p:nvCxnSpPr>
          <p:cNvPr id="26" name="Connector 25"/>
          <p:cNvCxnSpPr/>
          <p:nvPr/>
        </p:nvCxnSpPr>
        <p:spPr>
          <a:xfrm>
            <a:off x="9400032" y="2423160"/>
            <a:ext cx="932687" cy="0"/>
          </a:xfrm>
          <a:prstGeom prst="line">
            <a:avLst/>
          </a:prstGeom>
          <a:ln w="25400">
            <a:solidFill>
              <a:srgbClr val="C9D2D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028431" y="3017520"/>
            <a:ext cx="1828800" cy="457200"/>
          </a:xfrm>
          <a:prstGeom prst="rect">
            <a:avLst/>
          </a:prstGeom>
          <a:noFill/>
        </p:spPr>
        <p:txBody>
          <a:bodyPr wrap="square" anchor="t" lIns="45720" rIns="45720">
            <a:spAutoFit/>
          </a:bodyPr>
          <a:lstStyle/>
          <a:p>
            <a:pPr algn="ctr">
              <a:spcAft>
                <a:spcPts val="600"/>
              </a:spcAft>
            </a:pPr>
            <a:r>
              <a:rPr sz="2000" b="1" i="0">
                <a:solidFill>
                  <a:srgbClr val="1E2A38"/>
                </a:solidFill>
                <a:latin typeface="Cambria"/>
              </a:rPr>
              <a:t>Verify</a:t>
            </a:r>
          </a:p>
        </p:txBody>
      </p:sp>
      <p:sp>
        <p:nvSpPr>
          <p:cNvPr id="28" name="TextBox 27"/>
          <p:cNvSpPr txBox="1"/>
          <p:nvPr/>
        </p:nvSpPr>
        <p:spPr>
          <a:xfrm>
            <a:off x="8028431" y="3474720"/>
            <a:ext cx="1828800" cy="914400"/>
          </a:xfrm>
          <a:prstGeom prst="rect">
            <a:avLst/>
          </a:prstGeom>
          <a:noFill/>
        </p:spPr>
        <p:txBody>
          <a:bodyPr wrap="square" anchor="t" lIns="45720" rIns="45720">
            <a:spAutoFit/>
          </a:bodyPr>
          <a:lstStyle/>
          <a:p>
            <a:pPr algn="ctr">
              <a:spcAft>
                <a:spcPts val="600"/>
              </a:spcAft>
            </a:pPr>
            <a:r>
              <a:rPr sz="1400" b="0" i="0">
                <a:solidFill>
                  <a:srgbClr val="5F6B7A"/>
                </a:solidFill>
                <a:latin typeface="Calibri"/>
              </a:rPr>
              <a:t>output must stay</a:t>
            </a:r>
            <a:br/>
            <a:r>
              <a:rPr sz="1400" b="0" i="0">
                <a:solidFill>
                  <a:srgbClr val="5F6B7A"/>
                </a:solidFill>
                <a:latin typeface="Calibri"/>
              </a:rPr>
              <a:t>bit-identical</a:t>
            </a:r>
          </a:p>
        </p:txBody>
      </p:sp>
      <p:sp>
        <p:nvSpPr>
          <p:cNvPr id="29" name="Oval 28"/>
          <p:cNvSpPr/>
          <p:nvPr/>
        </p:nvSpPr>
        <p:spPr>
          <a:xfrm>
            <a:off x="10378440" y="2011680"/>
            <a:ext cx="822960" cy="82296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78440" y="2011680"/>
            <a:ext cx="822960" cy="822960"/>
          </a:xfrm>
          <a:prstGeom prst="rect">
            <a:avLst/>
          </a:prstGeom>
          <a:noFill/>
        </p:spPr>
        <p:txBody>
          <a:bodyPr wrap="square" anchor="ctr" lIns="0" rIns="0" tIns="0" bIns="0">
            <a:spAutoFit/>
          </a:bodyPr>
          <a:lstStyle/>
          <a:p>
            <a:pPr algn="ctr">
              <a:spcAft>
                <a:spcPts val="0"/>
              </a:spcAft>
            </a:pPr>
            <a:r>
              <a:rPr sz="2200" b="1" i="0">
                <a:solidFill>
                  <a:srgbClr val="FFFFFF"/>
                </a:solidFill>
                <a:latin typeface="Calibri"/>
              </a:rPr>
              <a:t>6</a:t>
            </a:r>
          </a:p>
        </p:txBody>
      </p:sp>
      <p:sp>
        <p:nvSpPr>
          <p:cNvPr id="31" name="TextBox 30"/>
          <p:cNvSpPr txBox="1"/>
          <p:nvPr/>
        </p:nvSpPr>
        <p:spPr>
          <a:xfrm>
            <a:off x="9875519" y="3017520"/>
            <a:ext cx="1828800" cy="457200"/>
          </a:xfrm>
          <a:prstGeom prst="rect">
            <a:avLst/>
          </a:prstGeom>
          <a:noFill/>
        </p:spPr>
        <p:txBody>
          <a:bodyPr wrap="square" anchor="t" lIns="45720" rIns="45720">
            <a:spAutoFit/>
          </a:bodyPr>
          <a:lstStyle/>
          <a:p>
            <a:pPr algn="ctr">
              <a:spcAft>
                <a:spcPts val="600"/>
              </a:spcAft>
            </a:pPr>
            <a:r>
              <a:rPr sz="2000" b="1" i="0">
                <a:solidFill>
                  <a:srgbClr val="1E2A38"/>
                </a:solidFill>
                <a:latin typeface="Cambria"/>
              </a:rPr>
              <a:t>Accelerate</a:t>
            </a:r>
          </a:p>
        </p:txBody>
      </p:sp>
      <p:sp>
        <p:nvSpPr>
          <p:cNvPr id="32" name="TextBox 31"/>
          <p:cNvSpPr txBox="1"/>
          <p:nvPr/>
        </p:nvSpPr>
        <p:spPr>
          <a:xfrm>
            <a:off x="9875519" y="3474720"/>
            <a:ext cx="1828800" cy="914400"/>
          </a:xfrm>
          <a:prstGeom prst="rect">
            <a:avLst/>
          </a:prstGeom>
          <a:noFill/>
        </p:spPr>
        <p:txBody>
          <a:bodyPr wrap="square" anchor="t" lIns="45720" rIns="45720">
            <a:spAutoFit/>
          </a:bodyPr>
          <a:lstStyle/>
          <a:p>
            <a:pPr algn="ctr">
              <a:spcAft>
                <a:spcPts val="600"/>
              </a:spcAft>
            </a:pPr>
            <a:r>
              <a:rPr sz="1400" b="0" i="0">
                <a:solidFill>
                  <a:srgbClr val="5F6B7A"/>
                </a:solidFill>
                <a:latin typeface="Calibri"/>
              </a:rPr>
              <a:t>Verilog accelerator</a:t>
            </a:r>
            <a:br/>
            <a:r>
              <a:rPr sz="1400" b="0" i="0">
                <a:solidFill>
                  <a:srgbClr val="5F6B7A"/>
                </a:solidFill>
                <a:latin typeface="Calibri"/>
              </a:rPr>
              <a:t>for nbody</a:t>
            </a:r>
          </a:p>
        </p:txBody>
      </p:sp>
      <p:sp>
        <p:nvSpPr>
          <p:cNvPr id="33" name="Rounded Rectangle 32"/>
          <p:cNvSpPr/>
          <p:nvPr/>
        </p:nvSpPr>
        <p:spPr>
          <a:xfrm>
            <a:off x="640080" y="4846320"/>
            <a:ext cx="10881360" cy="109728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4846320"/>
            <a:ext cx="10881360" cy="1097280"/>
          </a:xfrm>
          <a:prstGeom prst="rect">
            <a:avLst/>
          </a:prstGeom>
          <a:noFill/>
        </p:spPr>
        <p:txBody>
          <a:bodyPr wrap="square" anchor="ctr" lIns="73152" rIns="73152" tIns="73152" bIns="73152">
            <a:spAutoFit/>
          </a:bodyPr>
          <a:lstStyle/>
          <a:p>
            <a:pPr algn="l">
              <a:spcAft>
                <a:spcPts val="200"/>
              </a:spcAft>
            </a:pPr>
            <a:r>
              <a:rPr sz="1600" b="1" i="0">
                <a:solidFill>
                  <a:srgbClr val="1E2A38"/>
                </a:solidFill>
                <a:latin typeface="Calibri"/>
              </a:rPr>
              <a:t>Rule we kept throughout: </a:t>
            </a:r>
            <a:r>
              <a:rPr sz="1600" b="0" i="0">
                <a:solidFill>
                  <a:srgbClr val="1E2A38"/>
                </a:solidFill>
                <a:latin typeface="Calibri"/>
              </a:rPr>
              <a:t>every change is its own variant, measured on its own with pyperformance --rigorous, and checked to give exactly the same output as the original.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11480"/>
            <a:ext cx="502920" cy="50292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502920" cy="502920"/>
          </a:xfrm>
          <a:prstGeom prst="rect">
            <a:avLst/>
          </a:prstGeom>
          <a:noFill/>
        </p:spPr>
        <p:txBody>
          <a:bodyPr wrap="square" anchor="ctr" lIns="0" rIns="0" tIns="0" bIns="0">
            <a:spAutoFit/>
          </a:bodyPr>
          <a:lstStyle/>
          <a:p>
            <a:pPr algn="ctr">
              <a:spcAft>
                <a:spcPts val="0"/>
              </a:spcAft>
            </a:pPr>
            <a:r>
              <a:rPr sz="1600" b="1" i="0">
                <a:solidFill>
                  <a:srgbClr val="FFFFFF"/>
                </a:solidFill>
                <a:latin typeface="Calibri"/>
              </a:rPr>
              <a:t>1</a:t>
            </a:r>
          </a:p>
        </p:txBody>
      </p:sp>
      <p:sp>
        <p:nvSpPr>
          <p:cNvPr id="4" name="TextBox 3"/>
          <p:cNvSpPr txBox="1"/>
          <p:nvPr/>
        </p:nvSpPr>
        <p:spPr>
          <a:xfrm>
            <a:off x="1234440" y="320040"/>
            <a:ext cx="10408615" cy="731520"/>
          </a:xfrm>
          <a:prstGeom prst="rect">
            <a:avLst/>
          </a:prstGeom>
          <a:noFill/>
        </p:spPr>
        <p:txBody>
          <a:bodyPr wrap="square" anchor="ctr" lIns="45720" rIns="45720">
            <a:spAutoFit/>
          </a:bodyPr>
          <a:lstStyle/>
          <a:p>
            <a:pPr algn="l">
              <a:spcAft>
                <a:spcPts val="0"/>
              </a:spcAft>
            </a:pPr>
            <a:r>
              <a:rPr sz="3200" b="1" i="0">
                <a:solidFill>
                  <a:srgbClr val="1E2A38"/>
                </a:solidFill>
                <a:latin typeface="Cambria"/>
              </a:rPr>
              <a:t>Measuring on a noisy single-CPU VM</a:t>
            </a:r>
          </a:p>
        </p:txBody>
      </p:sp>
      <p:sp>
        <p:nvSpPr>
          <p:cNvPr id="5" name="TextBox 4"/>
          <p:cNvSpPr txBox="1"/>
          <p:nvPr/>
        </p:nvSpPr>
        <p:spPr>
          <a:xfrm>
            <a:off x="1234440" y="1005840"/>
            <a:ext cx="10408615" cy="411480"/>
          </a:xfrm>
          <a:prstGeom prst="rect">
            <a:avLst/>
          </a:prstGeom>
          <a:noFill/>
        </p:spPr>
        <p:txBody>
          <a:bodyPr wrap="square" anchor="t" lIns="45720" rIns="45720">
            <a:spAutoFit/>
          </a:bodyPr>
          <a:lstStyle/>
          <a:p>
            <a:pPr algn="l">
              <a:spcAft>
                <a:spcPts val="0"/>
              </a:spcAft>
            </a:pPr>
            <a:r>
              <a:rPr sz="1600" b="0" i="0">
                <a:solidFill>
                  <a:srgbClr val="5F6B7A"/>
                </a:solidFill>
                <a:latin typeface="Calibri"/>
              </a:rPr>
              <a:t>If the noise is bigger than the effect, the result means nothing</a:t>
            </a:r>
          </a:p>
        </p:txBody>
      </p:sp>
      <p:sp>
        <p:nvSpPr>
          <p:cNvPr id="6" name="TextBox 5"/>
          <p:cNvSpPr txBox="1"/>
          <p:nvPr/>
        </p:nvSpPr>
        <p:spPr>
          <a:xfrm>
            <a:off x="640080" y="1645920"/>
            <a:ext cx="5669280" cy="4114800"/>
          </a:xfrm>
          <a:prstGeom prst="rect">
            <a:avLst/>
          </a:prstGeom>
          <a:noFill/>
        </p:spPr>
        <p:txBody>
          <a:bodyPr wrap="square" anchor="t" lIns="45720" rIns="45720">
            <a:spAutoFit/>
          </a:bodyPr>
          <a:lstStyle/>
          <a:p>
            <a:pPr algn="l" marL="228600" indent="-228600">
              <a:spcAft>
                <a:spcPts val="800"/>
              </a:spcAft>
              <a:buChar char="•"/>
            </a:pPr>
            <a:r>
              <a:rPr sz="1600" b="1" i="0">
                <a:solidFill>
                  <a:srgbClr val="1E2A38"/>
                </a:solidFill>
                <a:latin typeface="Calibri"/>
              </a:rPr>
              <a:t>Environment: </a:t>
            </a:r>
            <a:r>
              <a:rPr sz="1600" b="0" i="0">
                <a:solidFill>
                  <a:srgbClr val="1E2A38"/>
                </a:solidFill>
                <a:latin typeface="Calibri"/>
              </a:rPr>
              <a:t>course QEMU image, Ubuntu 22.04, 1 vCPU, Python 3.10.12, pyperformance 1.14.0</a:t>
            </a:r>
          </a:p>
          <a:p>
            <a:pPr algn="l" marL="228600" indent="-228600">
              <a:spcAft>
                <a:spcPts val="800"/>
              </a:spcAft>
              <a:buChar char="•"/>
            </a:pPr>
            <a:r>
              <a:rPr sz="1600" b="1" i="0">
                <a:solidFill>
                  <a:srgbClr val="1E2A38"/>
                </a:solidFill>
                <a:latin typeface="Calibri"/>
              </a:rPr>
              <a:t>Timing: </a:t>
            </a:r>
            <a:r>
              <a:rPr sz="1600" b="0" i="0">
                <a:solidFill>
                  <a:srgbClr val="1E2A38"/>
                </a:solidFill>
                <a:latin typeface="Calibri"/>
              </a:rPr>
              <a:t>pyperformance run --rigorous: 20 processes x 3 values = 120 samples per benchmark</a:t>
            </a:r>
          </a:p>
          <a:p>
            <a:pPr algn="l" marL="228600" indent="-228600">
              <a:spcAft>
                <a:spcPts val="800"/>
              </a:spcAft>
              <a:buChar char="•"/>
            </a:pPr>
            <a:r>
              <a:rPr sz="1600" b="1" i="0">
                <a:solidFill>
                  <a:srgbClr val="1E2A38"/>
                </a:solidFill>
                <a:latin typeface="Calibri"/>
              </a:rPr>
              <a:t>Stability: </a:t>
            </a:r>
            <a:r>
              <a:rPr sz="1600" b="0" i="0">
                <a:solidFill>
                  <a:srgbClr val="1E2A38"/>
                </a:solidFill>
                <a:latin typeface="Calibri"/>
              </a:rPr>
              <a:t>pyperf system tune (CPU pinning, IRQs moved away) before every timing session</a:t>
            </a:r>
          </a:p>
          <a:p>
            <a:pPr algn="l" marL="228600" indent="-228600">
              <a:spcAft>
                <a:spcPts val="800"/>
              </a:spcAft>
              <a:buChar char="•"/>
            </a:pPr>
            <a:r>
              <a:rPr sz="1600" b="1" i="0">
                <a:solidFill>
                  <a:srgbClr val="1E2A38"/>
                </a:solidFill>
                <a:latin typeface="Calibri"/>
              </a:rPr>
              <a:t>Statistics: </a:t>
            </a:r>
            <a:r>
              <a:rPr sz="1600" b="0" i="0">
                <a:solidFill>
                  <a:srgbClr val="1E2A38"/>
                </a:solidFill>
                <a:latin typeface="Calibri"/>
              </a:rPr>
              <a:t>median and MAD (robust to outliers), mean and std, histograms</a:t>
            </a:r>
          </a:p>
          <a:p>
            <a:pPr algn="l" marL="228600" indent="-228600">
              <a:spcAft>
                <a:spcPts val="800"/>
              </a:spcAft>
              <a:buChar char="•"/>
            </a:pPr>
            <a:r>
              <a:rPr sz="1600" b="1" i="0">
                <a:solidFill>
                  <a:srgbClr val="1E2A38"/>
                </a:solidFill>
                <a:latin typeface="Calibri"/>
              </a:rPr>
              <a:t>Correctness: </a:t>
            </a:r>
            <a:r>
              <a:rPr sz="1600" b="0" i="0">
                <a:solidFill>
                  <a:srgbClr val="1E2A38"/>
                </a:solidFill>
                <a:latin typeface="Calibri"/>
              </a:rPr>
              <a:t>verify scripts compare every result bit for bit with the original</a:t>
            </a:r>
          </a:p>
        </p:txBody>
      </p:sp>
      <p:sp>
        <p:nvSpPr>
          <p:cNvPr id="7" name="Rounded Rectangle 6"/>
          <p:cNvSpPr/>
          <p:nvPr/>
        </p:nvSpPr>
        <p:spPr>
          <a:xfrm>
            <a:off x="6766560" y="1645920"/>
            <a:ext cx="4846320" cy="420624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0" y="1783080"/>
            <a:ext cx="4389120" cy="457200"/>
          </a:xfrm>
          <a:prstGeom prst="rect">
            <a:avLst/>
          </a:prstGeom>
          <a:noFill/>
        </p:spPr>
        <p:txBody>
          <a:bodyPr wrap="square" anchor="t" lIns="45720" rIns="45720">
            <a:spAutoFit/>
          </a:bodyPr>
          <a:lstStyle/>
          <a:p>
            <a:pPr algn="l">
              <a:spcAft>
                <a:spcPts val="600"/>
              </a:spcAft>
            </a:pPr>
            <a:r>
              <a:rPr sz="1600" b="1" i="0">
                <a:solidFill>
                  <a:srgbClr val="1E2A38"/>
                </a:solidFill>
                <a:latin typeface="Calibri"/>
              </a:rPr>
              <a:t>raytrace baseline spread</a:t>
            </a:r>
          </a:p>
        </p:txBody>
      </p:sp>
      <p:sp>
        <p:nvSpPr>
          <p:cNvPr id="9" name="TextBox 8"/>
          <p:cNvSpPr txBox="1"/>
          <p:nvPr/>
        </p:nvSpPr>
        <p:spPr>
          <a:xfrm>
            <a:off x="7040880" y="2286000"/>
            <a:ext cx="2103120" cy="731520"/>
          </a:xfrm>
          <a:prstGeom prst="rect">
            <a:avLst/>
          </a:prstGeom>
          <a:noFill/>
        </p:spPr>
        <p:txBody>
          <a:bodyPr wrap="square" anchor="b" lIns="45720" rIns="45720">
            <a:spAutoFit/>
          </a:bodyPr>
          <a:lstStyle/>
          <a:p>
            <a:pPr algn="l">
              <a:spcAft>
                <a:spcPts val="0"/>
              </a:spcAft>
            </a:pPr>
            <a:r>
              <a:rPr sz="3400" b="1" i="0">
                <a:solidFill>
                  <a:srgbClr val="C0504D"/>
                </a:solidFill>
                <a:latin typeface="Cambria"/>
              </a:rPr>
              <a:t>±84 ms</a:t>
            </a:r>
          </a:p>
        </p:txBody>
      </p:sp>
      <p:sp>
        <p:nvSpPr>
          <p:cNvPr id="10" name="TextBox 9"/>
          <p:cNvSpPr txBox="1"/>
          <p:nvPr/>
        </p:nvSpPr>
        <p:spPr>
          <a:xfrm>
            <a:off x="7040880" y="3035808"/>
            <a:ext cx="2103120" cy="640080"/>
          </a:xfrm>
          <a:prstGeom prst="rect">
            <a:avLst/>
          </a:prstGeom>
          <a:noFill/>
        </p:spPr>
        <p:txBody>
          <a:bodyPr wrap="square" anchor="t" lIns="45720" rIns="45720">
            <a:spAutoFit/>
          </a:bodyPr>
          <a:lstStyle/>
          <a:p>
            <a:pPr algn="l">
              <a:spcAft>
                <a:spcPts val="0"/>
              </a:spcAft>
            </a:pPr>
            <a:r>
              <a:rPr sz="1300" b="0" i="0">
                <a:solidFill>
                  <a:srgbClr val="5F6B7A"/>
                </a:solidFill>
                <a:latin typeface="Calibri"/>
              </a:rPr>
              <a:t>first default run</a:t>
            </a:r>
            <a:br/>
            <a:r>
              <a:rPr sz="1300" b="0" i="0">
                <a:solidFill>
                  <a:srgbClr val="5F6B7A"/>
                </a:solidFill>
                <a:latin typeface="Calibri"/>
              </a:rPr>
              <a:t>(±10%, bigger than</a:t>
            </a:r>
            <a:br/>
            <a:r>
              <a:rPr sz="1300" b="0" i="0">
                <a:solidFill>
                  <a:srgbClr val="5F6B7A"/>
                </a:solidFill>
                <a:latin typeface="Calibri"/>
              </a:rPr>
              <a:t>the 7% target)</a:t>
            </a:r>
          </a:p>
        </p:txBody>
      </p:sp>
      <p:sp>
        <p:nvSpPr>
          <p:cNvPr id="11" name="TextBox 10"/>
          <p:cNvSpPr txBox="1"/>
          <p:nvPr/>
        </p:nvSpPr>
        <p:spPr>
          <a:xfrm>
            <a:off x="9326880" y="2286000"/>
            <a:ext cx="2103120" cy="731520"/>
          </a:xfrm>
          <a:prstGeom prst="rect">
            <a:avLst/>
          </a:prstGeom>
          <a:noFill/>
        </p:spPr>
        <p:txBody>
          <a:bodyPr wrap="square" anchor="b" lIns="45720" rIns="45720">
            <a:spAutoFit/>
          </a:bodyPr>
          <a:lstStyle/>
          <a:p>
            <a:pPr algn="l">
              <a:spcAft>
                <a:spcPts val="0"/>
              </a:spcAft>
            </a:pPr>
            <a:r>
              <a:rPr sz="3400" b="1" i="0">
                <a:solidFill>
                  <a:srgbClr val="1C9A86"/>
                </a:solidFill>
                <a:latin typeface="Cambria"/>
              </a:rPr>
              <a:t>±19 ms</a:t>
            </a:r>
          </a:p>
        </p:txBody>
      </p:sp>
      <p:sp>
        <p:nvSpPr>
          <p:cNvPr id="12" name="TextBox 11"/>
          <p:cNvSpPr txBox="1"/>
          <p:nvPr/>
        </p:nvSpPr>
        <p:spPr>
          <a:xfrm>
            <a:off x="9326880" y="3035808"/>
            <a:ext cx="2103120" cy="640080"/>
          </a:xfrm>
          <a:prstGeom prst="rect">
            <a:avLst/>
          </a:prstGeom>
          <a:noFill/>
        </p:spPr>
        <p:txBody>
          <a:bodyPr wrap="square" anchor="t" lIns="45720" rIns="45720">
            <a:spAutoFit/>
          </a:bodyPr>
          <a:lstStyle/>
          <a:p>
            <a:pPr algn="l">
              <a:spcAft>
                <a:spcPts val="0"/>
              </a:spcAft>
            </a:pPr>
            <a:r>
              <a:rPr sz="1300" b="0" i="0">
                <a:solidFill>
                  <a:srgbClr val="5F6B7A"/>
                </a:solidFill>
                <a:latin typeface="Calibri"/>
              </a:rPr>
              <a:t>tuned + rigorous</a:t>
            </a:r>
            <a:br/>
            <a:r>
              <a:rPr sz="1300" b="0" i="0">
                <a:solidFill>
                  <a:srgbClr val="5F6B7A"/>
                </a:solidFill>
                <a:latin typeface="Calibri"/>
              </a:rPr>
              <a:t>(±2%, 120 samples)</a:t>
            </a:r>
          </a:p>
        </p:txBody>
      </p:sp>
      <p:sp>
        <p:nvSpPr>
          <p:cNvPr id="13" name="TextBox 12"/>
          <p:cNvSpPr txBox="1"/>
          <p:nvPr/>
        </p:nvSpPr>
        <p:spPr>
          <a:xfrm>
            <a:off x="7040880" y="4297680"/>
            <a:ext cx="4389120" cy="1371600"/>
          </a:xfrm>
          <a:prstGeom prst="rect">
            <a:avLst/>
          </a:prstGeom>
          <a:noFill/>
        </p:spPr>
        <p:txBody>
          <a:bodyPr wrap="square" anchor="t" lIns="45720" rIns="45720">
            <a:spAutoFit/>
          </a:bodyPr>
          <a:lstStyle/>
          <a:p>
            <a:pPr algn="l">
              <a:spcAft>
                <a:spcPts val="600"/>
              </a:spcAft>
            </a:pPr>
            <a:r>
              <a:rPr sz="1400" b="0" i="0">
                <a:solidFill>
                  <a:srgbClr val="5F6B7A"/>
                </a:solidFill>
                <a:latin typeface="Calibri"/>
              </a:rPr>
              <a:t>The long tail of slow runs came from the VM being interrupted, not from the benchmark: the median barely moved (816 -&gt; 809 ms), the tail disappeared.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11480"/>
            <a:ext cx="502920" cy="50292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502920" cy="502920"/>
          </a:xfrm>
          <a:prstGeom prst="rect">
            <a:avLst/>
          </a:prstGeom>
          <a:noFill/>
        </p:spPr>
        <p:txBody>
          <a:bodyPr wrap="square" anchor="ctr" lIns="0" rIns="0" tIns="0" bIns="0">
            <a:spAutoFit/>
          </a:bodyPr>
          <a:lstStyle/>
          <a:p>
            <a:pPr algn="ctr">
              <a:spcAft>
                <a:spcPts val="0"/>
              </a:spcAft>
            </a:pPr>
            <a:r>
              <a:rPr sz="1600" b="1" i="0">
                <a:solidFill>
                  <a:srgbClr val="FFFFFF"/>
                </a:solidFill>
                <a:latin typeface="Calibri"/>
              </a:rPr>
              <a:t>2</a:t>
            </a:r>
          </a:p>
        </p:txBody>
      </p:sp>
      <p:sp>
        <p:nvSpPr>
          <p:cNvPr id="4" name="TextBox 3"/>
          <p:cNvSpPr txBox="1"/>
          <p:nvPr/>
        </p:nvSpPr>
        <p:spPr>
          <a:xfrm>
            <a:off x="1234440" y="320040"/>
            <a:ext cx="10408615" cy="731520"/>
          </a:xfrm>
          <a:prstGeom prst="rect">
            <a:avLst/>
          </a:prstGeom>
          <a:noFill/>
        </p:spPr>
        <p:txBody>
          <a:bodyPr wrap="square" anchor="ctr" lIns="45720" rIns="45720">
            <a:spAutoFit/>
          </a:bodyPr>
          <a:lstStyle/>
          <a:p>
            <a:pPr algn="l">
              <a:spcAft>
                <a:spcPts val="0"/>
              </a:spcAft>
            </a:pPr>
            <a:r>
              <a:rPr sz="3200" b="1" i="0">
                <a:solidFill>
                  <a:srgbClr val="1E2A38"/>
                </a:solidFill>
                <a:latin typeface="Cambria"/>
              </a:rPr>
              <a:t>nbody: planets under gravity</a:t>
            </a:r>
          </a:p>
        </p:txBody>
      </p:sp>
      <p:sp>
        <p:nvSpPr>
          <p:cNvPr id="5" name="TextBox 4"/>
          <p:cNvSpPr txBox="1"/>
          <p:nvPr/>
        </p:nvSpPr>
        <p:spPr>
          <a:xfrm>
            <a:off x="1234440" y="1005840"/>
            <a:ext cx="10408615" cy="411480"/>
          </a:xfrm>
          <a:prstGeom prst="rect">
            <a:avLst/>
          </a:prstGeom>
          <a:noFill/>
        </p:spPr>
        <p:txBody>
          <a:bodyPr wrap="square" anchor="t" lIns="45720" rIns="45720">
            <a:spAutoFit/>
          </a:bodyPr>
          <a:lstStyle/>
          <a:p>
            <a:pPr algn="l">
              <a:spcAft>
                <a:spcPts val="0"/>
              </a:spcAft>
            </a:pPr>
            <a:r>
              <a:rPr sz="1600" b="0" i="0">
                <a:solidFill>
                  <a:srgbClr val="5F6B7A"/>
                </a:solidFill>
                <a:latin typeface="Calibri"/>
              </a:rPr>
              <a:t>Sun + 4 giant planets, 20000 time steps per benchmark iteration</a:t>
            </a:r>
          </a:p>
        </p:txBody>
      </p:sp>
      <p:cxnSp>
        <p:nvCxnSpPr>
          <p:cNvPr id="6" name="Connector 5"/>
          <p:cNvCxnSpPr/>
          <p:nvPr/>
        </p:nvCxnSpPr>
        <p:spPr>
          <a:xfrm flipH="1">
            <a:off x="1365192" y="2103120"/>
            <a:ext cx="1652328" cy="1200486"/>
          </a:xfrm>
          <a:prstGeom prst="line">
            <a:avLst/>
          </a:prstGeom>
          <a:ln w="15875">
            <a:solidFill>
              <a:srgbClr val="C9D2DC"/>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996325" y="2103120"/>
            <a:ext cx="1021195" cy="3142913"/>
          </a:xfrm>
          <a:prstGeom prst="line">
            <a:avLst/>
          </a:prstGeom>
          <a:ln w="15875">
            <a:solidFill>
              <a:srgbClr val="C9D2DC"/>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017520" y="2103120"/>
            <a:ext cx="1021194" cy="3142913"/>
          </a:xfrm>
          <a:prstGeom prst="line">
            <a:avLst/>
          </a:prstGeom>
          <a:ln w="15875">
            <a:solidFill>
              <a:srgbClr val="C9D2DC"/>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017520" y="2103120"/>
            <a:ext cx="1652327" cy="1200486"/>
          </a:xfrm>
          <a:prstGeom prst="line">
            <a:avLst/>
          </a:prstGeom>
          <a:ln w="15875">
            <a:solidFill>
              <a:srgbClr val="C9D2DC"/>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365192" y="3303606"/>
            <a:ext cx="631133" cy="1942427"/>
          </a:xfrm>
          <a:prstGeom prst="line">
            <a:avLst/>
          </a:prstGeom>
          <a:ln w="15875">
            <a:solidFill>
              <a:srgbClr val="C9D2D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365192" y="3303606"/>
            <a:ext cx="2673522" cy="1942427"/>
          </a:xfrm>
          <a:prstGeom prst="line">
            <a:avLst/>
          </a:prstGeom>
          <a:ln w="15875">
            <a:solidFill>
              <a:srgbClr val="C9D2D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365192" y="3303606"/>
            <a:ext cx="3304655" cy="0"/>
          </a:xfrm>
          <a:prstGeom prst="line">
            <a:avLst/>
          </a:prstGeom>
          <a:ln w="15875">
            <a:solidFill>
              <a:srgbClr val="C9D2D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996325" y="5246033"/>
            <a:ext cx="2042389" cy="0"/>
          </a:xfrm>
          <a:prstGeom prst="line">
            <a:avLst/>
          </a:prstGeom>
          <a:ln w="15875">
            <a:solidFill>
              <a:srgbClr val="C9D2D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996325" y="3303606"/>
            <a:ext cx="2673522" cy="1942427"/>
          </a:xfrm>
          <a:prstGeom prst="line">
            <a:avLst/>
          </a:prstGeom>
          <a:ln w="15875">
            <a:solidFill>
              <a:srgbClr val="C9D2D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038714" y="3303606"/>
            <a:ext cx="631133" cy="1942427"/>
          </a:xfrm>
          <a:prstGeom prst="line">
            <a:avLst/>
          </a:prstGeom>
          <a:ln w="15875">
            <a:solidFill>
              <a:srgbClr val="C9D2DC"/>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2734056" y="1819656"/>
            <a:ext cx="566928" cy="566928"/>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0" y="2404872"/>
            <a:ext cx="1463040" cy="320040"/>
          </a:xfrm>
          <a:prstGeom prst="rect">
            <a:avLst/>
          </a:prstGeom>
          <a:noFill/>
        </p:spPr>
        <p:txBody>
          <a:bodyPr wrap="square" anchor="t" lIns="45720" rIns="45720">
            <a:spAutoFit/>
          </a:bodyPr>
          <a:lstStyle/>
          <a:p>
            <a:pPr algn="ctr">
              <a:spcAft>
                <a:spcPts val="600"/>
              </a:spcAft>
            </a:pPr>
            <a:r>
              <a:rPr sz="1200" b="0" i="0">
                <a:solidFill>
                  <a:srgbClr val="5F6B7A"/>
                </a:solidFill>
                <a:latin typeface="Calibri"/>
              </a:rPr>
              <a:t>Sun</a:t>
            </a:r>
          </a:p>
        </p:txBody>
      </p:sp>
      <p:sp>
        <p:nvSpPr>
          <p:cNvPr id="18" name="Oval 17"/>
          <p:cNvSpPr/>
          <p:nvPr/>
        </p:nvSpPr>
        <p:spPr>
          <a:xfrm>
            <a:off x="1154880" y="3093294"/>
            <a:ext cx="420624" cy="420624"/>
          </a:xfrm>
          <a:prstGeom prst="ellipse">
            <a:avLst/>
          </a:prstGeom>
          <a:solidFill>
            <a:srgbClr val="15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3672" y="3532206"/>
            <a:ext cx="1463040" cy="320040"/>
          </a:xfrm>
          <a:prstGeom prst="rect">
            <a:avLst/>
          </a:prstGeom>
          <a:noFill/>
        </p:spPr>
        <p:txBody>
          <a:bodyPr wrap="square" anchor="t" lIns="45720" rIns="45720">
            <a:spAutoFit/>
          </a:bodyPr>
          <a:lstStyle/>
          <a:p>
            <a:pPr algn="ctr">
              <a:spcAft>
                <a:spcPts val="600"/>
              </a:spcAft>
            </a:pPr>
            <a:r>
              <a:rPr sz="1200" b="0" i="0">
                <a:solidFill>
                  <a:srgbClr val="5F6B7A"/>
                </a:solidFill>
                <a:latin typeface="Calibri"/>
              </a:rPr>
              <a:t>Jupiter</a:t>
            </a:r>
          </a:p>
        </p:txBody>
      </p:sp>
      <p:sp>
        <p:nvSpPr>
          <p:cNvPr id="20" name="Oval 19"/>
          <p:cNvSpPr/>
          <p:nvPr/>
        </p:nvSpPr>
        <p:spPr>
          <a:xfrm>
            <a:off x="1786013" y="5035721"/>
            <a:ext cx="420624" cy="420624"/>
          </a:xfrm>
          <a:prstGeom prst="ellipse">
            <a:avLst/>
          </a:prstGeom>
          <a:solidFill>
            <a:srgbClr val="15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64805" y="5474633"/>
            <a:ext cx="1463040" cy="320040"/>
          </a:xfrm>
          <a:prstGeom prst="rect">
            <a:avLst/>
          </a:prstGeom>
          <a:noFill/>
        </p:spPr>
        <p:txBody>
          <a:bodyPr wrap="square" anchor="t" lIns="45720" rIns="45720">
            <a:spAutoFit/>
          </a:bodyPr>
          <a:lstStyle/>
          <a:p>
            <a:pPr algn="ctr">
              <a:spcAft>
                <a:spcPts val="600"/>
              </a:spcAft>
            </a:pPr>
            <a:r>
              <a:rPr sz="1200" b="0" i="0">
                <a:solidFill>
                  <a:srgbClr val="5F6B7A"/>
                </a:solidFill>
                <a:latin typeface="Calibri"/>
              </a:rPr>
              <a:t>Saturn</a:t>
            </a:r>
          </a:p>
        </p:txBody>
      </p:sp>
      <p:sp>
        <p:nvSpPr>
          <p:cNvPr id="22" name="Oval 21"/>
          <p:cNvSpPr/>
          <p:nvPr/>
        </p:nvSpPr>
        <p:spPr>
          <a:xfrm>
            <a:off x="3828402" y="5035721"/>
            <a:ext cx="420624" cy="420624"/>
          </a:xfrm>
          <a:prstGeom prst="ellipse">
            <a:avLst/>
          </a:prstGeom>
          <a:solidFill>
            <a:srgbClr val="15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07194" y="5474633"/>
            <a:ext cx="1463040" cy="320040"/>
          </a:xfrm>
          <a:prstGeom prst="rect">
            <a:avLst/>
          </a:prstGeom>
          <a:noFill/>
        </p:spPr>
        <p:txBody>
          <a:bodyPr wrap="square" anchor="t" lIns="45720" rIns="45720">
            <a:spAutoFit/>
          </a:bodyPr>
          <a:lstStyle/>
          <a:p>
            <a:pPr algn="ctr">
              <a:spcAft>
                <a:spcPts val="600"/>
              </a:spcAft>
            </a:pPr>
            <a:r>
              <a:rPr sz="1200" b="0" i="0">
                <a:solidFill>
                  <a:srgbClr val="5F6B7A"/>
                </a:solidFill>
                <a:latin typeface="Calibri"/>
              </a:rPr>
              <a:t>Uranus</a:t>
            </a:r>
          </a:p>
        </p:txBody>
      </p:sp>
      <p:sp>
        <p:nvSpPr>
          <p:cNvPr id="24" name="Oval 23"/>
          <p:cNvSpPr/>
          <p:nvPr/>
        </p:nvSpPr>
        <p:spPr>
          <a:xfrm>
            <a:off x="4459535" y="3093294"/>
            <a:ext cx="420624" cy="420624"/>
          </a:xfrm>
          <a:prstGeom prst="ellipse">
            <a:avLst/>
          </a:prstGeom>
          <a:solidFill>
            <a:srgbClr val="15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38327" y="3532206"/>
            <a:ext cx="1463040" cy="320040"/>
          </a:xfrm>
          <a:prstGeom prst="rect">
            <a:avLst/>
          </a:prstGeom>
          <a:noFill/>
        </p:spPr>
        <p:txBody>
          <a:bodyPr wrap="square" anchor="t" lIns="45720" rIns="45720">
            <a:spAutoFit/>
          </a:bodyPr>
          <a:lstStyle/>
          <a:p>
            <a:pPr algn="ctr">
              <a:spcAft>
                <a:spcPts val="600"/>
              </a:spcAft>
            </a:pPr>
            <a:r>
              <a:rPr sz="1200" b="0" i="0">
                <a:solidFill>
                  <a:srgbClr val="5F6B7A"/>
                </a:solidFill>
                <a:latin typeface="Calibri"/>
              </a:rPr>
              <a:t>Neptune</a:t>
            </a:r>
          </a:p>
        </p:txBody>
      </p:sp>
      <p:sp>
        <p:nvSpPr>
          <p:cNvPr id="26" name="TextBox 25"/>
          <p:cNvSpPr txBox="1"/>
          <p:nvPr/>
        </p:nvSpPr>
        <p:spPr>
          <a:xfrm>
            <a:off x="640080" y="5989320"/>
            <a:ext cx="4846320" cy="457200"/>
          </a:xfrm>
          <a:prstGeom prst="rect">
            <a:avLst/>
          </a:prstGeom>
          <a:noFill/>
        </p:spPr>
        <p:txBody>
          <a:bodyPr wrap="square" anchor="t" lIns="45720" rIns="45720">
            <a:spAutoFit/>
          </a:bodyPr>
          <a:lstStyle/>
          <a:p>
            <a:pPr algn="ctr">
              <a:spcAft>
                <a:spcPts val="600"/>
              </a:spcAft>
            </a:pPr>
            <a:r>
              <a:rPr sz="1400" b="0" i="0">
                <a:solidFill>
                  <a:srgbClr val="5F6B7A"/>
                </a:solidFill>
                <a:latin typeface="Calibri"/>
              </a:rPr>
              <a:t>10 pairs per step  ·  O(N²) pair loop</a:t>
            </a:r>
          </a:p>
        </p:txBody>
      </p:sp>
      <p:sp>
        <p:nvSpPr>
          <p:cNvPr id="27" name="Rounded Rectangle 26"/>
          <p:cNvSpPr/>
          <p:nvPr/>
        </p:nvSpPr>
        <p:spPr>
          <a:xfrm>
            <a:off x="6035040" y="1645920"/>
            <a:ext cx="5577840" cy="2971800"/>
          </a:xfrm>
          <a:prstGeom prst="roundRect">
            <a:avLst>
              <a:gd name="adj" fmla="val 4000"/>
            </a:avLst>
          </a:prstGeom>
          <a:solidFill>
            <a:srgbClr val="1B2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26479" y="1719072"/>
            <a:ext cx="5394959" cy="2825496"/>
          </a:xfrm>
          <a:prstGeom prst="rect">
            <a:avLst/>
          </a:prstGeom>
          <a:noFill/>
        </p:spPr>
        <p:txBody>
          <a:bodyPr wrap="square" anchor="t" lIns="45720" rIns="45720">
            <a:spAutoFit/>
          </a:bodyPr>
          <a:lstStyle/>
          <a:p>
            <a:pPr algn="l">
              <a:spcAft>
                <a:spcPts val="0"/>
              </a:spcAft>
            </a:pPr>
            <a:r>
              <a:rPr sz="1200" b="0" i="0">
                <a:solidFill>
                  <a:srgbClr val="E6EDF3"/>
                </a:solidFill>
                <a:latin typeface="Courier New"/>
              </a:rPr>
              <a:t>def advance(dt, n, bodies, pairs):</a:t>
            </a:r>
          </a:p>
          <a:p>
            <a:pPr algn="l">
              <a:spcAft>
                <a:spcPts val="0"/>
              </a:spcAft>
            </a:pPr>
            <a:r>
              <a:rPr sz="1200" b="0" i="0">
                <a:solidFill>
                  <a:srgbClr val="E6EDF3"/>
                </a:solidFill>
                <a:latin typeface="Courier New"/>
              </a:rPr>
              <a:t>  for i in range(n):</a:t>
            </a:r>
          </a:p>
          <a:p>
            <a:pPr algn="l">
              <a:spcAft>
                <a:spcPts val="0"/>
              </a:spcAft>
            </a:pPr>
            <a:r>
              <a:rPr sz="1200" b="0" i="0">
                <a:solidFill>
                  <a:srgbClr val="E6EDF3"/>
                </a:solidFill>
                <a:latin typeface="Courier New"/>
              </a:rPr>
              <a:t>    for (([x1,y1,z1], v1, m1),</a:t>
            </a:r>
          </a:p>
          <a:p>
            <a:pPr algn="l">
              <a:spcAft>
                <a:spcPts val="0"/>
              </a:spcAft>
            </a:pPr>
            <a:r>
              <a:rPr sz="1200" b="0" i="0">
                <a:solidFill>
                  <a:srgbClr val="E6EDF3"/>
                </a:solidFill>
                <a:latin typeface="Courier New"/>
              </a:rPr>
              <a:t>         ([x2,y2,z2], v2, m2)) in pairs:</a:t>
            </a:r>
          </a:p>
          <a:p>
            <a:pPr algn="l">
              <a:spcAft>
                <a:spcPts val="0"/>
              </a:spcAft>
            </a:pPr>
            <a:r>
              <a:rPr sz="1200" b="0" i="0">
                <a:solidFill>
                  <a:srgbClr val="E6EDF3"/>
                </a:solidFill>
                <a:latin typeface="Courier New"/>
              </a:rPr>
              <a:t>      dx = x1-x2; dy = y1-y2; dz = z1-z2</a:t>
            </a:r>
          </a:p>
          <a:p>
            <a:pPr algn="l">
              <a:spcAft>
                <a:spcPts val="0"/>
              </a:spcAft>
            </a:pPr>
            <a:r>
              <a:rPr sz="1200" b="0" i="0">
                <a:solidFill>
                  <a:srgbClr val="E6EDF3"/>
                </a:solidFill>
                <a:latin typeface="Courier New"/>
              </a:rPr>
              <a:t>      mag = dt * (dx*dx+dy*dy+dz*dz)**(-1.5)</a:t>
            </a:r>
          </a:p>
          <a:p>
            <a:pPr algn="l">
              <a:spcAft>
                <a:spcPts val="0"/>
              </a:spcAft>
            </a:pPr>
            <a:r>
              <a:rPr sz="1200" b="0" i="0">
                <a:solidFill>
                  <a:srgbClr val="E6EDF3"/>
                </a:solidFill>
                <a:latin typeface="Courier New"/>
              </a:rPr>
              <a:t>      v1[0] -= dx * m2 * mag   # ... y, z</a:t>
            </a:r>
          </a:p>
          <a:p>
            <a:pPr algn="l">
              <a:spcAft>
                <a:spcPts val="0"/>
              </a:spcAft>
            </a:pPr>
            <a:r>
              <a:rPr sz="1200" b="0" i="0">
                <a:solidFill>
                  <a:srgbClr val="E6EDF3"/>
                </a:solidFill>
                <a:latin typeface="Courier New"/>
              </a:rPr>
              <a:t>      v2[0] += dx * m1 * mag   # ... y, z</a:t>
            </a:r>
          </a:p>
          <a:p>
            <a:pPr algn="l">
              <a:spcAft>
                <a:spcPts val="0"/>
              </a:spcAft>
            </a:pPr>
            <a:r>
              <a:rPr sz="1200" b="0" i="0">
                <a:solidFill>
                  <a:srgbClr val="E6EDF3"/>
                </a:solidFill>
                <a:latin typeface="Courier New"/>
              </a:rPr>
              <a:t>    for (r, [vx, vy, vz], m) in bodies:</a:t>
            </a:r>
          </a:p>
          <a:p>
            <a:pPr algn="l">
              <a:spcAft>
                <a:spcPts val="0"/>
              </a:spcAft>
            </a:pPr>
            <a:r>
              <a:rPr sz="1200" b="0" i="0">
                <a:solidFill>
                  <a:srgbClr val="E6EDF3"/>
                </a:solidFill>
                <a:latin typeface="Courier New"/>
              </a:rPr>
              <a:t>      r[0] += dt * vx          # ... y, z</a:t>
            </a:r>
          </a:p>
        </p:txBody>
      </p:sp>
      <p:sp>
        <p:nvSpPr>
          <p:cNvPr id="29" name="TextBox 28"/>
          <p:cNvSpPr txBox="1"/>
          <p:nvPr/>
        </p:nvSpPr>
        <p:spPr>
          <a:xfrm>
            <a:off x="6035040" y="4800600"/>
            <a:ext cx="5577840" cy="1645920"/>
          </a:xfrm>
          <a:prstGeom prst="rect">
            <a:avLst/>
          </a:prstGeom>
          <a:noFill/>
        </p:spPr>
        <p:txBody>
          <a:bodyPr wrap="square" anchor="t" lIns="45720" rIns="45720">
            <a:spAutoFit/>
          </a:bodyPr>
          <a:lstStyle/>
          <a:p>
            <a:pPr algn="l" marL="228600" indent="-228600">
              <a:spcAft>
                <a:spcPts val="400"/>
              </a:spcAft>
              <a:buChar char="•"/>
            </a:pPr>
            <a:r>
              <a:rPr sz="1400" b="1" i="0">
                <a:solidFill>
                  <a:srgbClr val="1E2A38"/>
                </a:solidFill>
                <a:latin typeface="Calibri"/>
              </a:rPr>
              <a:t>Data: </a:t>
            </a:r>
            <a:r>
              <a:rPr sz="1400" b="0" i="0">
                <a:solidFill>
                  <a:srgbClr val="1E2A38"/>
                </a:solidFill>
                <a:latin typeface="Calibri"/>
              </a:rPr>
              <a:t>each body = ([x,y,z], [vx,vy,vz], mass), lists updated in place</a:t>
            </a:r>
          </a:p>
          <a:p>
            <a:pPr algn="l" marL="228600" indent="-228600">
              <a:spcAft>
                <a:spcPts val="400"/>
              </a:spcAft>
              <a:buChar char="•"/>
            </a:pPr>
            <a:r>
              <a:rPr sz="1400" b="1" i="0">
                <a:solidFill>
                  <a:srgbClr val="1E2A38"/>
                </a:solidFill>
                <a:latin typeface="Calibri"/>
              </a:rPr>
              <a:t>Libraries: </a:t>
            </a:r>
            <a:r>
              <a:rPr sz="1400" b="0" i="0">
                <a:solidFill>
                  <a:srgbClr val="1E2A38"/>
                </a:solidFill>
                <a:latin typeface="Calibri"/>
              </a:rPr>
              <a:t>none, plain Python floats (pyperf only for timing)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11480"/>
            <a:ext cx="502920" cy="50292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502920" cy="502920"/>
          </a:xfrm>
          <a:prstGeom prst="rect">
            <a:avLst/>
          </a:prstGeom>
          <a:noFill/>
        </p:spPr>
        <p:txBody>
          <a:bodyPr wrap="square" anchor="ctr" lIns="0" rIns="0" tIns="0" bIns="0">
            <a:spAutoFit/>
          </a:bodyPr>
          <a:lstStyle/>
          <a:p>
            <a:pPr algn="ctr">
              <a:spcAft>
                <a:spcPts val="0"/>
              </a:spcAft>
            </a:pPr>
            <a:r>
              <a:rPr sz="1600" b="1" i="0">
                <a:solidFill>
                  <a:srgbClr val="FFFFFF"/>
                </a:solidFill>
                <a:latin typeface="Calibri"/>
              </a:rPr>
              <a:t>2</a:t>
            </a:r>
          </a:p>
        </p:txBody>
      </p:sp>
      <p:sp>
        <p:nvSpPr>
          <p:cNvPr id="4" name="TextBox 3"/>
          <p:cNvSpPr txBox="1"/>
          <p:nvPr/>
        </p:nvSpPr>
        <p:spPr>
          <a:xfrm>
            <a:off x="1234440" y="320040"/>
            <a:ext cx="10408615" cy="731520"/>
          </a:xfrm>
          <a:prstGeom prst="rect">
            <a:avLst/>
          </a:prstGeom>
          <a:noFill/>
        </p:spPr>
        <p:txBody>
          <a:bodyPr wrap="square" anchor="ctr" lIns="45720" rIns="45720">
            <a:spAutoFit/>
          </a:bodyPr>
          <a:lstStyle/>
          <a:p>
            <a:pPr algn="l">
              <a:spcAft>
                <a:spcPts val="0"/>
              </a:spcAft>
            </a:pPr>
            <a:r>
              <a:rPr sz="3200" b="1" i="0">
                <a:solidFill>
                  <a:srgbClr val="1E2A38"/>
                </a:solidFill>
                <a:latin typeface="Cambria"/>
              </a:rPr>
              <a:t>raytrace: a ray tracer in pure Python</a:t>
            </a:r>
          </a:p>
        </p:txBody>
      </p:sp>
      <p:sp>
        <p:nvSpPr>
          <p:cNvPr id="5" name="TextBox 4"/>
          <p:cNvSpPr txBox="1"/>
          <p:nvPr/>
        </p:nvSpPr>
        <p:spPr>
          <a:xfrm>
            <a:off x="1234440" y="1005840"/>
            <a:ext cx="10408615" cy="411480"/>
          </a:xfrm>
          <a:prstGeom prst="rect">
            <a:avLst/>
          </a:prstGeom>
          <a:noFill/>
        </p:spPr>
        <p:txBody>
          <a:bodyPr wrap="square" anchor="t" lIns="45720" rIns="45720">
            <a:spAutoFit/>
          </a:bodyPr>
          <a:lstStyle/>
          <a:p>
            <a:pPr algn="l">
              <a:spcAft>
                <a:spcPts val="0"/>
              </a:spcAft>
            </a:pPr>
            <a:r>
              <a:rPr sz="1600" b="0" i="0">
                <a:solidFill>
                  <a:srgbClr val="5F6B7A"/>
                </a:solidFill>
                <a:latin typeface="Calibri"/>
              </a:rPr>
              <a:t>100 x 100 image: 7 spheres, a checkerboard floor, 2 lights</a:t>
            </a:r>
          </a:p>
        </p:txBody>
      </p:sp>
      <p:sp>
        <p:nvSpPr>
          <p:cNvPr id="6" name="Oval 5"/>
          <p:cNvSpPr/>
          <p:nvPr/>
        </p:nvSpPr>
        <p:spPr>
          <a:xfrm>
            <a:off x="640080" y="3749039"/>
            <a:ext cx="365760" cy="365760"/>
          </a:xfrm>
          <a:prstGeom prst="ellipse">
            <a:avLst/>
          </a:prstGeom>
          <a:solidFill>
            <a:srgbClr val="15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4206240"/>
            <a:ext cx="1097280" cy="274320"/>
          </a:xfrm>
          <a:prstGeom prst="rect">
            <a:avLst/>
          </a:prstGeom>
          <a:noFill/>
        </p:spPr>
        <p:txBody>
          <a:bodyPr wrap="square" anchor="t" lIns="45720" rIns="45720">
            <a:spAutoFit/>
          </a:bodyPr>
          <a:lstStyle/>
          <a:p>
            <a:pPr algn="ctr">
              <a:spcAft>
                <a:spcPts val="600"/>
              </a:spcAft>
            </a:pPr>
            <a:r>
              <a:rPr sz="1200" b="0" i="0">
                <a:solidFill>
                  <a:srgbClr val="5F6B7A"/>
                </a:solidFill>
                <a:latin typeface="Calibri"/>
              </a:rPr>
              <a:t>camera</a:t>
            </a:r>
          </a:p>
        </p:txBody>
      </p:sp>
      <p:sp>
        <p:nvSpPr>
          <p:cNvPr id="8" name="Oval 7"/>
          <p:cNvSpPr/>
          <p:nvPr/>
        </p:nvSpPr>
        <p:spPr>
          <a:xfrm>
            <a:off x="3017520" y="2651760"/>
            <a:ext cx="1280160" cy="128016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17520" y="3977639"/>
            <a:ext cx="1280160" cy="274320"/>
          </a:xfrm>
          <a:prstGeom prst="rect">
            <a:avLst/>
          </a:prstGeom>
          <a:noFill/>
        </p:spPr>
        <p:txBody>
          <a:bodyPr wrap="square" anchor="t" lIns="45720" rIns="45720">
            <a:spAutoFit/>
          </a:bodyPr>
          <a:lstStyle/>
          <a:p>
            <a:pPr algn="ctr">
              <a:spcAft>
                <a:spcPts val="600"/>
              </a:spcAft>
            </a:pPr>
            <a:r>
              <a:rPr sz="1200" b="0" i="0">
                <a:solidFill>
                  <a:srgbClr val="5F6B7A"/>
                </a:solidFill>
                <a:latin typeface="Calibri"/>
              </a:rPr>
              <a:t>sphere</a:t>
            </a:r>
          </a:p>
        </p:txBody>
      </p:sp>
      <p:cxnSp>
        <p:nvCxnSpPr>
          <p:cNvPr id="10" name="Connector 9"/>
          <p:cNvCxnSpPr/>
          <p:nvPr/>
        </p:nvCxnSpPr>
        <p:spPr>
          <a:xfrm>
            <a:off x="640080" y="5394960"/>
            <a:ext cx="5029200" cy="0"/>
          </a:xfrm>
          <a:prstGeom prst="line">
            <a:avLst/>
          </a:prstGeom>
          <a:ln w="38100">
            <a:solidFill>
              <a:srgbClr val="15202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206240" y="5440680"/>
            <a:ext cx="1463040" cy="274320"/>
          </a:xfrm>
          <a:prstGeom prst="rect">
            <a:avLst/>
          </a:prstGeom>
          <a:noFill/>
        </p:spPr>
        <p:txBody>
          <a:bodyPr wrap="square" anchor="t" lIns="45720" rIns="45720">
            <a:spAutoFit/>
          </a:bodyPr>
          <a:lstStyle/>
          <a:p>
            <a:pPr algn="l">
              <a:spcAft>
                <a:spcPts val="600"/>
              </a:spcAft>
            </a:pPr>
            <a:r>
              <a:rPr sz="1200" b="0" i="0">
                <a:solidFill>
                  <a:srgbClr val="5F6B7A"/>
                </a:solidFill>
                <a:latin typeface="Calibri"/>
              </a:rPr>
              <a:t>floor</a:t>
            </a:r>
          </a:p>
        </p:txBody>
      </p:sp>
      <p:cxnSp>
        <p:nvCxnSpPr>
          <p:cNvPr id="12" name="Connector 11"/>
          <p:cNvCxnSpPr/>
          <p:nvPr/>
        </p:nvCxnSpPr>
        <p:spPr>
          <a:xfrm flipV="1">
            <a:off x="1005840" y="3611880"/>
            <a:ext cx="2075688" cy="274320"/>
          </a:xfrm>
          <a:prstGeom prst="line">
            <a:avLst/>
          </a:prstGeom>
          <a:ln w="28575">
            <a:solidFill>
              <a:srgbClr val="1C9A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2011680" y="3611880"/>
            <a:ext cx="1069848" cy="1783080"/>
          </a:xfrm>
          <a:prstGeom prst="line">
            <a:avLst/>
          </a:prstGeom>
          <a:ln w="19050">
            <a:solidFill>
              <a:srgbClr val="15202E"/>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4965192" y="1673352"/>
            <a:ext cx="310896" cy="310896"/>
          </a:xfrm>
          <a:prstGeom prst="ellipse">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flipV="1">
            <a:off x="3081528" y="1828800"/>
            <a:ext cx="2039112" cy="1783080"/>
          </a:xfrm>
          <a:prstGeom prst="line">
            <a:avLst/>
          </a:prstGeom>
          <a:ln w="19050">
            <a:solidFill>
              <a:srgbClr val="E0A43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581912" y="1490472"/>
            <a:ext cx="310896" cy="310896"/>
          </a:xfrm>
          <a:prstGeom prst="ellipse">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H="1" flipV="1">
            <a:off x="1737360" y="1645920"/>
            <a:ext cx="1344168" cy="1965960"/>
          </a:xfrm>
          <a:prstGeom prst="line">
            <a:avLst/>
          </a:prstGeom>
          <a:ln w="19050">
            <a:solidFill>
              <a:srgbClr val="E0A43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148840" y="1417320"/>
            <a:ext cx="2743200" cy="274320"/>
          </a:xfrm>
          <a:prstGeom prst="rect">
            <a:avLst/>
          </a:prstGeom>
          <a:noFill/>
        </p:spPr>
        <p:txBody>
          <a:bodyPr wrap="square" anchor="t" lIns="45720" rIns="45720">
            <a:spAutoFit/>
          </a:bodyPr>
          <a:lstStyle/>
          <a:p>
            <a:pPr algn="l">
              <a:spcAft>
                <a:spcPts val="600"/>
              </a:spcAft>
            </a:pPr>
            <a:r>
              <a:rPr sz="1200" b="0" i="0">
                <a:solidFill>
                  <a:srgbClr val="B07A1E"/>
                </a:solidFill>
                <a:latin typeface="Calibri"/>
              </a:rPr>
              <a:t>shadow rays to each light</a:t>
            </a:r>
          </a:p>
        </p:txBody>
      </p:sp>
      <p:sp>
        <p:nvSpPr>
          <p:cNvPr id="19" name="TextBox 18"/>
          <p:cNvSpPr txBox="1"/>
          <p:nvPr/>
        </p:nvSpPr>
        <p:spPr>
          <a:xfrm>
            <a:off x="2514600" y="4754880"/>
            <a:ext cx="2194560" cy="274320"/>
          </a:xfrm>
          <a:prstGeom prst="rect">
            <a:avLst/>
          </a:prstGeom>
          <a:noFill/>
        </p:spPr>
        <p:txBody>
          <a:bodyPr wrap="square" anchor="t" lIns="45720" rIns="45720">
            <a:spAutoFit/>
          </a:bodyPr>
          <a:lstStyle/>
          <a:p>
            <a:pPr algn="l">
              <a:spcAft>
                <a:spcPts val="600"/>
              </a:spcAft>
            </a:pPr>
            <a:r>
              <a:rPr sz="1200" b="0" i="0">
                <a:solidFill>
                  <a:srgbClr val="1E2A38"/>
                </a:solidFill>
                <a:latin typeface="Calibri"/>
              </a:rPr>
              <a:t>reflection (recursive)</a:t>
            </a:r>
          </a:p>
        </p:txBody>
      </p:sp>
      <p:sp>
        <p:nvSpPr>
          <p:cNvPr id="20" name="TextBox 19"/>
          <p:cNvSpPr txBox="1"/>
          <p:nvPr/>
        </p:nvSpPr>
        <p:spPr>
          <a:xfrm>
            <a:off x="1097280" y="3931920"/>
            <a:ext cx="1828800" cy="274320"/>
          </a:xfrm>
          <a:prstGeom prst="rect">
            <a:avLst/>
          </a:prstGeom>
          <a:noFill/>
        </p:spPr>
        <p:txBody>
          <a:bodyPr wrap="square" anchor="t" lIns="45720" rIns="45720">
            <a:spAutoFit/>
          </a:bodyPr>
          <a:lstStyle/>
          <a:p>
            <a:pPr algn="l">
              <a:spcAft>
                <a:spcPts val="600"/>
              </a:spcAft>
            </a:pPr>
            <a:r>
              <a:rPr sz="1200" b="0" i="0">
                <a:solidFill>
                  <a:srgbClr val="1C9A86"/>
                </a:solidFill>
                <a:latin typeface="Calibri"/>
              </a:rPr>
              <a:t>camera ray</a:t>
            </a:r>
          </a:p>
        </p:txBody>
      </p:sp>
      <p:sp>
        <p:nvSpPr>
          <p:cNvPr id="21" name="TextBox 20"/>
          <p:cNvSpPr txBox="1"/>
          <p:nvPr/>
        </p:nvSpPr>
        <p:spPr>
          <a:xfrm>
            <a:off x="6309360" y="1645920"/>
            <a:ext cx="5303520" cy="4754880"/>
          </a:xfrm>
          <a:prstGeom prst="rect">
            <a:avLst/>
          </a:prstGeom>
          <a:noFill/>
        </p:spPr>
        <p:txBody>
          <a:bodyPr wrap="square" anchor="t" lIns="45720" rIns="45720">
            <a:spAutoFit/>
          </a:bodyPr>
          <a:lstStyle/>
          <a:p>
            <a:pPr algn="l" marL="228600" indent="-228600">
              <a:spcAft>
                <a:spcPts val="1200"/>
              </a:spcAft>
              <a:buChar char="•"/>
            </a:pPr>
            <a:r>
              <a:rPr sz="1700" b="1" i="0">
                <a:solidFill>
                  <a:srgbClr val="1E2A38"/>
                </a:solidFill>
                <a:latin typeface="Calibri"/>
              </a:rPr>
              <a:t>Per pixel: </a:t>
            </a:r>
            <a:r>
              <a:rPr sz="1700" b="0" i="0">
                <a:solidFill>
                  <a:srgbClr val="1E2A38"/>
                </a:solidFill>
                <a:latin typeface="Calibri"/>
              </a:rPr>
              <a:t>closest hit -&gt; colour = reflection + diffuse + ambient</a:t>
            </a:r>
          </a:p>
          <a:p>
            <a:pPr algn="l" marL="228600" indent="-228600">
              <a:spcAft>
                <a:spcPts val="1200"/>
              </a:spcAft>
              <a:buChar char="•"/>
            </a:pPr>
            <a:r>
              <a:rPr sz="1700" b="0" i="0">
                <a:solidFill>
                  <a:srgbClr val="1E2A38"/>
                </a:solidFill>
                <a:latin typeface="Calibri"/>
              </a:rPr>
              <a:t>reflection: rayColour calls itself again (up to 4 levels deep)</a:t>
            </a:r>
          </a:p>
          <a:p>
            <a:pPr algn="l" marL="228600" indent="-228600">
              <a:spcAft>
                <a:spcPts val="1200"/>
              </a:spcAft>
              <a:buChar char="•"/>
            </a:pPr>
            <a:r>
              <a:rPr sz="1700" b="0" i="0">
                <a:solidFill>
                  <a:srgbClr val="1E2A38"/>
                </a:solidFill>
                <a:latin typeface="Calibri"/>
              </a:rPr>
              <a:t>diffuse: one shadow ray per light, tested against every object</a:t>
            </a:r>
          </a:p>
          <a:p>
            <a:pPr algn="l" marL="228600" indent="-228600">
              <a:spcAft>
                <a:spcPts val="1200"/>
              </a:spcAft>
              <a:buChar char="•"/>
            </a:pPr>
            <a:r>
              <a:rPr sz="1700" b="1" i="0">
                <a:solidFill>
                  <a:srgbClr val="1E2A38"/>
                </a:solidFill>
                <a:latin typeface="Calibri"/>
              </a:rPr>
              <a:t>Data: </a:t>
            </a:r>
            <a:r>
              <a:rPr sz="1700" b="0" i="0">
                <a:solidFill>
                  <a:srgbClr val="1E2A38"/>
                </a:solidFill>
                <a:latin typeface="Calibri"/>
              </a:rPr>
              <a:t>Vector and Point classes (x, y, z) with tiny methods: dot, scale, __sub__, plus no-op type checks (mustBeVector, isPoint)</a:t>
            </a:r>
          </a:p>
          <a:p>
            <a:pPr algn="l" marL="228600" indent="-228600">
              <a:spcAft>
                <a:spcPts val="1200"/>
              </a:spcAft>
              <a:buChar char="•"/>
            </a:pPr>
            <a:r>
              <a:rPr sz="1700" b="0" i="0">
                <a:solidFill>
                  <a:srgbClr val="1E2A38"/>
                </a:solidFill>
                <a:latin typeface="Calibri"/>
              </a:rPr>
              <a:t>almost every arithmetic step creates a new Vector object</a:t>
            </a:r>
          </a:p>
          <a:p>
            <a:pPr algn="l" marL="228600" indent="-228600">
              <a:spcAft>
                <a:spcPts val="1200"/>
              </a:spcAft>
              <a:buChar char="•"/>
            </a:pPr>
            <a:r>
              <a:rPr sz="1700" b="1" i="0">
                <a:solidFill>
                  <a:srgbClr val="1E2A38"/>
                </a:solidFill>
                <a:latin typeface="Calibri"/>
              </a:rPr>
              <a:t>Libraries: </a:t>
            </a:r>
            <a:r>
              <a:rPr sz="1700" b="0" i="0">
                <a:solidFill>
                  <a:srgbClr val="1E2A38"/>
                </a:solidFill>
                <a:latin typeface="Calibri"/>
              </a:rPr>
              <a:t>math, array (pixel buffer), pyperf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11480"/>
            <a:ext cx="502920" cy="50292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502920" cy="502920"/>
          </a:xfrm>
          <a:prstGeom prst="rect">
            <a:avLst/>
          </a:prstGeom>
          <a:noFill/>
        </p:spPr>
        <p:txBody>
          <a:bodyPr wrap="square" anchor="ctr" lIns="0" rIns="0" tIns="0" bIns="0">
            <a:spAutoFit/>
          </a:bodyPr>
          <a:lstStyle/>
          <a:p>
            <a:pPr algn="ctr">
              <a:spcAft>
                <a:spcPts val="0"/>
              </a:spcAft>
            </a:pPr>
            <a:r>
              <a:rPr sz="1600" b="1" i="0">
                <a:solidFill>
                  <a:srgbClr val="FFFFFF"/>
                </a:solidFill>
                <a:latin typeface="Calibri"/>
              </a:rPr>
              <a:t>3</a:t>
            </a:r>
          </a:p>
        </p:txBody>
      </p:sp>
      <p:sp>
        <p:nvSpPr>
          <p:cNvPr id="4" name="TextBox 3"/>
          <p:cNvSpPr txBox="1"/>
          <p:nvPr/>
        </p:nvSpPr>
        <p:spPr>
          <a:xfrm>
            <a:off x="1234440" y="320040"/>
            <a:ext cx="10408615" cy="731520"/>
          </a:xfrm>
          <a:prstGeom prst="rect">
            <a:avLst/>
          </a:prstGeom>
          <a:noFill/>
        </p:spPr>
        <p:txBody>
          <a:bodyPr wrap="square" anchor="ctr" lIns="45720" rIns="45720">
            <a:spAutoFit/>
          </a:bodyPr>
          <a:lstStyle/>
          <a:p>
            <a:pPr algn="l">
              <a:spcAft>
                <a:spcPts val="0"/>
              </a:spcAft>
            </a:pPr>
            <a:r>
              <a:rPr sz="3200" b="1" i="0">
                <a:solidFill>
                  <a:srgbClr val="1E2A38"/>
                </a:solidFill>
                <a:latin typeface="Cambria"/>
              </a:rPr>
              <a:t>Our profiling toolbox</a:t>
            </a:r>
          </a:p>
        </p:txBody>
      </p:sp>
      <p:sp>
        <p:nvSpPr>
          <p:cNvPr id="5" name="TextBox 4"/>
          <p:cNvSpPr txBox="1"/>
          <p:nvPr/>
        </p:nvSpPr>
        <p:spPr>
          <a:xfrm>
            <a:off x="1234440" y="1005840"/>
            <a:ext cx="10408615" cy="411480"/>
          </a:xfrm>
          <a:prstGeom prst="rect">
            <a:avLst/>
          </a:prstGeom>
          <a:noFill/>
        </p:spPr>
        <p:txBody>
          <a:bodyPr wrap="square" anchor="t" lIns="45720" rIns="45720">
            <a:spAutoFit/>
          </a:bodyPr>
          <a:lstStyle/>
          <a:p>
            <a:pPr algn="l">
              <a:spcAft>
                <a:spcPts val="0"/>
              </a:spcAft>
            </a:pPr>
            <a:r>
              <a:rPr sz="1600" b="0" i="0">
                <a:solidFill>
                  <a:srgbClr val="5F6B7A"/>
                </a:solidFill>
                <a:latin typeface="Calibri"/>
              </a:rPr>
              <a:t>Flame graphs show WHERE the time goes; counters and the code show WHY</a:t>
            </a:r>
          </a:p>
        </p:txBody>
      </p:sp>
      <p:sp>
        <p:nvSpPr>
          <p:cNvPr id="6" name="Rounded Rectangle 5"/>
          <p:cNvSpPr/>
          <p:nvPr/>
        </p:nvSpPr>
        <p:spPr>
          <a:xfrm>
            <a:off x="640080" y="1691640"/>
            <a:ext cx="5303520" cy="182880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1965960"/>
            <a:ext cx="457200" cy="457200"/>
          </a:xfrm>
          <a:prstGeom prst="ellipse">
            <a:avLst/>
          </a:prstGeom>
          <a:solidFill>
            <a:srgbClr val="15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65960"/>
            <a:ext cx="457200" cy="457200"/>
          </a:xfrm>
          <a:prstGeom prst="rect">
            <a:avLst/>
          </a:prstGeom>
          <a:noFill/>
        </p:spPr>
        <p:txBody>
          <a:bodyPr wrap="square" anchor="ctr" lIns="0" rIns="0" tIns="0" bIns="0">
            <a:spAutoFit/>
          </a:bodyPr>
          <a:lstStyle/>
          <a:p>
            <a:pPr algn="ctr">
              <a:spcAft>
                <a:spcPts val="0"/>
              </a:spcAft>
            </a:pPr>
            <a:r>
              <a:rPr sz="1400" b="1" i="0">
                <a:solidFill>
                  <a:srgbClr val="FFFFFF"/>
                </a:solidFill>
                <a:latin typeface="Calibri"/>
              </a:rPr>
              <a:t>1</a:t>
            </a:r>
          </a:p>
        </p:txBody>
      </p:sp>
      <p:sp>
        <p:nvSpPr>
          <p:cNvPr id="9" name="TextBox 8"/>
          <p:cNvSpPr txBox="1"/>
          <p:nvPr/>
        </p:nvSpPr>
        <p:spPr>
          <a:xfrm>
            <a:off x="1508760" y="1874520"/>
            <a:ext cx="4297680" cy="411480"/>
          </a:xfrm>
          <a:prstGeom prst="rect">
            <a:avLst/>
          </a:prstGeom>
          <a:noFill/>
        </p:spPr>
        <p:txBody>
          <a:bodyPr wrap="square" anchor="t" lIns="45720" rIns="45720">
            <a:spAutoFit/>
          </a:bodyPr>
          <a:lstStyle/>
          <a:p>
            <a:pPr algn="l">
              <a:spcAft>
                <a:spcPts val="0"/>
              </a:spcAft>
            </a:pPr>
            <a:r>
              <a:rPr sz="1800" b="1" i="0">
                <a:solidFill>
                  <a:srgbClr val="1E2A38"/>
                </a:solidFill>
                <a:latin typeface="Cambria"/>
              </a:rPr>
              <a:t>perf report</a:t>
            </a:r>
          </a:p>
        </p:txBody>
      </p:sp>
      <p:sp>
        <p:nvSpPr>
          <p:cNvPr id="10" name="TextBox 9"/>
          <p:cNvSpPr txBox="1"/>
          <p:nvPr/>
        </p:nvSpPr>
        <p:spPr>
          <a:xfrm>
            <a:off x="1508760" y="2286000"/>
            <a:ext cx="4297680" cy="365760"/>
          </a:xfrm>
          <a:prstGeom prst="rect">
            <a:avLst/>
          </a:prstGeom>
          <a:noFill/>
        </p:spPr>
        <p:txBody>
          <a:bodyPr wrap="square" anchor="t" lIns="45720" rIns="45720">
            <a:spAutoFit/>
          </a:bodyPr>
          <a:lstStyle/>
          <a:p>
            <a:pPr algn="l">
              <a:spcAft>
                <a:spcPts val="0"/>
              </a:spcAft>
            </a:pPr>
            <a:r>
              <a:rPr sz="1300" b="0" i="0">
                <a:solidFill>
                  <a:srgbClr val="D9822B"/>
                </a:solidFill>
                <a:latin typeface="Calibri"/>
              </a:rPr>
              <a:t>project guide command, python3-dbg</a:t>
            </a:r>
          </a:p>
        </p:txBody>
      </p:sp>
      <p:sp>
        <p:nvSpPr>
          <p:cNvPr id="11" name="TextBox 10"/>
          <p:cNvSpPr txBox="1"/>
          <p:nvPr/>
        </p:nvSpPr>
        <p:spPr>
          <a:xfrm>
            <a:off x="1508760" y="2651760"/>
            <a:ext cx="4297680" cy="822960"/>
          </a:xfrm>
          <a:prstGeom prst="rect">
            <a:avLst/>
          </a:prstGeom>
          <a:noFill/>
        </p:spPr>
        <p:txBody>
          <a:bodyPr wrap="square" anchor="t" lIns="45720" rIns="45720">
            <a:spAutoFit/>
          </a:bodyPr>
          <a:lstStyle/>
          <a:p>
            <a:pPr algn="l">
              <a:spcAft>
                <a:spcPts val="0"/>
              </a:spcAft>
            </a:pPr>
            <a:r>
              <a:rPr sz="1400" b="0" i="0">
                <a:solidFill>
                  <a:srgbClr val="1E2A38"/>
                </a:solidFill>
                <a:latin typeface="Calibri"/>
              </a:rPr>
              <a:t>Which CPython C functions run: dispatch, list access, dict lookups, calls</a:t>
            </a:r>
          </a:p>
        </p:txBody>
      </p:sp>
      <p:sp>
        <p:nvSpPr>
          <p:cNvPr id="12" name="Rounded Rectangle 11"/>
          <p:cNvSpPr/>
          <p:nvPr/>
        </p:nvSpPr>
        <p:spPr>
          <a:xfrm>
            <a:off x="6217920" y="1691640"/>
            <a:ext cx="5303520" cy="182880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1965960"/>
            <a:ext cx="457200" cy="45720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965960"/>
            <a:ext cx="457200" cy="457200"/>
          </a:xfrm>
          <a:prstGeom prst="rect">
            <a:avLst/>
          </a:prstGeom>
          <a:noFill/>
        </p:spPr>
        <p:txBody>
          <a:bodyPr wrap="square" anchor="ctr" lIns="0" rIns="0" tIns="0" bIns="0">
            <a:spAutoFit/>
          </a:bodyPr>
          <a:lstStyle/>
          <a:p>
            <a:pPr algn="ctr">
              <a:spcAft>
                <a:spcPts val="0"/>
              </a:spcAft>
            </a:pPr>
            <a:r>
              <a:rPr sz="1400" b="1" i="0">
                <a:solidFill>
                  <a:srgbClr val="FFFFFF"/>
                </a:solidFill>
                <a:latin typeface="Calibri"/>
              </a:rPr>
              <a:t>2</a:t>
            </a:r>
          </a:p>
        </p:txBody>
      </p:sp>
      <p:sp>
        <p:nvSpPr>
          <p:cNvPr id="15" name="TextBox 14"/>
          <p:cNvSpPr txBox="1"/>
          <p:nvPr/>
        </p:nvSpPr>
        <p:spPr>
          <a:xfrm>
            <a:off x="7086600" y="1874520"/>
            <a:ext cx="4297680" cy="411480"/>
          </a:xfrm>
          <a:prstGeom prst="rect">
            <a:avLst/>
          </a:prstGeom>
          <a:noFill/>
        </p:spPr>
        <p:txBody>
          <a:bodyPr wrap="square" anchor="t" lIns="45720" rIns="45720">
            <a:spAutoFit/>
          </a:bodyPr>
          <a:lstStyle/>
          <a:p>
            <a:pPr algn="l">
              <a:spcAft>
                <a:spcPts val="0"/>
              </a:spcAft>
            </a:pPr>
            <a:r>
              <a:rPr sz="1800" b="1" i="0">
                <a:solidFill>
                  <a:srgbClr val="1E2A38"/>
                </a:solidFill>
                <a:latin typeface="Cambria"/>
              </a:rPr>
              <a:t>Flame graph (pyperformance)</a:t>
            </a:r>
          </a:p>
        </p:txBody>
      </p:sp>
      <p:sp>
        <p:nvSpPr>
          <p:cNvPr id="16" name="TextBox 15"/>
          <p:cNvSpPr txBox="1"/>
          <p:nvPr/>
        </p:nvSpPr>
        <p:spPr>
          <a:xfrm>
            <a:off x="7086600" y="2286000"/>
            <a:ext cx="4297680" cy="365760"/>
          </a:xfrm>
          <a:prstGeom prst="rect">
            <a:avLst/>
          </a:prstGeom>
          <a:noFill/>
        </p:spPr>
        <p:txBody>
          <a:bodyPr wrap="square" anchor="t" lIns="45720" rIns="45720">
            <a:spAutoFit/>
          </a:bodyPr>
          <a:lstStyle/>
          <a:p>
            <a:pPr algn="l">
              <a:spcAft>
                <a:spcPts val="0"/>
              </a:spcAft>
            </a:pPr>
            <a:r>
              <a:rPr sz="1300" b="0" i="0">
                <a:solidFill>
                  <a:srgbClr val="D9822B"/>
                </a:solidFill>
                <a:latin typeface="Calibri"/>
              </a:rPr>
              <a:t>pyperformance --hook perf_record</a:t>
            </a:r>
          </a:p>
        </p:txBody>
      </p:sp>
      <p:sp>
        <p:nvSpPr>
          <p:cNvPr id="17" name="TextBox 16"/>
          <p:cNvSpPr txBox="1"/>
          <p:nvPr/>
        </p:nvSpPr>
        <p:spPr>
          <a:xfrm>
            <a:off x="7086600" y="2651760"/>
            <a:ext cx="4297680" cy="822960"/>
          </a:xfrm>
          <a:prstGeom prst="rect">
            <a:avLst/>
          </a:prstGeom>
          <a:noFill/>
        </p:spPr>
        <p:txBody>
          <a:bodyPr wrap="square" anchor="t" lIns="45720" rIns="45720">
            <a:spAutoFit/>
          </a:bodyPr>
          <a:lstStyle/>
          <a:p>
            <a:pPr algn="l">
              <a:spcAft>
                <a:spcPts val="0"/>
              </a:spcAft>
            </a:pPr>
            <a:r>
              <a:rPr sz="1400" b="0" i="0">
                <a:solidFill>
                  <a:srgbClr val="1E2A38"/>
                </a:solidFill>
                <a:latin typeface="Calibri"/>
              </a:rPr>
              <a:t>The same, as a picture; only the timed benchmark code is recorded</a:t>
            </a:r>
          </a:p>
        </p:txBody>
      </p:sp>
      <p:sp>
        <p:nvSpPr>
          <p:cNvPr id="18" name="Rounded Rectangle 17"/>
          <p:cNvSpPr/>
          <p:nvPr/>
        </p:nvSpPr>
        <p:spPr>
          <a:xfrm>
            <a:off x="640080" y="3749039"/>
            <a:ext cx="5303520" cy="182880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680" y="4023359"/>
            <a:ext cx="457200" cy="45720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023359"/>
            <a:ext cx="457200" cy="457200"/>
          </a:xfrm>
          <a:prstGeom prst="rect">
            <a:avLst/>
          </a:prstGeom>
          <a:noFill/>
        </p:spPr>
        <p:txBody>
          <a:bodyPr wrap="square" anchor="ctr" lIns="0" rIns="0" tIns="0" bIns="0">
            <a:spAutoFit/>
          </a:bodyPr>
          <a:lstStyle/>
          <a:p>
            <a:pPr algn="ctr">
              <a:spcAft>
                <a:spcPts val="0"/>
              </a:spcAft>
            </a:pPr>
            <a:r>
              <a:rPr sz="1400" b="1" i="0">
                <a:solidFill>
                  <a:srgbClr val="FFFFFF"/>
                </a:solidFill>
                <a:latin typeface="Calibri"/>
              </a:rPr>
              <a:t>3</a:t>
            </a:r>
          </a:p>
        </p:txBody>
      </p:sp>
      <p:sp>
        <p:nvSpPr>
          <p:cNvPr id="21" name="TextBox 20"/>
          <p:cNvSpPr txBox="1"/>
          <p:nvPr/>
        </p:nvSpPr>
        <p:spPr>
          <a:xfrm>
            <a:off x="1508760" y="3931920"/>
            <a:ext cx="4297680" cy="411480"/>
          </a:xfrm>
          <a:prstGeom prst="rect">
            <a:avLst/>
          </a:prstGeom>
          <a:noFill/>
        </p:spPr>
        <p:txBody>
          <a:bodyPr wrap="square" anchor="t" lIns="45720" rIns="45720">
            <a:spAutoFit/>
          </a:bodyPr>
          <a:lstStyle/>
          <a:p>
            <a:pPr algn="l">
              <a:spcAft>
                <a:spcPts val="0"/>
              </a:spcAft>
            </a:pPr>
            <a:r>
              <a:rPr sz="1800" b="1" i="0">
                <a:solidFill>
                  <a:srgbClr val="1E2A38"/>
                </a:solidFill>
                <a:latin typeface="Cambria"/>
              </a:rPr>
              <a:t>Flame graph (py-spy)</a:t>
            </a:r>
          </a:p>
        </p:txBody>
      </p:sp>
      <p:sp>
        <p:nvSpPr>
          <p:cNvPr id="22" name="TextBox 21"/>
          <p:cNvSpPr txBox="1"/>
          <p:nvPr/>
        </p:nvSpPr>
        <p:spPr>
          <a:xfrm>
            <a:off x="1508760" y="4343400"/>
            <a:ext cx="4297680" cy="365760"/>
          </a:xfrm>
          <a:prstGeom prst="rect">
            <a:avLst/>
          </a:prstGeom>
          <a:noFill/>
        </p:spPr>
        <p:txBody>
          <a:bodyPr wrap="square" anchor="t" lIns="45720" rIns="45720">
            <a:spAutoFit/>
          </a:bodyPr>
          <a:lstStyle/>
          <a:p>
            <a:pPr algn="l">
              <a:spcAft>
                <a:spcPts val="0"/>
              </a:spcAft>
            </a:pPr>
            <a:r>
              <a:rPr sz="1300" b="0" i="0">
                <a:solidFill>
                  <a:srgbClr val="D9822B"/>
                </a:solidFill>
                <a:latin typeface="Calibri"/>
              </a:rPr>
              <a:t>samples Python's own frames</a:t>
            </a:r>
          </a:p>
        </p:txBody>
      </p:sp>
      <p:sp>
        <p:nvSpPr>
          <p:cNvPr id="23" name="TextBox 22"/>
          <p:cNvSpPr txBox="1"/>
          <p:nvPr/>
        </p:nvSpPr>
        <p:spPr>
          <a:xfrm>
            <a:off x="1508760" y="4709159"/>
            <a:ext cx="4297680" cy="822960"/>
          </a:xfrm>
          <a:prstGeom prst="rect">
            <a:avLst/>
          </a:prstGeom>
          <a:noFill/>
        </p:spPr>
        <p:txBody>
          <a:bodyPr wrap="square" anchor="t" lIns="45720" rIns="45720">
            <a:spAutoFit/>
          </a:bodyPr>
          <a:lstStyle/>
          <a:p>
            <a:pPr algn="l">
              <a:spcAft>
                <a:spcPts val="0"/>
              </a:spcAft>
            </a:pPr>
            <a:r>
              <a:rPr sz="1400" b="0" i="0">
                <a:solidFill>
                  <a:srgbClr val="1E2A38"/>
                </a:solidFill>
                <a:latin typeface="Calibri"/>
              </a:rPr>
              <a:t>Python function names and source lines, with the call tree</a:t>
            </a:r>
          </a:p>
        </p:txBody>
      </p:sp>
      <p:sp>
        <p:nvSpPr>
          <p:cNvPr id="24" name="Rounded Rectangle 23"/>
          <p:cNvSpPr/>
          <p:nvPr/>
        </p:nvSpPr>
        <p:spPr>
          <a:xfrm>
            <a:off x="6217920" y="3749039"/>
            <a:ext cx="5303520" cy="182880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46520" y="4023359"/>
            <a:ext cx="457200" cy="457200"/>
          </a:xfrm>
          <a:prstGeom prst="ellipse">
            <a:avLst/>
          </a:prstGeom>
          <a:solidFill>
            <a:srgbClr val="15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4023359"/>
            <a:ext cx="457200" cy="457200"/>
          </a:xfrm>
          <a:prstGeom prst="rect">
            <a:avLst/>
          </a:prstGeom>
          <a:noFill/>
        </p:spPr>
        <p:txBody>
          <a:bodyPr wrap="square" anchor="ctr" lIns="0" rIns="0" tIns="0" bIns="0">
            <a:spAutoFit/>
          </a:bodyPr>
          <a:lstStyle/>
          <a:p>
            <a:pPr algn="ctr">
              <a:spcAft>
                <a:spcPts val="0"/>
              </a:spcAft>
            </a:pPr>
            <a:r>
              <a:rPr sz="1400" b="1" i="0">
                <a:solidFill>
                  <a:srgbClr val="FFFFFF"/>
                </a:solidFill>
                <a:latin typeface="Calibri"/>
              </a:rPr>
              <a:t>4</a:t>
            </a:r>
          </a:p>
        </p:txBody>
      </p:sp>
      <p:sp>
        <p:nvSpPr>
          <p:cNvPr id="27" name="TextBox 26"/>
          <p:cNvSpPr txBox="1"/>
          <p:nvPr/>
        </p:nvSpPr>
        <p:spPr>
          <a:xfrm>
            <a:off x="7086600" y="3931920"/>
            <a:ext cx="4297680" cy="411480"/>
          </a:xfrm>
          <a:prstGeom prst="rect">
            <a:avLst/>
          </a:prstGeom>
          <a:noFill/>
        </p:spPr>
        <p:txBody>
          <a:bodyPr wrap="square" anchor="t" lIns="45720" rIns="45720">
            <a:spAutoFit/>
          </a:bodyPr>
          <a:lstStyle/>
          <a:p>
            <a:pPr algn="l">
              <a:spcAft>
                <a:spcPts val="0"/>
              </a:spcAft>
            </a:pPr>
            <a:r>
              <a:rPr sz="1800" b="1" i="0">
                <a:solidFill>
                  <a:srgbClr val="1E2A38"/>
                </a:solidFill>
                <a:latin typeface="Cambria"/>
              </a:rPr>
              <a:t>perf stat</a:t>
            </a:r>
          </a:p>
        </p:txBody>
      </p:sp>
      <p:sp>
        <p:nvSpPr>
          <p:cNvPr id="28" name="TextBox 27"/>
          <p:cNvSpPr txBox="1"/>
          <p:nvPr/>
        </p:nvSpPr>
        <p:spPr>
          <a:xfrm>
            <a:off x="7086600" y="4343400"/>
            <a:ext cx="4297680" cy="365760"/>
          </a:xfrm>
          <a:prstGeom prst="rect">
            <a:avLst/>
          </a:prstGeom>
          <a:noFill/>
        </p:spPr>
        <p:txBody>
          <a:bodyPr wrap="square" anchor="t" lIns="45720" rIns="45720">
            <a:spAutoFit/>
          </a:bodyPr>
          <a:lstStyle/>
          <a:p>
            <a:pPr algn="l">
              <a:spcAft>
                <a:spcPts val="0"/>
              </a:spcAft>
            </a:pPr>
            <a:r>
              <a:rPr sz="1300" b="0" i="0">
                <a:solidFill>
                  <a:srgbClr val="D9822B"/>
                </a:solidFill>
                <a:latin typeface="Calibri"/>
              </a:rPr>
              <a:t>hardware counters, fixed work</a:t>
            </a:r>
          </a:p>
        </p:txBody>
      </p:sp>
      <p:sp>
        <p:nvSpPr>
          <p:cNvPr id="29" name="TextBox 28"/>
          <p:cNvSpPr txBox="1"/>
          <p:nvPr/>
        </p:nvSpPr>
        <p:spPr>
          <a:xfrm>
            <a:off x="7086600" y="4709159"/>
            <a:ext cx="4297680" cy="822960"/>
          </a:xfrm>
          <a:prstGeom prst="rect">
            <a:avLst/>
          </a:prstGeom>
          <a:noFill/>
        </p:spPr>
        <p:txBody>
          <a:bodyPr wrap="square" anchor="t" lIns="45720" rIns="45720">
            <a:spAutoFit/>
          </a:bodyPr>
          <a:lstStyle/>
          <a:p>
            <a:pPr algn="l">
              <a:spcAft>
                <a:spcPts val="0"/>
              </a:spcAft>
            </a:pPr>
            <a:r>
              <a:rPr sz="1400" b="0" i="0">
                <a:solidFill>
                  <a:srgbClr val="1E2A38"/>
                </a:solidFill>
                <a:latin typeface="Calibri"/>
              </a:rPr>
              <a:t>Instructions, IPC, cache misses, branch misses: memory or compute?</a:t>
            </a:r>
          </a:p>
        </p:txBody>
      </p:sp>
      <p:sp>
        <p:nvSpPr>
          <p:cNvPr id="30" name="TextBox 29"/>
          <p:cNvSpPr txBox="1"/>
          <p:nvPr/>
        </p:nvSpPr>
        <p:spPr>
          <a:xfrm>
            <a:off x="640080" y="5852160"/>
            <a:ext cx="10972800" cy="548640"/>
          </a:xfrm>
          <a:prstGeom prst="rect">
            <a:avLst/>
          </a:prstGeom>
          <a:noFill/>
        </p:spPr>
        <p:txBody>
          <a:bodyPr wrap="square" anchor="t" lIns="45720" rIns="45720">
            <a:spAutoFit/>
          </a:bodyPr>
          <a:lstStyle/>
          <a:p>
            <a:pPr algn="l">
              <a:spcAft>
                <a:spcPts val="600"/>
              </a:spcAft>
            </a:pPr>
            <a:r>
              <a:rPr sz="1300" b="0" i="0">
                <a:solidFill>
                  <a:srgbClr val="5F6B7A"/>
                </a:solidFill>
                <a:latin typeface="Calibri"/>
              </a:rPr>
              <a:t>Plus cProfile for call counts, and small timeit/dis experiments to confirm a suspect before changing code.  Python 3.10 has no frame pointers, so perf cannot name Python functions: that is why we added py-spy.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11480"/>
            <a:ext cx="502920" cy="50292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502920" cy="502920"/>
          </a:xfrm>
          <a:prstGeom prst="rect">
            <a:avLst/>
          </a:prstGeom>
          <a:noFill/>
        </p:spPr>
        <p:txBody>
          <a:bodyPr wrap="square" anchor="ctr" lIns="0" rIns="0" tIns="0" bIns="0">
            <a:spAutoFit/>
          </a:bodyPr>
          <a:lstStyle/>
          <a:p>
            <a:pPr algn="ctr">
              <a:spcAft>
                <a:spcPts val="0"/>
              </a:spcAft>
            </a:pPr>
            <a:r>
              <a:rPr sz="1600" b="1" i="0">
                <a:solidFill>
                  <a:srgbClr val="FFFFFF"/>
                </a:solidFill>
                <a:latin typeface="Calibri"/>
              </a:rPr>
              <a:t>3</a:t>
            </a:r>
          </a:p>
        </p:txBody>
      </p:sp>
      <p:sp>
        <p:nvSpPr>
          <p:cNvPr id="4" name="TextBox 3"/>
          <p:cNvSpPr txBox="1"/>
          <p:nvPr/>
        </p:nvSpPr>
        <p:spPr>
          <a:xfrm>
            <a:off x="1234440" y="320040"/>
            <a:ext cx="10408615" cy="731520"/>
          </a:xfrm>
          <a:prstGeom prst="rect">
            <a:avLst/>
          </a:prstGeom>
          <a:noFill/>
        </p:spPr>
        <p:txBody>
          <a:bodyPr wrap="square" anchor="ctr" lIns="45720" rIns="45720">
            <a:spAutoFit/>
          </a:bodyPr>
          <a:lstStyle/>
          <a:p>
            <a:pPr algn="l">
              <a:spcAft>
                <a:spcPts val="0"/>
              </a:spcAft>
            </a:pPr>
            <a:r>
              <a:rPr sz="3200" b="1" i="0">
                <a:solidFill>
                  <a:srgbClr val="1E2A38"/>
                </a:solidFill>
                <a:latin typeface="Cambria"/>
              </a:rPr>
              <a:t>nbody: where the time goes</a:t>
            </a:r>
          </a:p>
        </p:txBody>
      </p:sp>
      <p:sp>
        <p:nvSpPr>
          <p:cNvPr id="5" name="TextBox 4"/>
          <p:cNvSpPr txBox="1"/>
          <p:nvPr/>
        </p:nvSpPr>
        <p:spPr>
          <a:xfrm>
            <a:off x="1234440" y="1005840"/>
            <a:ext cx="10408615" cy="411480"/>
          </a:xfrm>
          <a:prstGeom prst="rect">
            <a:avLst/>
          </a:prstGeom>
          <a:noFill/>
        </p:spPr>
        <p:txBody>
          <a:bodyPr wrap="square" anchor="t" lIns="45720" rIns="45720">
            <a:spAutoFit/>
          </a:bodyPr>
          <a:lstStyle/>
          <a:p>
            <a:pPr algn="l">
              <a:spcAft>
                <a:spcPts val="0"/>
              </a:spcAft>
            </a:pPr>
            <a:r>
              <a:rPr sz="1600" b="0" i="0">
                <a:solidFill>
                  <a:srgbClr val="5F6B7A"/>
                </a:solidFill>
                <a:latin typeface="Calibri"/>
              </a:rPr>
              <a:t>The math is cheap. The interpreter around it is not.</a:t>
            </a:r>
          </a:p>
        </p:txBody>
      </p:sp>
      <p:graphicFrame>
        <p:nvGraphicFramePr>
          <p:cNvPr id="6" name="Chart 5"/>
          <p:cNvGraphicFramePr>
            <a:graphicFrameLocks noGrp="1"/>
          </p:cNvGraphicFramePr>
          <p:nvPr/>
        </p:nvGraphicFramePr>
        <p:xfrm>
          <a:off x="457200" y="1600200"/>
          <a:ext cx="5852160" cy="4023360"/>
        </p:xfrm>
        <a:graphic>
          <a:graphicData uri="http://schemas.openxmlformats.org/drawingml/2006/chart">
            <c:chart xmlns:c="http://schemas.openxmlformats.org/drawingml/2006/chart" r:id="rId2"/>
          </a:graphicData>
        </a:graphic>
      </p:graphicFrame>
      <p:sp>
        <p:nvSpPr>
          <p:cNvPr id="7" name="TextBox 6"/>
          <p:cNvSpPr txBox="1"/>
          <p:nvPr/>
        </p:nvSpPr>
        <p:spPr>
          <a:xfrm>
            <a:off x="640080" y="5669280"/>
            <a:ext cx="5669280" cy="640080"/>
          </a:xfrm>
          <a:prstGeom prst="rect">
            <a:avLst/>
          </a:prstGeom>
          <a:noFill/>
        </p:spPr>
        <p:txBody>
          <a:bodyPr wrap="square" anchor="t" lIns="45720" rIns="45720">
            <a:spAutoFit/>
          </a:bodyPr>
          <a:lstStyle/>
          <a:p>
            <a:pPr algn="l">
              <a:spcAft>
                <a:spcPts val="600"/>
              </a:spcAft>
            </a:pPr>
            <a:r>
              <a:rPr sz="1200" b="0" i="0">
                <a:solidFill>
                  <a:srgbClr val="5F6B7A"/>
                </a:solidFill>
                <a:latin typeface="Calibri"/>
              </a:rPr>
              <a:t>C-level flame graph (pyperformance), self time. Counters: IPC 2.94, cache misses 4.3%, branch misses 0.37%: not memory, not branches.</a:t>
            </a:r>
          </a:p>
        </p:txBody>
      </p:sp>
      <p:sp>
        <p:nvSpPr>
          <p:cNvPr id="8" name="Rounded Rectangle 7"/>
          <p:cNvSpPr/>
          <p:nvPr/>
        </p:nvSpPr>
        <p:spPr>
          <a:xfrm>
            <a:off x="6675120" y="1645920"/>
            <a:ext cx="4937760" cy="448056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03720" y="1783080"/>
            <a:ext cx="4572000" cy="365760"/>
          </a:xfrm>
          <a:prstGeom prst="rect">
            <a:avLst/>
          </a:prstGeom>
          <a:noFill/>
        </p:spPr>
        <p:txBody>
          <a:bodyPr wrap="square" anchor="t" lIns="45720" rIns="45720">
            <a:spAutoFit/>
          </a:bodyPr>
          <a:lstStyle/>
          <a:p>
            <a:pPr algn="l">
              <a:spcAft>
                <a:spcPts val="600"/>
              </a:spcAft>
            </a:pPr>
            <a:r>
              <a:rPr sz="1600" b="1" i="0">
                <a:solidFill>
                  <a:srgbClr val="1E2A38"/>
                </a:solidFill>
                <a:latin typeface="Calibri"/>
              </a:rPr>
              <a:t>py-spy: hottest lines of advance()</a:t>
            </a:r>
          </a:p>
        </p:txBody>
      </p:sp>
      <p:sp>
        <p:nvSpPr>
          <p:cNvPr id="10" name="TextBox 9"/>
          <p:cNvSpPr txBox="1"/>
          <p:nvPr/>
        </p:nvSpPr>
        <p:spPr>
          <a:xfrm>
            <a:off x="6903720" y="2331720"/>
            <a:ext cx="1280160" cy="548640"/>
          </a:xfrm>
          <a:prstGeom prst="rect">
            <a:avLst/>
          </a:prstGeom>
          <a:noFill/>
        </p:spPr>
        <p:txBody>
          <a:bodyPr wrap="square" anchor="t" lIns="45720" rIns="45720">
            <a:spAutoFit/>
          </a:bodyPr>
          <a:lstStyle/>
          <a:p>
            <a:pPr algn="l">
              <a:spcAft>
                <a:spcPts val="0"/>
              </a:spcAft>
            </a:pPr>
            <a:r>
              <a:rPr sz="2600" b="1" i="0">
                <a:solidFill>
                  <a:srgbClr val="D9822B"/>
                </a:solidFill>
                <a:latin typeface="Cambria"/>
              </a:rPr>
              <a:t>48.3%</a:t>
            </a:r>
          </a:p>
        </p:txBody>
      </p:sp>
      <p:sp>
        <p:nvSpPr>
          <p:cNvPr id="11" name="TextBox 10"/>
          <p:cNvSpPr txBox="1"/>
          <p:nvPr/>
        </p:nvSpPr>
        <p:spPr>
          <a:xfrm>
            <a:off x="8229600" y="2404872"/>
            <a:ext cx="3291840" cy="731520"/>
          </a:xfrm>
          <a:prstGeom prst="rect">
            <a:avLst/>
          </a:prstGeom>
          <a:noFill/>
        </p:spPr>
        <p:txBody>
          <a:bodyPr wrap="square" anchor="t" lIns="45720" rIns="45720">
            <a:spAutoFit/>
          </a:bodyPr>
          <a:lstStyle/>
          <a:p>
            <a:pPr algn="l">
              <a:spcAft>
                <a:spcPts val="0"/>
              </a:spcAft>
            </a:pPr>
            <a:r>
              <a:rPr sz="1300" b="0" i="0">
                <a:solidFill>
                  <a:srgbClr val="1E2A38"/>
                </a:solidFill>
                <a:latin typeface="Courier New"/>
              </a:rPr>
              <a:t>v1[0] -= dx*b2m ... v2[2] += dz*b1m</a:t>
            </a:r>
          </a:p>
        </p:txBody>
      </p:sp>
      <p:sp>
        <p:nvSpPr>
          <p:cNvPr id="12" name="TextBox 11"/>
          <p:cNvSpPr txBox="1"/>
          <p:nvPr/>
        </p:nvSpPr>
        <p:spPr>
          <a:xfrm>
            <a:off x="6903720" y="3200400"/>
            <a:ext cx="1280160" cy="548640"/>
          </a:xfrm>
          <a:prstGeom prst="rect">
            <a:avLst/>
          </a:prstGeom>
          <a:noFill/>
        </p:spPr>
        <p:txBody>
          <a:bodyPr wrap="square" anchor="t" lIns="45720" rIns="45720">
            <a:spAutoFit/>
          </a:bodyPr>
          <a:lstStyle/>
          <a:p>
            <a:pPr algn="l">
              <a:spcAft>
                <a:spcPts val="0"/>
              </a:spcAft>
            </a:pPr>
            <a:r>
              <a:rPr sz="2600" b="1" i="0">
                <a:solidFill>
                  <a:srgbClr val="1E2A38"/>
                </a:solidFill>
                <a:latin typeface="Cambria"/>
              </a:rPr>
              <a:t>18.3%</a:t>
            </a:r>
          </a:p>
        </p:txBody>
      </p:sp>
      <p:sp>
        <p:nvSpPr>
          <p:cNvPr id="13" name="TextBox 12"/>
          <p:cNvSpPr txBox="1"/>
          <p:nvPr/>
        </p:nvSpPr>
        <p:spPr>
          <a:xfrm>
            <a:off x="8229600" y="3273552"/>
            <a:ext cx="3291840" cy="731520"/>
          </a:xfrm>
          <a:prstGeom prst="rect">
            <a:avLst/>
          </a:prstGeom>
          <a:noFill/>
        </p:spPr>
        <p:txBody>
          <a:bodyPr wrap="square" anchor="t" lIns="45720" rIns="45720">
            <a:spAutoFit/>
          </a:bodyPr>
          <a:lstStyle/>
          <a:p>
            <a:pPr algn="l">
              <a:spcAft>
                <a:spcPts val="0"/>
              </a:spcAft>
            </a:pPr>
            <a:r>
              <a:rPr sz="1300" b="0" i="0">
                <a:solidFill>
                  <a:srgbClr val="1E2A38"/>
                </a:solidFill>
                <a:latin typeface="Courier New"/>
              </a:rPr>
              <a:t>mag = dt * (d2) ** (-1.5)</a:t>
            </a:r>
          </a:p>
        </p:txBody>
      </p:sp>
      <p:sp>
        <p:nvSpPr>
          <p:cNvPr id="14" name="TextBox 13"/>
          <p:cNvSpPr txBox="1"/>
          <p:nvPr/>
        </p:nvSpPr>
        <p:spPr>
          <a:xfrm>
            <a:off x="6903720" y="4069079"/>
            <a:ext cx="1280160" cy="548640"/>
          </a:xfrm>
          <a:prstGeom prst="rect">
            <a:avLst/>
          </a:prstGeom>
          <a:noFill/>
        </p:spPr>
        <p:txBody>
          <a:bodyPr wrap="square" anchor="t" lIns="45720" rIns="45720">
            <a:spAutoFit/>
          </a:bodyPr>
          <a:lstStyle/>
          <a:p>
            <a:pPr algn="l">
              <a:spcAft>
                <a:spcPts val="0"/>
              </a:spcAft>
            </a:pPr>
            <a:r>
              <a:rPr sz="2600" b="1" i="0">
                <a:solidFill>
                  <a:srgbClr val="D9822B"/>
                </a:solidFill>
                <a:latin typeface="Cambria"/>
              </a:rPr>
              <a:t>10.6%</a:t>
            </a:r>
          </a:p>
        </p:txBody>
      </p:sp>
      <p:sp>
        <p:nvSpPr>
          <p:cNvPr id="15" name="TextBox 14"/>
          <p:cNvSpPr txBox="1"/>
          <p:nvPr/>
        </p:nvSpPr>
        <p:spPr>
          <a:xfrm>
            <a:off x="8229600" y="4142231"/>
            <a:ext cx="3291840" cy="731520"/>
          </a:xfrm>
          <a:prstGeom prst="rect">
            <a:avLst/>
          </a:prstGeom>
          <a:noFill/>
        </p:spPr>
        <p:txBody>
          <a:bodyPr wrap="square" anchor="t" lIns="45720" rIns="45720">
            <a:spAutoFit/>
          </a:bodyPr>
          <a:lstStyle/>
          <a:p>
            <a:pPr algn="l">
              <a:spcAft>
                <a:spcPts val="0"/>
              </a:spcAft>
            </a:pPr>
            <a:r>
              <a:rPr sz="1300" b="0" i="0">
                <a:solidFill>
                  <a:srgbClr val="1E2A38"/>
                </a:solidFill>
                <a:latin typeface="Courier New"/>
              </a:rPr>
              <a:t>r[0] += dt * vx  ...</a:t>
            </a:r>
          </a:p>
        </p:txBody>
      </p:sp>
      <p:sp>
        <p:nvSpPr>
          <p:cNvPr id="16" name="TextBox 15"/>
          <p:cNvSpPr txBox="1"/>
          <p:nvPr/>
        </p:nvSpPr>
        <p:spPr>
          <a:xfrm>
            <a:off x="6903720" y="4937759"/>
            <a:ext cx="1280160" cy="548640"/>
          </a:xfrm>
          <a:prstGeom prst="rect">
            <a:avLst/>
          </a:prstGeom>
          <a:noFill/>
        </p:spPr>
        <p:txBody>
          <a:bodyPr wrap="square" anchor="t" lIns="45720" rIns="45720">
            <a:spAutoFit/>
          </a:bodyPr>
          <a:lstStyle/>
          <a:p>
            <a:pPr algn="l">
              <a:spcAft>
                <a:spcPts val="0"/>
              </a:spcAft>
            </a:pPr>
            <a:r>
              <a:rPr sz="2600" b="1" i="0">
                <a:solidFill>
                  <a:srgbClr val="1E2A38"/>
                </a:solidFill>
                <a:latin typeface="Cambria"/>
              </a:rPr>
              <a:t>8.4%</a:t>
            </a:r>
          </a:p>
        </p:txBody>
      </p:sp>
      <p:sp>
        <p:nvSpPr>
          <p:cNvPr id="17" name="TextBox 16"/>
          <p:cNvSpPr txBox="1"/>
          <p:nvPr/>
        </p:nvSpPr>
        <p:spPr>
          <a:xfrm>
            <a:off x="8229600" y="5010912"/>
            <a:ext cx="3291840" cy="731520"/>
          </a:xfrm>
          <a:prstGeom prst="rect">
            <a:avLst/>
          </a:prstGeom>
          <a:noFill/>
        </p:spPr>
        <p:txBody>
          <a:bodyPr wrap="square" anchor="t" lIns="45720" rIns="45720">
            <a:spAutoFit/>
          </a:bodyPr>
          <a:lstStyle/>
          <a:p>
            <a:pPr algn="l">
              <a:spcAft>
                <a:spcPts val="0"/>
              </a:spcAft>
            </a:pPr>
            <a:r>
              <a:rPr sz="1300" b="0" i="0">
                <a:solidFill>
                  <a:srgbClr val="1E2A38"/>
                </a:solidFill>
                <a:latin typeface="Courier New"/>
              </a:rPr>
              <a:t>for ((x1,y1,z1),v1,m1), ... in pairs</a:t>
            </a:r>
          </a:p>
        </p:txBody>
      </p:sp>
      <p:sp>
        <p:nvSpPr>
          <p:cNvPr id="18" name="TextBox 17"/>
          <p:cNvSpPr txBox="1"/>
          <p:nvPr/>
        </p:nvSpPr>
        <p:spPr>
          <a:xfrm>
            <a:off x="6903720" y="5760720"/>
            <a:ext cx="4572000" cy="365760"/>
          </a:xfrm>
          <a:prstGeom prst="rect">
            <a:avLst/>
          </a:prstGeom>
          <a:noFill/>
        </p:spPr>
        <p:txBody>
          <a:bodyPr wrap="square" anchor="t" lIns="45720" rIns="45720">
            <a:spAutoFit/>
          </a:bodyPr>
          <a:lstStyle/>
          <a:p>
            <a:pPr algn="l">
              <a:spcAft>
                <a:spcPts val="600"/>
              </a:spcAft>
            </a:pPr>
            <a:r>
              <a:rPr sz="1300" b="1" i="0">
                <a:solidFill>
                  <a:srgbClr val="D9822B"/>
                </a:solidFill>
                <a:latin typeface="Calibri"/>
              </a:rPr>
              <a:t>list read/write lines: ~59% of the run 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11480"/>
            <a:ext cx="502920" cy="50292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502920" cy="502920"/>
          </a:xfrm>
          <a:prstGeom prst="rect">
            <a:avLst/>
          </a:prstGeom>
          <a:noFill/>
        </p:spPr>
        <p:txBody>
          <a:bodyPr wrap="square" anchor="ctr" lIns="0" rIns="0" tIns="0" bIns="0">
            <a:spAutoFit/>
          </a:bodyPr>
          <a:lstStyle/>
          <a:p>
            <a:pPr algn="ctr">
              <a:spcAft>
                <a:spcPts val="0"/>
              </a:spcAft>
            </a:pPr>
            <a:r>
              <a:rPr sz="1600" b="1" i="0">
                <a:solidFill>
                  <a:srgbClr val="FFFFFF"/>
                </a:solidFill>
                <a:latin typeface="Calibri"/>
              </a:rPr>
              <a:t>3</a:t>
            </a:r>
          </a:p>
        </p:txBody>
      </p:sp>
      <p:sp>
        <p:nvSpPr>
          <p:cNvPr id="4" name="TextBox 3"/>
          <p:cNvSpPr txBox="1"/>
          <p:nvPr/>
        </p:nvSpPr>
        <p:spPr>
          <a:xfrm>
            <a:off x="1234440" y="320040"/>
            <a:ext cx="10408615" cy="731520"/>
          </a:xfrm>
          <a:prstGeom prst="rect">
            <a:avLst/>
          </a:prstGeom>
          <a:noFill/>
        </p:spPr>
        <p:txBody>
          <a:bodyPr wrap="square" anchor="ctr" lIns="45720" rIns="45720">
            <a:spAutoFit/>
          </a:bodyPr>
          <a:lstStyle/>
          <a:p>
            <a:pPr algn="l">
              <a:spcAft>
                <a:spcPts val="0"/>
              </a:spcAft>
            </a:pPr>
            <a:r>
              <a:rPr sz="3200" b="1" i="0">
                <a:solidFill>
                  <a:srgbClr val="1E2A38"/>
                </a:solidFill>
                <a:latin typeface="Cambria"/>
              </a:rPr>
              <a:t>Why v[0] -= x is expensive</a:t>
            </a:r>
          </a:p>
        </p:txBody>
      </p:sp>
      <p:sp>
        <p:nvSpPr>
          <p:cNvPr id="5" name="TextBox 4"/>
          <p:cNvSpPr txBox="1"/>
          <p:nvPr/>
        </p:nvSpPr>
        <p:spPr>
          <a:xfrm>
            <a:off x="1234440" y="1005840"/>
            <a:ext cx="10408615" cy="411480"/>
          </a:xfrm>
          <a:prstGeom prst="rect">
            <a:avLst/>
          </a:prstGeom>
          <a:noFill/>
        </p:spPr>
        <p:txBody>
          <a:bodyPr wrap="square" anchor="t" lIns="45720" rIns="45720">
            <a:spAutoFit/>
          </a:bodyPr>
          <a:lstStyle/>
          <a:p>
            <a:pPr algn="l">
              <a:spcAft>
                <a:spcPts val="0"/>
              </a:spcAft>
            </a:pPr>
            <a:r>
              <a:rPr sz="1600" b="0" i="0">
                <a:solidFill>
                  <a:srgbClr val="5F6B7A"/>
                </a:solidFill>
                <a:latin typeface="Calibri"/>
              </a:rPr>
              <a:t>Checked with dis and timeit before changing any code</a:t>
            </a:r>
          </a:p>
        </p:txBody>
      </p:sp>
      <p:sp>
        <p:nvSpPr>
          <p:cNvPr id="6" name="Rounded Rectangle 5"/>
          <p:cNvSpPr/>
          <p:nvPr/>
        </p:nvSpPr>
        <p:spPr>
          <a:xfrm>
            <a:off x="640080" y="1691640"/>
            <a:ext cx="5120640" cy="2194560"/>
          </a:xfrm>
          <a:prstGeom prst="roundRect">
            <a:avLst>
              <a:gd name="adj" fmla="val 4000"/>
            </a:avLst>
          </a:prstGeom>
          <a:solidFill>
            <a:srgbClr val="1B2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19" y="1764792"/>
            <a:ext cx="4937759" cy="2048255"/>
          </a:xfrm>
          <a:prstGeom prst="rect">
            <a:avLst/>
          </a:prstGeom>
          <a:noFill/>
        </p:spPr>
        <p:txBody>
          <a:bodyPr wrap="square" anchor="t" lIns="45720" rIns="45720">
            <a:spAutoFit/>
          </a:bodyPr>
          <a:lstStyle/>
          <a:p>
            <a:pPr algn="l">
              <a:spcAft>
                <a:spcPts val="0"/>
              </a:spcAft>
            </a:pPr>
            <a:r>
              <a:rPr sz="1400" b="0" i="0">
                <a:solidFill>
                  <a:srgbClr val="E6EDF3"/>
                </a:solidFill>
                <a:latin typeface="Courier New"/>
              </a:rPr>
              <a:t># local variable: x</a:t>
            </a:r>
          </a:p>
          <a:p>
            <a:pPr algn="l">
              <a:spcAft>
                <a:spcPts val="0"/>
              </a:spcAft>
            </a:pPr>
            <a:r>
              <a:rPr sz="1400" b="0" i="0">
                <a:solidFill>
                  <a:srgbClr val="E6EDF3"/>
                </a:solidFill>
                <a:latin typeface="Courier New"/>
              </a:rPr>
              <a:t>LOAD_FAST   x</a:t>
            </a:r>
          </a:p>
          <a:p>
            <a:pPr algn="l">
              <a:spcAft>
                <a:spcPts val="0"/>
              </a:spcAft>
            </a:pPr>
            <a:r>
              <a:rPr sz="1400" b="0" i="0">
                <a:solidFill>
                  <a:srgbClr val="E6EDF3"/>
                </a:solidFill>
                <a:latin typeface="Courier New"/>
              </a:rPr>
              <a:t/>
            </a:r>
          </a:p>
          <a:p>
            <a:pPr algn="l">
              <a:spcAft>
                <a:spcPts val="0"/>
              </a:spcAft>
            </a:pPr>
            <a:r>
              <a:rPr sz="1400" b="0" i="0">
                <a:solidFill>
                  <a:srgbClr val="E6EDF3"/>
                </a:solidFill>
                <a:latin typeface="Courier New"/>
              </a:rPr>
              <a:t># list element: v[0]</a:t>
            </a:r>
          </a:p>
          <a:p>
            <a:pPr algn="l">
              <a:spcAft>
                <a:spcPts val="0"/>
              </a:spcAft>
            </a:pPr>
            <a:r>
              <a:rPr sz="1400" b="0" i="0">
                <a:solidFill>
                  <a:srgbClr val="E6EDF3"/>
                </a:solidFill>
                <a:latin typeface="Courier New"/>
              </a:rPr>
              <a:t>LOAD_FAST   v</a:t>
            </a:r>
          </a:p>
          <a:p>
            <a:pPr algn="l">
              <a:spcAft>
                <a:spcPts val="0"/>
              </a:spcAft>
            </a:pPr>
            <a:r>
              <a:rPr sz="1400" b="0" i="0">
                <a:solidFill>
                  <a:srgbClr val="E6EDF3"/>
                </a:solidFill>
                <a:latin typeface="Courier New"/>
              </a:rPr>
              <a:t>LOAD_CONST  0</a:t>
            </a:r>
          </a:p>
          <a:p>
            <a:pPr algn="l">
              <a:spcAft>
                <a:spcPts val="0"/>
              </a:spcAft>
            </a:pPr>
            <a:r>
              <a:rPr sz="1400" b="0" i="0">
                <a:solidFill>
                  <a:srgbClr val="E6EDF3"/>
                </a:solidFill>
                <a:latin typeface="Courier New"/>
              </a:rPr>
              <a:t>BINARY_SUBSCR     # type check, index check</a:t>
            </a:r>
          </a:p>
        </p:txBody>
      </p:sp>
      <p:sp>
        <p:nvSpPr>
          <p:cNvPr id="8" name="TextBox 7"/>
          <p:cNvSpPr txBox="1"/>
          <p:nvPr/>
        </p:nvSpPr>
        <p:spPr>
          <a:xfrm>
            <a:off x="640080" y="4069080"/>
            <a:ext cx="5120640" cy="2011680"/>
          </a:xfrm>
          <a:prstGeom prst="rect">
            <a:avLst/>
          </a:prstGeom>
          <a:noFill/>
        </p:spPr>
        <p:txBody>
          <a:bodyPr wrap="square" anchor="t" lIns="45720" rIns="45720">
            <a:spAutoFit/>
          </a:bodyPr>
          <a:lstStyle/>
          <a:p>
            <a:pPr algn="l">
              <a:spcAft>
                <a:spcPts val="600"/>
              </a:spcAft>
            </a:pPr>
            <a:r>
              <a:rPr sz="1500" b="0" i="0">
                <a:solidFill>
                  <a:srgbClr val="1E2A38"/>
                </a:solidFill>
                <a:latin typeface="Calibri"/>
              </a:rPr>
              <a:t>A list element costs extra bytecodes and C calls (type check, index conversion, fetch). nbody does 75 list reads and 75 list writes per step, 20000 steps per call.</a:t>
            </a:r>
          </a:p>
        </p:txBody>
      </p:sp>
      <p:graphicFrame>
        <p:nvGraphicFramePr>
          <p:cNvPr id="9" name="Chart 8"/>
          <p:cNvGraphicFramePr>
            <a:graphicFrameLocks noGrp="1"/>
          </p:cNvGraphicFramePr>
          <p:nvPr/>
        </p:nvGraphicFramePr>
        <p:xfrm>
          <a:off x="6217920" y="1600200"/>
          <a:ext cx="5486400" cy="4206240"/>
        </p:xfrm>
        <a:graphic>
          <a:graphicData uri="http://schemas.openxmlformats.org/drawingml/2006/chart">
            <c:chart xmlns:c="http://schemas.openxmlformats.org/drawingml/2006/chart" r:id="rId2"/>
          </a:graphicData>
        </a:graphic>
      </p:graphicFrame>
      <p:sp>
        <p:nvSpPr>
          <p:cNvPr id="10" name="TextBox 9"/>
          <p:cNvSpPr txBox="1"/>
          <p:nvPr/>
        </p:nvSpPr>
        <p:spPr>
          <a:xfrm>
            <a:off x="6309360" y="5852160"/>
            <a:ext cx="5303520" cy="457200"/>
          </a:xfrm>
          <a:prstGeom prst="rect">
            <a:avLst/>
          </a:prstGeom>
          <a:noFill/>
        </p:spPr>
        <p:txBody>
          <a:bodyPr wrap="square" anchor="t" lIns="45720" rIns="45720">
            <a:spAutoFit/>
          </a:bodyPr>
          <a:lstStyle/>
          <a:p>
            <a:pPr algn="l">
              <a:spcAft>
                <a:spcPts val="600"/>
              </a:spcAft>
            </a:pPr>
            <a:r>
              <a:rPr sz="1200" b="0" i="0">
                <a:solidFill>
                  <a:srgbClr val="5F6B7A"/>
                </a:solidFill>
                <a:latin typeface="Calibri"/>
              </a:rPr>
              <a:t>timeit on the VM, nanoseconds per operation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11480"/>
            <a:ext cx="502920" cy="50292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502920" cy="502920"/>
          </a:xfrm>
          <a:prstGeom prst="rect">
            <a:avLst/>
          </a:prstGeom>
          <a:noFill/>
        </p:spPr>
        <p:txBody>
          <a:bodyPr wrap="square" anchor="ctr" lIns="0" rIns="0" tIns="0" bIns="0">
            <a:spAutoFit/>
          </a:bodyPr>
          <a:lstStyle/>
          <a:p>
            <a:pPr algn="ctr">
              <a:spcAft>
                <a:spcPts val="0"/>
              </a:spcAft>
            </a:pPr>
            <a:r>
              <a:rPr sz="1600" b="1" i="0">
                <a:solidFill>
                  <a:srgbClr val="FFFFFF"/>
                </a:solidFill>
                <a:latin typeface="Calibri"/>
              </a:rPr>
              <a:t>4</a:t>
            </a:r>
          </a:p>
        </p:txBody>
      </p:sp>
      <p:sp>
        <p:nvSpPr>
          <p:cNvPr id="4" name="TextBox 3"/>
          <p:cNvSpPr txBox="1"/>
          <p:nvPr/>
        </p:nvSpPr>
        <p:spPr>
          <a:xfrm>
            <a:off x="1234440" y="320040"/>
            <a:ext cx="10408615" cy="731520"/>
          </a:xfrm>
          <a:prstGeom prst="rect">
            <a:avLst/>
          </a:prstGeom>
          <a:noFill/>
        </p:spPr>
        <p:txBody>
          <a:bodyPr wrap="square" anchor="ctr" lIns="45720" rIns="45720">
            <a:spAutoFit/>
          </a:bodyPr>
          <a:lstStyle/>
          <a:p>
            <a:pPr algn="l">
              <a:spcAft>
                <a:spcPts val="0"/>
              </a:spcAft>
            </a:pPr>
            <a:r>
              <a:rPr sz="3200" b="1" i="0">
                <a:solidFill>
                  <a:srgbClr val="1E2A38"/>
                </a:solidFill>
                <a:latin typeface="Cambria"/>
              </a:rPr>
              <a:t>nbody fix: keep the state in local variables</a:t>
            </a:r>
          </a:p>
        </p:txBody>
      </p:sp>
      <p:sp>
        <p:nvSpPr>
          <p:cNvPr id="5" name="TextBox 4"/>
          <p:cNvSpPr txBox="1"/>
          <p:nvPr/>
        </p:nvSpPr>
        <p:spPr>
          <a:xfrm>
            <a:off x="1234440" y="1005840"/>
            <a:ext cx="10408615" cy="411480"/>
          </a:xfrm>
          <a:prstGeom prst="rect">
            <a:avLst/>
          </a:prstGeom>
          <a:noFill/>
        </p:spPr>
        <p:txBody>
          <a:bodyPr wrap="square" anchor="t" lIns="45720" rIns="45720">
            <a:spAutoFit/>
          </a:bodyPr>
          <a:lstStyle/>
          <a:p>
            <a:pPr algn="l">
              <a:spcAft>
                <a:spcPts val="0"/>
              </a:spcAft>
            </a:pPr>
            <a:r>
              <a:rPr sz="1600" b="0" i="0">
                <a:solidFill>
                  <a:srgbClr val="5F6B7A"/>
                </a:solidFill>
                <a:latin typeface="Calibri"/>
              </a:rPr>
              <a:t>Copy once at the start of advance(), compute on locals, write back once at the end</a:t>
            </a:r>
          </a:p>
        </p:txBody>
      </p:sp>
      <p:sp>
        <p:nvSpPr>
          <p:cNvPr id="6" name="Rounded Rectangle 5"/>
          <p:cNvSpPr/>
          <p:nvPr/>
        </p:nvSpPr>
        <p:spPr>
          <a:xfrm>
            <a:off x="640080" y="1691640"/>
            <a:ext cx="5760720" cy="2651760"/>
          </a:xfrm>
          <a:prstGeom prst="roundRect">
            <a:avLst>
              <a:gd name="adj" fmla="val 4000"/>
            </a:avLst>
          </a:prstGeom>
          <a:solidFill>
            <a:srgbClr val="1B2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19" y="1764792"/>
            <a:ext cx="5577840" cy="2505456"/>
          </a:xfrm>
          <a:prstGeom prst="rect">
            <a:avLst/>
          </a:prstGeom>
          <a:noFill/>
        </p:spPr>
        <p:txBody>
          <a:bodyPr wrap="square" anchor="t" lIns="45720" rIns="45720">
            <a:spAutoFit/>
          </a:bodyPr>
          <a:lstStyle/>
          <a:p>
            <a:pPr algn="l">
              <a:spcAft>
                <a:spcPts val="0"/>
              </a:spcAft>
            </a:pPr>
            <a:r>
              <a:rPr sz="1300" b="0" i="0">
                <a:solidFill>
                  <a:srgbClr val="E6EDF3"/>
                </a:solidFill>
                <a:latin typeface="Courier New"/>
              </a:rPr>
              <a:t>(r0, v0, m0), ... (r4, v4, m4) = bodies</a:t>
            </a:r>
          </a:p>
          <a:p>
            <a:pPr algn="l">
              <a:spcAft>
                <a:spcPts val="0"/>
              </a:spcAft>
            </a:pPr>
            <a:r>
              <a:rPr sz="1300" b="0" i="0">
                <a:solidFill>
                  <a:srgbClr val="E6EDF3"/>
                </a:solidFill>
                <a:latin typeface="Courier New"/>
              </a:rPr>
              <a:t>x0, y0, z0 = r0;  vx0, vy0, vz0 = v0   # ...</a:t>
            </a:r>
          </a:p>
          <a:p>
            <a:pPr algn="l">
              <a:spcAft>
                <a:spcPts val="0"/>
              </a:spcAft>
            </a:pPr>
            <a:r>
              <a:rPr sz="1300" b="0" i="0">
                <a:solidFill>
                  <a:srgbClr val="E6EDF3"/>
                </a:solidFill>
                <a:latin typeface="Courier New"/>
              </a:rPr>
              <a:t>for _ in range(n):</a:t>
            </a:r>
          </a:p>
          <a:p>
            <a:pPr algn="l">
              <a:spcAft>
                <a:spcPts val="0"/>
              </a:spcAft>
            </a:pPr>
            <a:r>
              <a:rPr sz="1300" b="0" i="0">
                <a:solidFill>
                  <a:srgbClr val="E6EDF3"/>
                </a:solidFill>
                <a:latin typeface="Courier New"/>
              </a:rPr>
              <a:t>    # pair (0, 1)</a:t>
            </a:r>
          </a:p>
          <a:p>
            <a:pPr algn="l">
              <a:spcAft>
                <a:spcPts val="0"/>
              </a:spcAft>
            </a:pPr>
            <a:r>
              <a:rPr sz="1300" b="0" i="0">
                <a:solidFill>
                  <a:srgbClr val="E6EDF3"/>
                </a:solidFill>
                <a:latin typeface="Courier New"/>
              </a:rPr>
              <a:t>    dx = x0 - x1; dy = y0 - y1; dz = z0 - z1</a:t>
            </a:r>
          </a:p>
          <a:p>
            <a:pPr algn="l">
              <a:spcAft>
                <a:spcPts val="0"/>
              </a:spcAft>
            </a:pPr>
            <a:r>
              <a:rPr sz="1300" b="0" i="0">
                <a:solidFill>
                  <a:srgbClr val="E6EDF3"/>
                </a:solidFill>
                <a:latin typeface="Courier New"/>
              </a:rPr>
              <a:t>    mag = dt * ((dx*dx+dy*dy+dz*dz)**(-1.5))</a:t>
            </a:r>
          </a:p>
          <a:p>
            <a:pPr algn="l">
              <a:spcAft>
                <a:spcPts val="0"/>
              </a:spcAft>
            </a:pPr>
            <a:r>
              <a:rPr sz="1300" b="0" i="0">
                <a:solidFill>
                  <a:srgbClr val="E6EDF3"/>
                </a:solidFill>
                <a:latin typeface="Courier New"/>
              </a:rPr>
              <a:t>    vx0 -= dx * (m1*mag)   # locals only</a:t>
            </a:r>
          </a:p>
          <a:p>
            <a:pPr algn="l">
              <a:spcAft>
                <a:spcPts val="0"/>
              </a:spcAft>
            </a:pPr>
            <a:r>
              <a:rPr sz="1300" b="0" i="0">
                <a:solidFill>
                  <a:srgbClr val="E6EDF3"/>
                </a:solidFill>
                <a:latin typeface="Courier New"/>
              </a:rPr>
              <a:t>    # ... 9 more pairs, then positions</a:t>
            </a:r>
          </a:p>
          <a:p>
            <a:pPr algn="l">
              <a:spcAft>
                <a:spcPts val="0"/>
              </a:spcAft>
            </a:pPr>
            <a:r>
              <a:rPr sz="1300" b="0" i="0">
                <a:solidFill>
                  <a:srgbClr val="E6EDF3"/>
                </a:solidFill>
                <a:latin typeface="Courier New"/>
              </a:rPr>
              <a:t>r0[0] = x0; v0[0] = vx0   # write back once</a:t>
            </a:r>
          </a:p>
        </p:txBody>
      </p:sp>
      <p:sp>
        <p:nvSpPr>
          <p:cNvPr id="8" name="TextBox 7"/>
          <p:cNvSpPr txBox="1"/>
          <p:nvPr/>
        </p:nvSpPr>
        <p:spPr>
          <a:xfrm>
            <a:off x="640080" y="4526280"/>
            <a:ext cx="5760720" cy="1188720"/>
          </a:xfrm>
          <a:prstGeom prst="rect">
            <a:avLst/>
          </a:prstGeom>
          <a:noFill/>
        </p:spPr>
        <p:txBody>
          <a:bodyPr wrap="square" anchor="t" lIns="45720" rIns="45720">
            <a:spAutoFit/>
          </a:bodyPr>
          <a:lstStyle/>
          <a:p>
            <a:pPr algn="l">
              <a:spcAft>
                <a:spcPts val="600"/>
              </a:spcAft>
            </a:pPr>
            <a:r>
              <a:rPr sz="1400" b="0" i="0">
                <a:solidFill>
                  <a:srgbClr val="5F6B7A"/>
                </a:solidFill>
                <a:latin typeface="Calibri"/>
              </a:rPr>
              <a:t>Same operations in the same order, so the output is bit-for-bit identical (verify_nbody.py, 20000 steps). Other body counts fall back to the original loop.</a:t>
            </a:r>
          </a:p>
        </p:txBody>
      </p:sp>
      <p:sp>
        <p:nvSpPr>
          <p:cNvPr id="9" name="TextBox 8"/>
          <p:cNvSpPr txBox="1"/>
          <p:nvPr/>
        </p:nvSpPr>
        <p:spPr>
          <a:xfrm>
            <a:off x="6949440" y="1645920"/>
            <a:ext cx="2286000" cy="731520"/>
          </a:xfrm>
          <a:prstGeom prst="rect">
            <a:avLst/>
          </a:prstGeom>
          <a:noFill/>
        </p:spPr>
        <p:txBody>
          <a:bodyPr wrap="square" anchor="b" lIns="45720" rIns="45720">
            <a:spAutoFit/>
          </a:bodyPr>
          <a:lstStyle/>
          <a:p>
            <a:pPr algn="l">
              <a:spcAft>
                <a:spcPts val="0"/>
              </a:spcAft>
            </a:pPr>
            <a:r>
              <a:rPr sz="4800" b="1" i="0">
                <a:solidFill>
                  <a:srgbClr val="1C9A86"/>
                </a:solidFill>
                <a:latin typeface="Cambria"/>
              </a:rPr>
              <a:t>1.60x</a:t>
            </a:r>
          </a:p>
        </p:txBody>
      </p:sp>
      <p:sp>
        <p:nvSpPr>
          <p:cNvPr id="10" name="TextBox 9"/>
          <p:cNvSpPr txBox="1"/>
          <p:nvPr/>
        </p:nvSpPr>
        <p:spPr>
          <a:xfrm>
            <a:off x="6949440" y="2395728"/>
            <a:ext cx="2286000" cy="640080"/>
          </a:xfrm>
          <a:prstGeom prst="rect">
            <a:avLst/>
          </a:prstGeom>
          <a:noFill/>
        </p:spPr>
        <p:txBody>
          <a:bodyPr wrap="square" anchor="t" lIns="45720" rIns="45720">
            <a:spAutoFit/>
          </a:bodyPr>
          <a:lstStyle/>
          <a:p>
            <a:pPr algn="l">
              <a:spcAft>
                <a:spcPts val="0"/>
              </a:spcAft>
            </a:pPr>
            <a:r>
              <a:rPr sz="1400" b="0" i="0">
                <a:solidFill>
                  <a:srgbClr val="5F6B7A"/>
                </a:solidFill>
                <a:latin typeface="Calibri"/>
              </a:rPr>
              <a:t>faster</a:t>
            </a:r>
            <a:br/>
            <a:r>
              <a:rPr sz="1400" b="0" i="0">
                <a:solidFill>
                  <a:srgbClr val="5F6B7A"/>
                </a:solidFill>
                <a:latin typeface="Calibri"/>
              </a:rPr>
              <a:t>230.4 -&gt; 144.3 ms median</a:t>
            </a:r>
          </a:p>
        </p:txBody>
      </p:sp>
      <p:sp>
        <p:nvSpPr>
          <p:cNvPr id="11" name="TextBox 10"/>
          <p:cNvSpPr txBox="1"/>
          <p:nvPr/>
        </p:nvSpPr>
        <p:spPr>
          <a:xfrm>
            <a:off x="9418320" y="1645920"/>
            <a:ext cx="2286000" cy="731520"/>
          </a:xfrm>
          <a:prstGeom prst="rect">
            <a:avLst/>
          </a:prstGeom>
          <a:noFill/>
        </p:spPr>
        <p:txBody>
          <a:bodyPr wrap="square" anchor="b" lIns="45720" rIns="45720">
            <a:spAutoFit/>
          </a:bodyPr>
          <a:lstStyle/>
          <a:p>
            <a:pPr algn="l">
              <a:spcAft>
                <a:spcPts val="0"/>
              </a:spcAft>
            </a:pPr>
            <a:r>
              <a:rPr sz="4800" b="1" i="0">
                <a:solidFill>
                  <a:srgbClr val="1C9A86"/>
                </a:solidFill>
                <a:latin typeface="Cambria"/>
              </a:rPr>
              <a:t>-34%</a:t>
            </a:r>
          </a:p>
        </p:txBody>
      </p:sp>
      <p:sp>
        <p:nvSpPr>
          <p:cNvPr id="12" name="TextBox 11"/>
          <p:cNvSpPr txBox="1"/>
          <p:nvPr/>
        </p:nvSpPr>
        <p:spPr>
          <a:xfrm>
            <a:off x="9418320" y="2395728"/>
            <a:ext cx="2286000" cy="640080"/>
          </a:xfrm>
          <a:prstGeom prst="rect">
            <a:avLst/>
          </a:prstGeom>
          <a:noFill/>
        </p:spPr>
        <p:txBody>
          <a:bodyPr wrap="square" anchor="t" lIns="45720" rIns="45720">
            <a:spAutoFit/>
          </a:bodyPr>
          <a:lstStyle/>
          <a:p>
            <a:pPr algn="l">
              <a:spcAft>
                <a:spcPts val="0"/>
              </a:spcAft>
            </a:pPr>
            <a:r>
              <a:rPr sz="1400" b="0" i="0">
                <a:solidFill>
                  <a:srgbClr val="5F6B7A"/>
                </a:solidFill>
                <a:latin typeface="Calibri"/>
              </a:rPr>
              <a:t>instructions</a:t>
            </a:r>
            <a:br/>
            <a:r>
              <a:rPr sz="1400" b="0" i="0">
                <a:solidFill>
                  <a:srgbClr val="5F6B7A"/>
                </a:solidFill>
                <a:latin typeface="Calibri"/>
              </a:rPr>
              <a:t>(perf stat, same work)</a:t>
            </a:r>
          </a:p>
        </p:txBody>
      </p:sp>
      <p:sp>
        <p:nvSpPr>
          <p:cNvPr id="13" name="TextBox 12"/>
          <p:cNvSpPr txBox="1"/>
          <p:nvPr/>
        </p:nvSpPr>
        <p:spPr>
          <a:xfrm>
            <a:off x="6949440" y="3749039"/>
            <a:ext cx="2286000" cy="731520"/>
          </a:xfrm>
          <a:prstGeom prst="rect">
            <a:avLst/>
          </a:prstGeom>
          <a:noFill/>
        </p:spPr>
        <p:txBody>
          <a:bodyPr wrap="square" anchor="b" lIns="45720" rIns="45720">
            <a:spAutoFit/>
          </a:bodyPr>
          <a:lstStyle/>
          <a:p>
            <a:pPr algn="l">
              <a:spcAft>
                <a:spcPts val="0"/>
              </a:spcAft>
            </a:pPr>
            <a:r>
              <a:rPr sz="4800" b="1" i="0">
                <a:solidFill>
                  <a:srgbClr val="1C9A86"/>
                </a:solidFill>
                <a:latin typeface="Cambria"/>
              </a:rPr>
              <a:t>0%</a:t>
            </a:r>
          </a:p>
        </p:txBody>
      </p:sp>
      <p:sp>
        <p:nvSpPr>
          <p:cNvPr id="14" name="TextBox 13"/>
          <p:cNvSpPr txBox="1"/>
          <p:nvPr/>
        </p:nvSpPr>
        <p:spPr>
          <a:xfrm>
            <a:off x="6949440" y="4498848"/>
            <a:ext cx="2286000" cy="640080"/>
          </a:xfrm>
          <a:prstGeom prst="rect">
            <a:avLst/>
          </a:prstGeom>
          <a:noFill/>
        </p:spPr>
        <p:txBody>
          <a:bodyPr wrap="square" anchor="t" lIns="45720" rIns="45720">
            <a:spAutoFit/>
          </a:bodyPr>
          <a:lstStyle/>
          <a:p>
            <a:pPr algn="l">
              <a:spcAft>
                <a:spcPts val="0"/>
              </a:spcAft>
            </a:pPr>
            <a:r>
              <a:rPr sz="1400" b="0" i="0">
                <a:solidFill>
                  <a:srgbClr val="5F6B7A"/>
                </a:solidFill>
                <a:latin typeface="Calibri"/>
              </a:rPr>
              <a:t>list indexing left in the</a:t>
            </a:r>
            <a:br/>
            <a:r>
              <a:rPr sz="1400" b="0" i="0">
                <a:solidFill>
                  <a:srgbClr val="5F6B7A"/>
                </a:solidFill>
                <a:latin typeface="Calibri"/>
              </a:rPr>
              <a:t>flame graph (was 14.8%)</a:t>
            </a:r>
          </a:p>
        </p:txBody>
      </p:sp>
      <p:sp>
        <p:nvSpPr>
          <p:cNvPr id="15" name="TextBox 14"/>
          <p:cNvSpPr txBox="1"/>
          <p:nvPr/>
        </p:nvSpPr>
        <p:spPr>
          <a:xfrm>
            <a:off x="9418320" y="3749039"/>
            <a:ext cx="2286000" cy="731520"/>
          </a:xfrm>
          <a:prstGeom prst="rect">
            <a:avLst/>
          </a:prstGeom>
          <a:noFill/>
        </p:spPr>
        <p:txBody>
          <a:bodyPr wrap="square" anchor="b" lIns="45720" rIns="45720">
            <a:spAutoFit/>
          </a:bodyPr>
          <a:lstStyle/>
          <a:p>
            <a:pPr algn="l">
              <a:spcAft>
                <a:spcPts val="0"/>
              </a:spcAft>
            </a:pPr>
            <a:r>
              <a:rPr sz="4800" b="1" i="0">
                <a:solidFill>
                  <a:srgbClr val="1C9A86"/>
                </a:solidFill>
                <a:latin typeface="Cambria"/>
              </a:rPr>
              <a:t>1.65x</a:t>
            </a:r>
          </a:p>
        </p:txBody>
      </p:sp>
      <p:sp>
        <p:nvSpPr>
          <p:cNvPr id="16" name="TextBox 15"/>
          <p:cNvSpPr txBox="1"/>
          <p:nvPr/>
        </p:nvSpPr>
        <p:spPr>
          <a:xfrm>
            <a:off x="9418320" y="4498848"/>
            <a:ext cx="2286000" cy="640080"/>
          </a:xfrm>
          <a:prstGeom prst="rect">
            <a:avLst/>
          </a:prstGeom>
          <a:noFill/>
        </p:spPr>
        <p:txBody>
          <a:bodyPr wrap="square" anchor="t" lIns="45720" rIns="45720">
            <a:spAutoFit/>
          </a:bodyPr>
          <a:lstStyle/>
          <a:p>
            <a:pPr algn="l">
              <a:spcAft>
                <a:spcPts val="0"/>
              </a:spcAft>
            </a:pPr>
            <a:r>
              <a:rPr sz="1400" b="0" i="0">
                <a:solidFill>
                  <a:srgbClr val="5F6B7A"/>
                </a:solidFill>
                <a:latin typeface="Calibri"/>
              </a:rPr>
              <a:t>second session:</a:t>
            </a:r>
            <a:br/>
            <a:r>
              <a:rPr sz="1400" b="0" i="0">
                <a:solidFill>
                  <a:srgbClr val="5F6B7A"/>
                </a:solidFill>
                <a:latin typeface="Calibri"/>
              </a:rPr>
              <a:t>reproducible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11480"/>
            <a:ext cx="502920" cy="50292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502920" cy="502920"/>
          </a:xfrm>
          <a:prstGeom prst="rect">
            <a:avLst/>
          </a:prstGeom>
          <a:noFill/>
        </p:spPr>
        <p:txBody>
          <a:bodyPr wrap="square" anchor="ctr" lIns="0" rIns="0" tIns="0" bIns="0">
            <a:spAutoFit/>
          </a:bodyPr>
          <a:lstStyle/>
          <a:p>
            <a:pPr algn="ctr">
              <a:spcAft>
                <a:spcPts val="0"/>
              </a:spcAft>
            </a:pPr>
            <a:r>
              <a:rPr sz="1600" b="1" i="0">
                <a:solidFill>
                  <a:srgbClr val="FFFFFF"/>
                </a:solidFill>
                <a:latin typeface="Calibri"/>
              </a:rPr>
              <a:t>4</a:t>
            </a:r>
          </a:p>
        </p:txBody>
      </p:sp>
      <p:sp>
        <p:nvSpPr>
          <p:cNvPr id="4" name="TextBox 3"/>
          <p:cNvSpPr txBox="1"/>
          <p:nvPr/>
        </p:nvSpPr>
        <p:spPr>
          <a:xfrm>
            <a:off x="1234440" y="320040"/>
            <a:ext cx="10408615" cy="731520"/>
          </a:xfrm>
          <a:prstGeom prst="rect">
            <a:avLst/>
          </a:prstGeom>
          <a:noFill/>
        </p:spPr>
        <p:txBody>
          <a:bodyPr wrap="square" anchor="ctr" lIns="45720" rIns="45720">
            <a:spAutoFit/>
          </a:bodyPr>
          <a:lstStyle/>
          <a:p>
            <a:pPr algn="l">
              <a:spcAft>
                <a:spcPts val="0"/>
              </a:spcAft>
            </a:pPr>
            <a:r>
              <a:rPr sz="3200" b="1" i="0">
                <a:solidFill>
                  <a:srgbClr val="1E2A38"/>
                </a:solidFill>
                <a:latin typeface="Cambria"/>
              </a:rPr>
              <a:t>A change that did not help: ** -&gt; sqrt</a:t>
            </a:r>
          </a:p>
        </p:txBody>
      </p:sp>
      <p:sp>
        <p:nvSpPr>
          <p:cNvPr id="5" name="TextBox 4"/>
          <p:cNvSpPr txBox="1"/>
          <p:nvPr/>
        </p:nvSpPr>
        <p:spPr>
          <a:xfrm>
            <a:off x="1234440" y="1005840"/>
            <a:ext cx="10408615" cy="411480"/>
          </a:xfrm>
          <a:prstGeom prst="rect">
            <a:avLst/>
          </a:prstGeom>
          <a:noFill/>
        </p:spPr>
        <p:txBody>
          <a:bodyPr wrap="square" anchor="t" lIns="45720" rIns="45720">
            <a:spAutoFit/>
          </a:bodyPr>
          <a:lstStyle/>
          <a:p>
            <a:pPr algn="l">
              <a:spcAft>
                <a:spcPts val="0"/>
              </a:spcAft>
            </a:pPr>
            <a:r>
              <a:rPr sz="1600" b="0" i="0">
                <a:solidFill>
                  <a:srgbClr val="5F6B7A"/>
                </a:solidFill>
                <a:latin typeface="Calibri"/>
              </a:rPr>
              <a:t>mag = dt / (d2 * sqrt(d2)) is mathematically the same as dt * d2 ** (-1.5)</a:t>
            </a:r>
          </a:p>
        </p:txBody>
      </p:sp>
      <p:sp>
        <p:nvSpPr>
          <p:cNvPr id="6" name="TextBox 5"/>
          <p:cNvSpPr txBox="1"/>
          <p:nvPr/>
        </p:nvSpPr>
        <p:spPr>
          <a:xfrm>
            <a:off x="731520" y="1737360"/>
            <a:ext cx="3291840" cy="731520"/>
          </a:xfrm>
          <a:prstGeom prst="rect">
            <a:avLst/>
          </a:prstGeom>
          <a:noFill/>
        </p:spPr>
        <p:txBody>
          <a:bodyPr wrap="square" anchor="b" lIns="45720" rIns="45720">
            <a:spAutoFit/>
          </a:bodyPr>
          <a:lstStyle/>
          <a:p>
            <a:pPr algn="l">
              <a:spcAft>
                <a:spcPts val="0"/>
              </a:spcAft>
            </a:pPr>
            <a:r>
              <a:rPr sz="5400" b="1" i="0">
                <a:solidFill>
                  <a:srgbClr val="D9822B"/>
                </a:solidFill>
                <a:latin typeface="Cambria"/>
              </a:rPr>
              <a:t>1.8%</a:t>
            </a:r>
          </a:p>
        </p:txBody>
      </p:sp>
      <p:sp>
        <p:nvSpPr>
          <p:cNvPr id="7" name="TextBox 6"/>
          <p:cNvSpPr txBox="1"/>
          <p:nvPr/>
        </p:nvSpPr>
        <p:spPr>
          <a:xfrm>
            <a:off x="731520" y="2487168"/>
            <a:ext cx="3291840" cy="640080"/>
          </a:xfrm>
          <a:prstGeom prst="rect">
            <a:avLst/>
          </a:prstGeom>
          <a:noFill/>
        </p:spPr>
        <p:txBody>
          <a:bodyPr wrap="square" anchor="t" lIns="45720" rIns="45720">
            <a:spAutoFit/>
          </a:bodyPr>
          <a:lstStyle/>
          <a:p>
            <a:pPr algn="l">
              <a:spcAft>
                <a:spcPts val="0"/>
              </a:spcAft>
            </a:pPr>
            <a:r>
              <a:rPr sz="1500" b="0" i="0">
                <a:solidFill>
                  <a:srgbClr val="5F6B7A"/>
                </a:solidFill>
                <a:latin typeface="Calibri"/>
              </a:rPr>
              <a:t>pow's share of the time:</a:t>
            </a:r>
            <a:br/>
            <a:r>
              <a:rPr sz="1500" b="0" i="0">
                <a:solidFill>
                  <a:srgbClr val="5F6B7A"/>
                </a:solidFill>
                <a:latin typeface="Calibri"/>
              </a:rPr>
              <a:t>the profile predicted</a:t>
            </a:r>
            <a:br/>
            <a:r>
              <a:rPr sz="1500" b="0" i="0">
                <a:solidFill>
                  <a:srgbClr val="5F6B7A"/>
                </a:solidFill>
                <a:latin typeface="Calibri"/>
              </a:rPr>
              <a:t>≤ 2% gain</a:t>
            </a:r>
          </a:p>
        </p:txBody>
      </p:sp>
      <p:sp>
        <p:nvSpPr>
          <p:cNvPr id="8" name="TextBox 7"/>
          <p:cNvSpPr txBox="1"/>
          <p:nvPr/>
        </p:nvSpPr>
        <p:spPr>
          <a:xfrm>
            <a:off x="4480560" y="1737360"/>
            <a:ext cx="3291840" cy="731520"/>
          </a:xfrm>
          <a:prstGeom prst="rect">
            <a:avLst/>
          </a:prstGeom>
          <a:noFill/>
        </p:spPr>
        <p:txBody>
          <a:bodyPr wrap="square" anchor="b" lIns="45720" rIns="45720">
            <a:spAutoFit/>
          </a:bodyPr>
          <a:lstStyle/>
          <a:p>
            <a:pPr algn="l">
              <a:spcAft>
                <a:spcPts val="0"/>
              </a:spcAft>
            </a:pPr>
            <a:r>
              <a:rPr sz="5400" b="1" i="0">
                <a:solidFill>
                  <a:srgbClr val="C0504D"/>
                </a:solidFill>
                <a:latin typeface="Cambria"/>
              </a:rPr>
              <a:t>1.01x</a:t>
            </a:r>
          </a:p>
        </p:txBody>
      </p:sp>
      <p:sp>
        <p:nvSpPr>
          <p:cNvPr id="9" name="TextBox 8"/>
          <p:cNvSpPr txBox="1"/>
          <p:nvPr/>
        </p:nvSpPr>
        <p:spPr>
          <a:xfrm>
            <a:off x="4480560" y="2487168"/>
            <a:ext cx="3291840" cy="640080"/>
          </a:xfrm>
          <a:prstGeom prst="rect">
            <a:avLst/>
          </a:prstGeom>
          <a:noFill/>
        </p:spPr>
        <p:txBody>
          <a:bodyPr wrap="square" anchor="t" lIns="45720" rIns="45720">
            <a:spAutoFit/>
          </a:bodyPr>
          <a:lstStyle/>
          <a:p>
            <a:pPr algn="l">
              <a:spcAft>
                <a:spcPts val="0"/>
              </a:spcAft>
            </a:pPr>
            <a:r>
              <a:rPr sz="1500" b="0" i="0">
                <a:solidFill>
                  <a:srgbClr val="5F6B7A"/>
                </a:solidFill>
                <a:latin typeface="Calibri"/>
              </a:rPr>
              <a:t>slower when measured</a:t>
            </a:r>
            <a:br/>
            <a:r>
              <a:rPr sz="1500" b="0" i="0">
                <a:solidFill>
                  <a:srgbClr val="5F6B7A"/>
                </a:solidFill>
                <a:latin typeface="Calibri"/>
              </a:rPr>
              <a:t>(and locals+sqrt slower</a:t>
            </a:r>
            <a:br/>
            <a:r>
              <a:rPr sz="1500" b="0" i="0">
                <a:solidFill>
                  <a:srgbClr val="5F6B7A"/>
                </a:solidFill>
                <a:latin typeface="Calibri"/>
              </a:rPr>
              <a:t>than locals alone)</a:t>
            </a:r>
          </a:p>
        </p:txBody>
      </p:sp>
      <p:sp>
        <p:nvSpPr>
          <p:cNvPr id="10" name="TextBox 9"/>
          <p:cNvSpPr txBox="1"/>
          <p:nvPr/>
        </p:nvSpPr>
        <p:spPr>
          <a:xfrm>
            <a:off x="8229600" y="1737360"/>
            <a:ext cx="3291840" cy="731520"/>
          </a:xfrm>
          <a:prstGeom prst="rect">
            <a:avLst/>
          </a:prstGeom>
          <a:noFill/>
        </p:spPr>
        <p:txBody>
          <a:bodyPr wrap="square" anchor="b" lIns="45720" rIns="45720">
            <a:spAutoFit/>
          </a:bodyPr>
          <a:lstStyle/>
          <a:p>
            <a:pPr algn="l">
              <a:spcAft>
                <a:spcPts val="0"/>
              </a:spcAft>
            </a:pPr>
            <a:r>
              <a:rPr sz="5400" b="1" i="0">
                <a:solidFill>
                  <a:srgbClr val="9AA5B1"/>
                </a:solidFill>
                <a:latin typeface="Cambria"/>
              </a:rPr>
              <a:t>n.s.</a:t>
            </a:r>
          </a:p>
        </p:txBody>
      </p:sp>
      <p:sp>
        <p:nvSpPr>
          <p:cNvPr id="11" name="TextBox 10"/>
          <p:cNvSpPr txBox="1"/>
          <p:nvPr/>
        </p:nvSpPr>
        <p:spPr>
          <a:xfrm>
            <a:off x="8229600" y="2487168"/>
            <a:ext cx="3291840" cy="640080"/>
          </a:xfrm>
          <a:prstGeom prst="rect">
            <a:avLst/>
          </a:prstGeom>
          <a:noFill/>
        </p:spPr>
        <p:txBody>
          <a:bodyPr wrap="square" anchor="t" lIns="45720" rIns="45720">
            <a:spAutoFit/>
          </a:bodyPr>
          <a:lstStyle/>
          <a:p>
            <a:pPr algn="l">
              <a:spcAft>
                <a:spcPts val="0"/>
              </a:spcAft>
            </a:pPr>
            <a:r>
              <a:rPr sz="1500" b="0" i="0">
                <a:solidFill>
                  <a:srgbClr val="5F6B7A"/>
                </a:solidFill>
                <a:latin typeface="Calibri"/>
              </a:rPr>
              <a:t>sqrt as a local variable:</a:t>
            </a:r>
            <a:br/>
            <a:r>
              <a:rPr sz="1500" b="0" i="0">
                <a:solidFill>
                  <a:srgbClr val="5F6B7A"/>
                </a:solidFill>
                <a:latin typeface="Calibri"/>
              </a:rPr>
              <a:t>143.3 vs 143.7 ms,</a:t>
            </a:r>
            <a:br/>
            <a:r>
              <a:rPr sz="1500" b="0" i="0">
                <a:solidFill>
                  <a:srgbClr val="5F6B7A"/>
                </a:solidFill>
                <a:latin typeface="Calibri"/>
              </a:rPr>
              <a:t>not significant</a:t>
            </a:r>
          </a:p>
        </p:txBody>
      </p:sp>
      <p:sp>
        <p:nvSpPr>
          <p:cNvPr id="12" name="Rounded Rectangle 11"/>
          <p:cNvSpPr/>
          <p:nvPr/>
        </p:nvSpPr>
        <p:spPr>
          <a:xfrm>
            <a:off x="640080" y="4206240"/>
            <a:ext cx="10972800" cy="160020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343400"/>
            <a:ext cx="10424160" cy="1417320"/>
          </a:xfrm>
          <a:prstGeom prst="rect">
            <a:avLst/>
          </a:prstGeom>
          <a:noFill/>
        </p:spPr>
        <p:txBody>
          <a:bodyPr wrap="square" anchor="t" lIns="45720" rIns="45720">
            <a:spAutoFit/>
          </a:bodyPr>
          <a:lstStyle/>
          <a:p>
            <a:pPr algn="l">
              <a:spcAft>
                <a:spcPts val="800"/>
              </a:spcAft>
            </a:pPr>
            <a:r>
              <a:rPr sz="1600" b="1" i="0">
                <a:solidFill>
                  <a:srgbClr val="1E2A38"/>
                </a:solidFill>
                <a:latin typeface="Calibri"/>
              </a:rPr>
              <a:t>Why: </a:t>
            </a:r>
            <a:r>
              <a:rPr sz="1600" b="0" i="0">
                <a:solidFill>
                  <a:srgbClr val="1E2A38"/>
                </a:solidFill>
                <a:latin typeface="Calibri"/>
              </a:rPr>
              <a:t>in Python the cost is not the math. d2 ** (-1.5) is one bytecode that calls C pow directly (86 ns); 1/(d2*sqrt(d2)) needs a lookup of sqrt, a call, a multiply and a divide (93 ns).</a:t>
            </a:r>
          </a:p>
          <a:p>
            <a:pPr algn="l">
              <a:spcAft>
                <a:spcPts val="800"/>
              </a:spcAft>
            </a:pPr>
            <a:r>
              <a:rPr sz="1600" b="1" i="0">
                <a:solidFill>
                  <a:srgbClr val="1E2A38"/>
                </a:solidFill>
                <a:latin typeface="Calibri"/>
              </a:rPr>
              <a:t>Decision: </a:t>
            </a:r>
            <a:r>
              <a:rPr sz="1600" b="0" i="0">
                <a:solidFill>
                  <a:srgbClr val="1E2A38"/>
                </a:solidFill>
                <a:latin typeface="Calibri"/>
              </a:rPr>
              <a:t>dropped, kept **. The measurement stays in the report as a negative result that the profile correctly predicted.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11480"/>
            <a:ext cx="502920" cy="50292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502920" cy="502920"/>
          </a:xfrm>
          <a:prstGeom prst="rect">
            <a:avLst/>
          </a:prstGeom>
          <a:noFill/>
        </p:spPr>
        <p:txBody>
          <a:bodyPr wrap="square" anchor="ctr" lIns="0" rIns="0" tIns="0" bIns="0">
            <a:spAutoFit/>
          </a:bodyPr>
          <a:lstStyle/>
          <a:p>
            <a:pPr algn="ctr">
              <a:spcAft>
                <a:spcPts val="0"/>
              </a:spcAft>
            </a:pPr>
            <a:r>
              <a:rPr sz="1600" b="1" i="0">
                <a:solidFill>
                  <a:srgbClr val="FFFFFF"/>
                </a:solidFill>
                <a:latin typeface="Calibri"/>
              </a:rPr>
              <a:t>3</a:t>
            </a:r>
          </a:p>
        </p:txBody>
      </p:sp>
      <p:sp>
        <p:nvSpPr>
          <p:cNvPr id="4" name="TextBox 3"/>
          <p:cNvSpPr txBox="1"/>
          <p:nvPr/>
        </p:nvSpPr>
        <p:spPr>
          <a:xfrm>
            <a:off x="1234440" y="320040"/>
            <a:ext cx="10408615" cy="731520"/>
          </a:xfrm>
          <a:prstGeom prst="rect">
            <a:avLst/>
          </a:prstGeom>
          <a:noFill/>
        </p:spPr>
        <p:txBody>
          <a:bodyPr wrap="square" anchor="ctr" lIns="45720" rIns="45720">
            <a:spAutoFit/>
          </a:bodyPr>
          <a:lstStyle/>
          <a:p>
            <a:pPr algn="l">
              <a:spcAft>
                <a:spcPts val="0"/>
              </a:spcAft>
            </a:pPr>
            <a:r>
              <a:rPr sz="3200" b="1" i="0">
                <a:solidFill>
                  <a:srgbClr val="1E2A38"/>
                </a:solidFill>
                <a:latin typeface="Cambria"/>
              </a:rPr>
              <a:t>raytrace: where the time goes</a:t>
            </a:r>
          </a:p>
        </p:txBody>
      </p:sp>
      <p:sp>
        <p:nvSpPr>
          <p:cNvPr id="5" name="TextBox 4"/>
          <p:cNvSpPr txBox="1"/>
          <p:nvPr/>
        </p:nvSpPr>
        <p:spPr>
          <a:xfrm>
            <a:off x="1234440" y="1005840"/>
            <a:ext cx="10408615" cy="411480"/>
          </a:xfrm>
          <a:prstGeom prst="rect">
            <a:avLst/>
          </a:prstGeom>
          <a:noFill/>
        </p:spPr>
        <p:txBody>
          <a:bodyPr wrap="square" anchor="t" lIns="45720" rIns="45720">
            <a:spAutoFit/>
          </a:bodyPr>
          <a:lstStyle/>
          <a:p>
            <a:pPr algn="l">
              <a:spcAft>
                <a:spcPts val="0"/>
              </a:spcAft>
            </a:pPr>
            <a:r>
              <a:rPr sz="1600" b="0" i="0">
                <a:solidFill>
                  <a:srgbClr val="5F6B7A"/>
                </a:solidFill>
                <a:latin typeface="Calibri"/>
              </a:rPr>
              <a:t>Python-level flame graph (py-spy): width = share of run time</a:t>
            </a:r>
          </a:p>
        </p:txBody>
      </p:sp>
      <p:sp>
        <p:nvSpPr>
          <p:cNvPr id="6" name="Rounded Rectangle 5"/>
          <p:cNvSpPr/>
          <p:nvPr/>
        </p:nvSpPr>
        <p:spPr>
          <a:xfrm>
            <a:off x="640080" y="3813048"/>
            <a:ext cx="6892015" cy="475488"/>
          </a:xfrm>
          <a:prstGeom prst="roundRect">
            <a:avLst>
              <a:gd name="adj" fmla="val 10000"/>
            </a:avLst>
          </a:prstGeom>
          <a:solidFill>
            <a:srgbClr val="15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3813048"/>
            <a:ext cx="6892015" cy="475488"/>
          </a:xfrm>
          <a:prstGeom prst="rect">
            <a:avLst/>
          </a:prstGeom>
          <a:noFill/>
        </p:spPr>
        <p:txBody>
          <a:bodyPr wrap="square" anchor="ctr" lIns="73152" rIns="73152" tIns="73152" bIns="73152">
            <a:spAutoFit/>
          </a:bodyPr>
          <a:lstStyle/>
          <a:p>
            <a:pPr algn="l">
              <a:spcAft>
                <a:spcPts val="200"/>
              </a:spcAft>
            </a:pPr>
            <a:r>
              <a:rPr sz="1200" b="0" i="0">
                <a:solidFill>
                  <a:srgbClr val="FFFFFF"/>
                </a:solidFill>
                <a:latin typeface="Calibri"/>
              </a:rPr>
              <a:t>bench_raytrace &gt; render</a:t>
            </a:r>
          </a:p>
        </p:txBody>
      </p:sp>
      <p:sp>
        <p:nvSpPr>
          <p:cNvPr id="8" name="Rounded Rectangle 7"/>
          <p:cNvSpPr/>
          <p:nvPr/>
        </p:nvSpPr>
        <p:spPr>
          <a:xfrm>
            <a:off x="640080" y="3282696"/>
            <a:ext cx="6176223" cy="475488"/>
          </a:xfrm>
          <a:prstGeom prst="roundRect">
            <a:avLst>
              <a:gd name="adj" fmla="val 10000"/>
            </a:avLst>
          </a:prstGeom>
          <a:solidFill>
            <a:srgbClr val="3A4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282696"/>
            <a:ext cx="6176223" cy="475488"/>
          </a:xfrm>
          <a:prstGeom prst="rect">
            <a:avLst/>
          </a:prstGeom>
          <a:noFill/>
        </p:spPr>
        <p:txBody>
          <a:bodyPr wrap="square" anchor="ctr" lIns="73152" rIns="73152" tIns="73152" bIns="73152">
            <a:spAutoFit/>
          </a:bodyPr>
          <a:lstStyle/>
          <a:p>
            <a:pPr algn="l">
              <a:spcAft>
                <a:spcPts val="200"/>
              </a:spcAft>
            </a:pPr>
            <a:r>
              <a:rPr sz="1200" b="0" i="0">
                <a:solidFill>
                  <a:srgbClr val="FFFFFF"/>
                </a:solidFill>
                <a:latin typeface="Calibri"/>
              </a:rPr>
              <a:t>rayColour</a:t>
            </a:r>
          </a:p>
        </p:txBody>
      </p:sp>
      <p:sp>
        <p:nvSpPr>
          <p:cNvPr id="10" name="Rounded Rectangle 9"/>
          <p:cNvSpPr/>
          <p:nvPr/>
        </p:nvSpPr>
        <p:spPr>
          <a:xfrm>
            <a:off x="640080" y="2752344"/>
            <a:ext cx="4647346" cy="475488"/>
          </a:xfrm>
          <a:prstGeom prst="roundRect">
            <a:avLst>
              <a:gd name="adj" fmla="val 10000"/>
            </a:avLst>
          </a:prstGeom>
          <a:solidFill>
            <a:srgbClr val="5466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752344"/>
            <a:ext cx="4647346" cy="475488"/>
          </a:xfrm>
          <a:prstGeom prst="rect">
            <a:avLst/>
          </a:prstGeom>
          <a:noFill/>
        </p:spPr>
        <p:txBody>
          <a:bodyPr wrap="square" anchor="ctr" lIns="73152" rIns="73152" tIns="73152" bIns="73152">
            <a:spAutoFit/>
          </a:bodyPr>
          <a:lstStyle/>
          <a:p>
            <a:pPr algn="l">
              <a:spcAft>
                <a:spcPts val="200"/>
              </a:spcAft>
            </a:pPr>
            <a:r>
              <a:rPr sz="1200" b="0" i="0">
                <a:solidFill>
                  <a:srgbClr val="FFFFFF"/>
                </a:solidFill>
                <a:latin typeface="Calibri"/>
              </a:rPr>
              <a:t>colourAt</a:t>
            </a:r>
          </a:p>
        </p:txBody>
      </p:sp>
      <p:sp>
        <p:nvSpPr>
          <p:cNvPr id="12" name="Rounded Rectangle 11"/>
          <p:cNvSpPr/>
          <p:nvPr/>
        </p:nvSpPr>
        <p:spPr>
          <a:xfrm>
            <a:off x="5324002" y="2752344"/>
            <a:ext cx="1283817" cy="475488"/>
          </a:xfrm>
          <a:prstGeom prst="roundRect">
            <a:avLst>
              <a:gd name="adj" fmla="val 10000"/>
            </a:avLst>
          </a:prstGeom>
          <a:solidFill>
            <a:srgbClr val="6F82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24002" y="2752344"/>
            <a:ext cx="1283817" cy="475488"/>
          </a:xfrm>
          <a:prstGeom prst="rect">
            <a:avLst/>
          </a:prstGeom>
          <a:noFill/>
        </p:spPr>
        <p:txBody>
          <a:bodyPr wrap="square" anchor="ctr" lIns="73152" rIns="73152" tIns="73152" bIns="73152">
            <a:spAutoFit/>
          </a:bodyPr>
          <a:lstStyle/>
          <a:p>
            <a:pPr algn="l">
              <a:spcAft>
                <a:spcPts val="200"/>
              </a:spcAft>
            </a:pPr>
            <a:r>
              <a:rPr sz="1200" b="0" i="0">
                <a:solidFill>
                  <a:srgbClr val="FFFFFF"/>
                </a:solidFill>
                <a:latin typeface="Calibri"/>
              </a:rPr>
              <a:t>listcomp: intersect all</a:t>
            </a:r>
          </a:p>
        </p:txBody>
      </p:sp>
      <p:sp>
        <p:nvSpPr>
          <p:cNvPr id="14" name="Rounded Rectangle 13"/>
          <p:cNvSpPr/>
          <p:nvPr/>
        </p:nvSpPr>
        <p:spPr>
          <a:xfrm>
            <a:off x="640080" y="2221991"/>
            <a:ext cx="3153216" cy="475488"/>
          </a:xfrm>
          <a:prstGeom prst="roundRect">
            <a:avLst>
              <a:gd name="adj" fmla="val 10000"/>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221991"/>
            <a:ext cx="3153216" cy="475488"/>
          </a:xfrm>
          <a:prstGeom prst="rect">
            <a:avLst/>
          </a:prstGeom>
          <a:noFill/>
        </p:spPr>
        <p:txBody>
          <a:bodyPr wrap="square" anchor="ctr" lIns="73152" rIns="73152" tIns="73152" bIns="73152">
            <a:spAutoFit/>
          </a:bodyPr>
          <a:lstStyle/>
          <a:p>
            <a:pPr algn="l">
              <a:spcAft>
                <a:spcPts val="200"/>
              </a:spcAft>
            </a:pPr>
            <a:r>
              <a:rPr sz="1200" b="0" i="0">
                <a:solidFill>
                  <a:srgbClr val="FFFFFF"/>
                </a:solidFill>
                <a:latin typeface="Calibri"/>
              </a:rPr>
              <a:t>_lightIsVisible (shadow rays)</a:t>
            </a:r>
          </a:p>
        </p:txBody>
      </p:sp>
      <p:sp>
        <p:nvSpPr>
          <p:cNvPr id="16" name="Rounded Rectangle 15"/>
          <p:cNvSpPr/>
          <p:nvPr/>
        </p:nvSpPr>
        <p:spPr>
          <a:xfrm>
            <a:off x="3829872" y="2221991"/>
            <a:ext cx="1457553" cy="475488"/>
          </a:xfrm>
          <a:prstGeom prst="roundRect">
            <a:avLst>
              <a:gd name="adj" fmla="val 10000"/>
            </a:avLst>
          </a:prstGeom>
          <a:solidFill>
            <a:srgbClr val="8C9B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29872" y="2221991"/>
            <a:ext cx="1457553" cy="475488"/>
          </a:xfrm>
          <a:prstGeom prst="rect">
            <a:avLst/>
          </a:prstGeom>
          <a:noFill/>
        </p:spPr>
        <p:txBody>
          <a:bodyPr wrap="square" anchor="ctr" lIns="73152" rIns="73152" tIns="73152" bIns="73152">
            <a:spAutoFit/>
          </a:bodyPr>
          <a:lstStyle/>
          <a:p>
            <a:pPr algn="l">
              <a:spcAft>
                <a:spcPts val="200"/>
              </a:spcAft>
            </a:pPr>
            <a:r>
              <a:rPr sz="1200" b="0" i="0">
                <a:solidFill>
                  <a:srgbClr val="FFFFFF"/>
                </a:solidFill>
                <a:latin typeface="Calibri"/>
              </a:rPr>
              <a:t>rayColour (reflect)</a:t>
            </a:r>
          </a:p>
        </p:txBody>
      </p:sp>
      <p:sp>
        <p:nvSpPr>
          <p:cNvPr id="18" name="Rounded Rectangle 17"/>
          <p:cNvSpPr/>
          <p:nvPr/>
        </p:nvSpPr>
        <p:spPr>
          <a:xfrm>
            <a:off x="640080" y="1691639"/>
            <a:ext cx="1881469" cy="475488"/>
          </a:xfrm>
          <a:prstGeom prst="roundRect">
            <a:avLst>
              <a:gd name="adj" fmla="val 10000"/>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1691639"/>
            <a:ext cx="1881469" cy="475488"/>
          </a:xfrm>
          <a:prstGeom prst="rect">
            <a:avLst/>
          </a:prstGeom>
          <a:noFill/>
        </p:spPr>
        <p:txBody>
          <a:bodyPr wrap="square" anchor="ctr" lIns="73152" rIns="73152" tIns="73152" bIns="73152">
            <a:spAutoFit/>
          </a:bodyPr>
          <a:lstStyle/>
          <a:p>
            <a:pPr algn="l">
              <a:spcAft>
                <a:spcPts val="200"/>
              </a:spcAft>
            </a:pPr>
            <a:r>
              <a:rPr sz="1200" b="0" i="0">
                <a:solidFill>
                  <a:srgbClr val="FFFFFF"/>
                </a:solidFill>
                <a:latin typeface="Calibri"/>
              </a:rPr>
              <a:t>Ray() built again</a:t>
            </a:r>
          </a:p>
        </p:txBody>
      </p:sp>
      <p:sp>
        <p:nvSpPr>
          <p:cNvPr id="20" name="Rounded Rectangle 19"/>
          <p:cNvSpPr/>
          <p:nvPr/>
        </p:nvSpPr>
        <p:spPr>
          <a:xfrm>
            <a:off x="2558125" y="1691639"/>
            <a:ext cx="1179576" cy="475488"/>
          </a:xfrm>
          <a:prstGeom prst="roundRect">
            <a:avLst>
              <a:gd name="adj" fmla="val 10000"/>
            </a:avLst>
          </a:prstGeom>
          <a:solidFill>
            <a:srgbClr val="E0A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58125" y="1691639"/>
            <a:ext cx="1179576" cy="475488"/>
          </a:xfrm>
          <a:prstGeom prst="rect">
            <a:avLst/>
          </a:prstGeom>
          <a:noFill/>
        </p:spPr>
        <p:txBody>
          <a:bodyPr wrap="square" anchor="ctr" lIns="73152" rIns="73152" tIns="73152" bIns="73152">
            <a:spAutoFit/>
          </a:bodyPr>
          <a:lstStyle/>
          <a:p>
            <a:pPr algn="l">
              <a:spcAft>
                <a:spcPts val="200"/>
              </a:spcAft>
            </a:pPr>
            <a:r>
              <a:rPr sz="1200" b="0" i="0">
                <a:solidFill>
                  <a:srgbClr val="FFFFFF"/>
                </a:solidFill>
                <a:latin typeface="Calibri"/>
              </a:rPr>
              <a:t>intersect</a:t>
            </a:r>
          </a:p>
        </p:txBody>
      </p:sp>
      <p:sp>
        <p:nvSpPr>
          <p:cNvPr id="22" name="TextBox 21"/>
          <p:cNvSpPr txBox="1"/>
          <p:nvPr/>
        </p:nvSpPr>
        <p:spPr>
          <a:xfrm>
            <a:off x="640080" y="4663440"/>
            <a:ext cx="6949440" cy="1463040"/>
          </a:xfrm>
          <a:prstGeom prst="rect">
            <a:avLst/>
          </a:prstGeom>
          <a:noFill/>
        </p:spPr>
        <p:txBody>
          <a:bodyPr wrap="square" anchor="t" lIns="45720" rIns="45720">
            <a:spAutoFit/>
          </a:bodyPr>
          <a:lstStyle/>
          <a:p>
            <a:pPr algn="l">
              <a:spcAft>
                <a:spcPts val="500"/>
              </a:spcAft>
            </a:pPr>
            <a:r>
              <a:rPr sz="1400" b="1" i="0">
                <a:solidFill>
                  <a:srgbClr val="1E2A38"/>
                </a:solidFill>
                <a:latin typeface="Calibri"/>
              </a:rPr>
              <a:t>intersectionTime </a:t>
            </a:r>
            <a:r>
              <a:rPr sz="1400" b="0" i="0">
                <a:solidFill>
                  <a:srgbClr val="1E2A38"/>
                </a:solidFill>
                <a:latin typeface="Calibri"/>
              </a:rPr>
              <a:t>from all callers: 43% (dot 20%, __sub__ 22%)</a:t>
            </a:r>
          </a:p>
          <a:p>
            <a:pPr algn="l">
              <a:spcAft>
                <a:spcPts val="500"/>
              </a:spcAft>
            </a:pPr>
            <a:r>
              <a:rPr sz="1400" b="1" i="0">
                <a:solidFill>
                  <a:srgbClr val="1E2A38"/>
                </a:solidFill>
                <a:latin typeface="Calibri"/>
              </a:rPr>
              <a:t>C level: </a:t>
            </a:r>
            <a:r>
              <a:rPr sz="1400" b="0" i="0">
                <a:solidFill>
                  <a:srgbClr val="1E2A38"/>
                </a:solidFill>
                <a:latin typeface="Calibri"/>
              </a:rPr>
              <a:t>function calls 19.8%, dict lookups 17.7%, math 0.1%</a:t>
            </a:r>
          </a:p>
          <a:p>
            <a:pPr algn="l">
              <a:spcAft>
                <a:spcPts val="500"/>
              </a:spcAft>
            </a:pPr>
            <a:r>
              <a:rPr sz="1400" b="1" i="0">
                <a:solidFill>
                  <a:srgbClr val="1E2A38"/>
                </a:solidFill>
                <a:latin typeface="Calibri"/>
              </a:rPr>
              <a:t>cProfile: </a:t>
            </a:r>
            <a:r>
              <a:rPr sz="1400" b="0" i="0">
                <a:solidFill>
                  <a:srgbClr val="1E2A38"/>
                </a:solidFill>
                <a:latin typeface="Calibri"/>
              </a:rPr>
              <a:t>3.09 million Python calls and 453k new Vectors per image</a:t>
            </a:r>
          </a:p>
        </p:txBody>
      </p:sp>
      <p:sp>
        <p:nvSpPr>
          <p:cNvPr id="23" name="Rounded Rectangle 22"/>
          <p:cNvSpPr/>
          <p:nvPr/>
        </p:nvSpPr>
        <p:spPr>
          <a:xfrm>
            <a:off x="8046720" y="1691640"/>
            <a:ext cx="3566160" cy="365760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20" y="1828800"/>
            <a:ext cx="3200400" cy="365760"/>
          </a:xfrm>
          <a:prstGeom prst="rect">
            <a:avLst/>
          </a:prstGeom>
          <a:noFill/>
        </p:spPr>
        <p:txBody>
          <a:bodyPr wrap="square" anchor="t" lIns="45720" rIns="45720">
            <a:spAutoFit/>
          </a:bodyPr>
          <a:lstStyle/>
          <a:p>
            <a:pPr algn="l">
              <a:spcAft>
                <a:spcPts val="600"/>
              </a:spcAft>
            </a:pPr>
            <a:r>
              <a:rPr sz="1800" b="1" i="0">
                <a:solidFill>
                  <a:srgbClr val="1E2A38"/>
                </a:solidFill>
                <a:latin typeface="Cambria"/>
              </a:rPr>
              <a:t>Bottlenecks</a:t>
            </a:r>
          </a:p>
        </p:txBody>
      </p:sp>
      <p:sp>
        <p:nvSpPr>
          <p:cNvPr id="25" name="TextBox 24"/>
          <p:cNvSpPr txBox="1"/>
          <p:nvPr/>
        </p:nvSpPr>
        <p:spPr>
          <a:xfrm>
            <a:off x="8275320" y="2286000"/>
            <a:ext cx="3200400" cy="3017520"/>
          </a:xfrm>
          <a:prstGeom prst="rect">
            <a:avLst/>
          </a:prstGeom>
          <a:noFill/>
        </p:spPr>
        <p:txBody>
          <a:bodyPr wrap="square" anchor="t" lIns="45720" rIns="45720">
            <a:spAutoFit/>
          </a:bodyPr>
          <a:lstStyle/>
          <a:p>
            <a:pPr algn="l" marL="228600" indent="-228600">
              <a:spcAft>
                <a:spcPts val="1200"/>
              </a:spcAft>
              <a:buChar char="•"/>
            </a:pPr>
            <a:r>
              <a:rPr sz="1600" b="0" i="0">
                <a:solidFill>
                  <a:srgbClr val="1E2A38"/>
                </a:solidFill>
                <a:latin typeface="Calibri"/>
              </a:rPr>
              <a:t>the same shadow ray rebuilt for every object (~28%)</a:t>
            </a:r>
          </a:p>
          <a:p>
            <a:pPr algn="l" marL="228600" indent="-228600">
              <a:spcAft>
                <a:spcPts val="1200"/>
              </a:spcAft>
              <a:buChar char="•"/>
            </a:pPr>
            <a:r>
              <a:rPr sz="1600" b="0" i="0">
                <a:solidFill>
                  <a:srgbClr val="1E2A38"/>
                </a:solidFill>
                <a:latin typeface="Calibri"/>
              </a:rPr>
              <a:t>~7 tiny method calls and a temporary Vector per ray-object test</a:t>
            </a:r>
          </a:p>
          <a:p>
            <a:pPr algn="l" marL="228600" indent="-228600">
              <a:spcAft>
                <a:spcPts val="1200"/>
              </a:spcAft>
              <a:buChar char="•"/>
            </a:pPr>
            <a:r>
              <a:rPr sz="1600" b="0" i="0">
                <a:solidFill>
                  <a:srgbClr val="1E2A38"/>
                </a:solidFill>
                <a:latin typeface="Calibri"/>
              </a:rPr>
              <a:t>every Vector/Point has its own attribute dictionary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11480"/>
            <a:ext cx="502920" cy="50292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502920" cy="502920"/>
          </a:xfrm>
          <a:prstGeom prst="rect">
            <a:avLst/>
          </a:prstGeom>
          <a:noFill/>
        </p:spPr>
        <p:txBody>
          <a:bodyPr wrap="square" anchor="ctr" lIns="0" rIns="0" tIns="0" bIns="0">
            <a:spAutoFit/>
          </a:bodyPr>
          <a:lstStyle/>
          <a:p>
            <a:pPr algn="ctr">
              <a:spcAft>
                <a:spcPts val="0"/>
              </a:spcAft>
            </a:pPr>
            <a:r>
              <a:rPr sz="1600" b="1" i="0">
                <a:solidFill>
                  <a:srgbClr val="FFFFFF"/>
                </a:solidFill>
                <a:latin typeface="Calibri"/>
              </a:rPr>
              <a:t>4</a:t>
            </a:r>
          </a:p>
        </p:txBody>
      </p:sp>
      <p:sp>
        <p:nvSpPr>
          <p:cNvPr id="4" name="TextBox 3"/>
          <p:cNvSpPr txBox="1"/>
          <p:nvPr/>
        </p:nvSpPr>
        <p:spPr>
          <a:xfrm>
            <a:off x="1234440" y="320040"/>
            <a:ext cx="10408615" cy="731520"/>
          </a:xfrm>
          <a:prstGeom prst="rect">
            <a:avLst/>
          </a:prstGeom>
          <a:noFill/>
        </p:spPr>
        <p:txBody>
          <a:bodyPr wrap="square" anchor="ctr" lIns="45720" rIns="45720">
            <a:spAutoFit/>
          </a:bodyPr>
          <a:lstStyle/>
          <a:p>
            <a:pPr algn="l">
              <a:spcAft>
                <a:spcPts val="0"/>
              </a:spcAft>
            </a:pPr>
            <a:r>
              <a:rPr sz="3200" b="1" i="0">
                <a:solidFill>
                  <a:srgbClr val="1E2A38"/>
                </a:solidFill>
                <a:latin typeface="Cambria"/>
              </a:rPr>
              <a:t>raytrace fixes: three targeted changes</a:t>
            </a:r>
          </a:p>
        </p:txBody>
      </p:sp>
      <p:sp>
        <p:nvSpPr>
          <p:cNvPr id="5" name="TextBox 4"/>
          <p:cNvSpPr txBox="1"/>
          <p:nvPr/>
        </p:nvSpPr>
        <p:spPr>
          <a:xfrm>
            <a:off x="1234440" y="1005840"/>
            <a:ext cx="10408615" cy="411480"/>
          </a:xfrm>
          <a:prstGeom prst="rect">
            <a:avLst/>
          </a:prstGeom>
          <a:noFill/>
        </p:spPr>
        <p:txBody>
          <a:bodyPr wrap="square" anchor="t" lIns="45720" rIns="45720">
            <a:spAutoFit/>
          </a:bodyPr>
          <a:lstStyle/>
          <a:p>
            <a:pPr algn="l">
              <a:spcAft>
                <a:spcPts val="0"/>
              </a:spcAft>
            </a:pPr>
            <a:r>
              <a:rPr sz="1600" b="0" i="0">
                <a:solidFill>
                  <a:srgbClr val="5F6B7A"/>
                </a:solidFill>
                <a:latin typeface="Calibri"/>
              </a:rPr>
              <a:t>Each measured on its own, each renders a bit-identical image</a:t>
            </a:r>
          </a:p>
        </p:txBody>
      </p:sp>
      <p:sp>
        <p:nvSpPr>
          <p:cNvPr id="6" name="Rounded Rectangle 5"/>
          <p:cNvSpPr/>
          <p:nvPr/>
        </p:nvSpPr>
        <p:spPr>
          <a:xfrm>
            <a:off x="640080" y="1691640"/>
            <a:ext cx="5394960" cy="100584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83080"/>
            <a:ext cx="3291840" cy="411480"/>
          </a:xfrm>
          <a:prstGeom prst="rect">
            <a:avLst/>
          </a:prstGeom>
          <a:noFill/>
        </p:spPr>
        <p:txBody>
          <a:bodyPr wrap="square" anchor="t" lIns="45720" rIns="45720">
            <a:spAutoFit/>
          </a:bodyPr>
          <a:lstStyle/>
          <a:p>
            <a:pPr algn="l">
              <a:spcAft>
                <a:spcPts val="0"/>
              </a:spcAft>
            </a:pPr>
            <a:r>
              <a:rPr sz="1700" b="1" i="0">
                <a:solidFill>
                  <a:srgbClr val="1E2A38"/>
                </a:solidFill>
                <a:latin typeface="Courier New"/>
              </a:rPr>
              <a:t>shadow_ray</a:t>
            </a:r>
          </a:p>
        </p:txBody>
      </p:sp>
      <p:sp>
        <p:nvSpPr>
          <p:cNvPr id="8" name="TextBox 7"/>
          <p:cNvSpPr txBox="1"/>
          <p:nvPr/>
        </p:nvSpPr>
        <p:spPr>
          <a:xfrm>
            <a:off x="868680" y="2167128"/>
            <a:ext cx="3931920" cy="502920"/>
          </a:xfrm>
          <a:prstGeom prst="rect">
            <a:avLst/>
          </a:prstGeom>
          <a:noFill/>
        </p:spPr>
        <p:txBody>
          <a:bodyPr wrap="square" anchor="t" lIns="45720" rIns="45720">
            <a:spAutoFit/>
          </a:bodyPr>
          <a:lstStyle/>
          <a:p>
            <a:pPr algn="l">
              <a:spcAft>
                <a:spcPts val="0"/>
              </a:spcAft>
            </a:pPr>
            <a:r>
              <a:rPr sz="1300" b="0" i="0">
                <a:solidFill>
                  <a:srgbClr val="5F6B7A"/>
                </a:solidFill>
                <a:latin typeface="Calibri"/>
              </a:rPr>
              <a:t>Build Ray(p, l - p) once per light, not once per object</a:t>
            </a:r>
          </a:p>
        </p:txBody>
      </p:sp>
      <p:sp>
        <p:nvSpPr>
          <p:cNvPr id="9" name="TextBox 8"/>
          <p:cNvSpPr txBox="1"/>
          <p:nvPr/>
        </p:nvSpPr>
        <p:spPr>
          <a:xfrm>
            <a:off x="4572000" y="1828800"/>
            <a:ext cx="1371600" cy="731520"/>
          </a:xfrm>
          <a:prstGeom prst="rect">
            <a:avLst/>
          </a:prstGeom>
          <a:noFill/>
        </p:spPr>
        <p:txBody>
          <a:bodyPr wrap="square" anchor="ctr" lIns="45720" rIns="45720">
            <a:spAutoFit/>
          </a:bodyPr>
          <a:lstStyle/>
          <a:p>
            <a:pPr algn="r">
              <a:spcAft>
                <a:spcPts val="0"/>
              </a:spcAft>
            </a:pPr>
            <a:r>
              <a:rPr sz="2600" b="1" i="0">
                <a:solidFill>
                  <a:srgbClr val="1C9A86"/>
                </a:solidFill>
                <a:latin typeface="Cambria"/>
              </a:rPr>
              <a:t>1.30x</a:t>
            </a:r>
          </a:p>
        </p:txBody>
      </p:sp>
      <p:sp>
        <p:nvSpPr>
          <p:cNvPr id="10" name="Rounded Rectangle 9"/>
          <p:cNvSpPr/>
          <p:nvPr/>
        </p:nvSpPr>
        <p:spPr>
          <a:xfrm>
            <a:off x="640080" y="2880360"/>
            <a:ext cx="5394960" cy="100584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71800"/>
            <a:ext cx="3291840" cy="411480"/>
          </a:xfrm>
          <a:prstGeom prst="rect">
            <a:avLst/>
          </a:prstGeom>
          <a:noFill/>
        </p:spPr>
        <p:txBody>
          <a:bodyPr wrap="square" anchor="t" lIns="45720" rIns="45720">
            <a:spAutoFit/>
          </a:bodyPr>
          <a:lstStyle/>
          <a:p>
            <a:pPr algn="l">
              <a:spcAft>
                <a:spcPts val="0"/>
              </a:spcAft>
            </a:pPr>
            <a:r>
              <a:rPr sz="1700" b="1" i="0">
                <a:solidFill>
                  <a:srgbClr val="1E2A38"/>
                </a:solidFill>
                <a:latin typeface="Courier New"/>
              </a:rPr>
              <a:t>sphere_floats</a:t>
            </a:r>
          </a:p>
        </p:txBody>
      </p:sp>
      <p:sp>
        <p:nvSpPr>
          <p:cNvPr id="12" name="TextBox 11"/>
          <p:cNvSpPr txBox="1"/>
          <p:nvPr/>
        </p:nvSpPr>
        <p:spPr>
          <a:xfrm>
            <a:off x="868680" y="3355848"/>
            <a:ext cx="3931920" cy="502920"/>
          </a:xfrm>
          <a:prstGeom prst="rect">
            <a:avLst/>
          </a:prstGeom>
          <a:noFill/>
        </p:spPr>
        <p:txBody>
          <a:bodyPr wrap="square" anchor="t" lIns="45720" rIns="45720">
            <a:spAutoFit/>
          </a:bodyPr>
          <a:lstStyle/>
          <a:p>
            <a:pPr algn="l">
              <a:spcAft>
                <a:spcPts val="0"/>
              </a:spcAft>
            </a:pPr>
            <a:r>
              <a:rPr sz="1300" b="0" i="0">
                <a:solidFill>
                  <a:srgbClr val="5F6B7A"/>
                </a:solidFill>
                <a:latin typeface="Calibri"/>
              </a:rPr>
              <a:t>intersectionTime with plain floats: no temporary Vector, no dot/__sub__ calls</a:t>
            </a:r>
          </a:p>
        </p:txBody>
      </p:sp>
      <p:sp>
        <p:nvSpPr>
          <p:cNvPr id="13" name="TextBox 12"/>
          <p:cNvSpPr txBox="1"/>
          <p:nvPr/>
        </p:nvSpPr>
        <p:spPr>
          <a:xfrm>
            <a:off x="4572000" y="3017520"/>
            <a:ext cx="1371600" cy="731520"/>
          </a:xfrm>
          <a:prstGeom prst="rect">
            <a:avLst/>
          </a:prstGeom>
          <a:noFill/>
        </p:spPr>
        <p:txBody>
          <a:bodyPr wrap="square" anchor="ctr" lIns="45720" rIns="45720">
            <a:spAutoFit/>
          </a:bodyPr>
          <a:lstStyle/>
          <a:p>
            <a:pPr algn="r">
              <a:spcAft>
                <a:spcPts val="0"/>
              </a:spcAft>
            </a:pPr>
            <a:r>
              <a:rPr sz="2600" b="1" i="0">
                <a:solidFill>
                  <a:srgbClr val="1C9A86"/>
                </a:solidFill>
                <a:latin typeface="Cambria"/>
              </a:rPr>
              <a:t>1.34x</a:t>
            </a:r>
          </a:p>
        </p:txBody>
      </p:sp>
      <p:sp>
        <p:nvSpPr>
          <p:cNvPr id="14" name="Rounded Rectangle 13"/>
          <p:cNvSpPr/>
          <p:nvPr/>
        </p:nvSpPr>
        <p:spPr>
          <a:xfrm>
            <a:off x="640080" y="4069080"/>
            <a:ext cx="5394960" cy="100584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160520"/>
            <a:ext cx="3291840" cy="411480"/>
          </a:xfrm>
          <a:prstGeom prst="rect">
            <a:avLst/>
          </a:prstGeom>
          <a:noFill/>
        </p:spPr>
        <p:txBody>
          <a:bodyPr wrap="square" anchor="t" lIns="45720" rIns="45720">
            <a:spAutoFit/>
          </a:bodyPr>
          <a:lstStyle/>
          <a:p>
            <a:pPr algn="l">
              <a:spcAft>
                <a:spcPts val="0"/>
              </a:spcAft>
            </a:pPr>
            <a:r>
              <a:rPr sz="1700" b="1" i="0">
                <a:solidFill>
                  <a:srgbClr val="1E2A38"/>
                </a:solidFill>
                <a:latin typeface="Courier New"/>
              </a:rPr>
              <a:t>slots</a:t>
            </a:r>
          </a:p>
        </p:txBody>
      </p:sp>
      <p:sp>
        <p:nvSpPr>
          <p:cNvPr id="16" name="TextBox 15"/>
          <p:cNvSpPr txBox="1"/>
          <p:nvPr/>
        </p:nvSpPr>
        <p:spPr>
          <a:xfrm>
            <a:off x="868680" y="4544568"/>
            <a:ext cx="3931920" cy="502920"/>
          </a:xfrm>
          <a:prstGeom prst="rect">
            <a:avLst/>
          </a:prstGeom>
          <a:noFill/>
        </p:spPr>
        <p:txBody>
          <a:bodyPr wrap="square" anchor="t" lIns="45720" rIns="45720">
            <a:spAutoFit/>
          </a:bodyPr>
          <a:lstStyle/>
          <a:p>
            <a:pPr algn="l">
              <a:spcAft>
                <a:spcPts val="0"/>
              </a:spcAft>
            </a:pPr>
            <a:r>
              <a:rPr sz="1300" b="0" i="0">
                <a:solidFill>
                  <a:srgbClr val="5F6B7A"/>
                </a:solidFill>
                <a:latin typeface="Calibri"/>
              </a:rPr>
              <a:t>__slots__ = ('x','y','z'): no per-object dictionary</a:t>
            </a:r>
          </a:p>
        </p:txBody>
      </p:sp>
      <p:sp>
        <p:nvSpPr>
          <p:cNvPr id="17" name="TextBox 16"/>
          <p:cNvSpPr txBox="1"/>
          <p:nvPr/>
        </p:nvSpPr>
        <p:spPr>
          <a:xfrm>
            <a:off x="4572000" y="4206240"/>
            <a:ext cx="1371600" cy="731520"/>
          </a:xfrm>
          <a:prstGeom prst="rect">
            <a:avLst/>
          </a:prstGeom>
          <a:noFill/>
        </p:spPr>
        <p:txBody>
          <a:bodyPr wrap="square" anchor="ctr" lIns="45720" rIns="45720">
            <a:spAutoFit/>
          </a:bodyPr>
          <a:lstStyle/>
          <a:p>
            <a:pPr algn="r">
              <a:spcAft>
                <a:spcPts val="0"/>
              </a:spcAft>
            </a:pPr>
            <a:r>
              <a:rPr sz="2600" b="1" i="0">
                <a:solidFill>
                  <a:srgbClr val="1C9A86"/>
                </a:solidFill>
                <a:latin typeface="Cambria"/>
              </a:rPr>
              <a:t>1.12x</a:t>
            </a:r>
          </a:p>
        </p:txBody>
      </p:sp>
      <p:sp>
        <p:nvSpPr>
          <p:cNvPr id="18" name="Rounded Rectangle 17"/>
          <p:cNvSpPr/>
          <p:nvPr/>
        </p:nvSpPr>
        <p:spPr>
          <a:xfrm>
            <a:off x="640080" y="5257800"/>
            <a:ext cx="5394960" cy="914400"/>
          </a:xfrm>
          <a:prstGeom prst="roundRect">
            <a:avLst>
              <a:gd name="adj" fmla="val 8000"/>
            </a:avLst>
          </a:prstGeom>
          <a:solidFill>
            <a:srgbClr val="15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5303520"/>
            <a:ext cx="3291840" cy="822960"/>
          </a:xfrm>
          <a:prstGeom prst="rect">
            <a:avLst/>
          </a:prstGeom>
          <a:noFill/>
        </p:spPr>
        <p:txBody>
          <a:bodyPr wrap="square" anchor="ctr" lIns="45720" rIns="45720">
            <a:spAutoFit/>
          </a:bodyPr>
          <a:lstStyle/>
          <a:p>
            <a:pPr algn="l">
              <a:spcAft>
                <a:spcPts val="0"/>
              </a:spcAft>
            </a:pPr>
            <a:r>
              <a:rPr sz="2000" b="1" i="0">
                <a:solidFill>
                  <a:srgbClr val="FFFFFF"/>
                </a:solidFill>
                <a:latin typeface="Courier New"/>
              </a:rPr>
              <a:t>combined</a:t>
            </a:r>
          </a:p>
        </p:txBody>
      </p:sp>
      <p:sp>
        <p:nvSpPr>
          <p:cNvPr id="20" name="TextBox 19"/>
          <p:cNvSpPr txBox="1"/>
          <p:nvPr/>
        </p:nvSpPr>
        <p:spPr>
          <a:xfrm>
            <a:off x="4572000" y="5303520"/>
            <a:ext cx="1371600" cy="822960"/>
          </a:xfrm>
          <a:prstGeom prst="rect">
            <a:avLst/>
          </a:prstGeom>
          <a:noFill/>
        </p:spPr>
        <p:txBody>
          <a:bodyPr wrap="square" anchor="ctr" lIns="45720" rIns="45720">
            <a:spAutoFit/>
          </a:bodyPr>
          <a:lstStyle/>
          <a:p>
            <a:pPr algn="r">
              <a:spcAft>
                <a:spcPts val="0"/>
              </a:spcAft>
            </a:pPr>
            <a:r>
              <a:rPr sz="3000" b="1" i="0">
                <a:solidFill>
                  <a:srgbClr val="D9822B"/>
                </a:solidFill>
                <a:latin typeface="Cambria"/>
              </a:rPr>
              <a:t>2.10x</a:t>
            </a:r>
          </a:p>
        </p:txBody>
      </p:sp>
      <p:graphicFrame>
        <p:nvGraphicFramePr>
          <p:cNvPr id="21" name="Chart 20"/>
          <p:cNvGraphicFramePr>
            <a:graphicFrameLocks noGrp="1"/>
          </p:cNvGraphicFramePr>
          <p:nvPr/>
        </p:nvGraphicFramePr>
        <p:xfrm>
          <a:off x="6400800" y="1554480"/>
          <a:ext cx="5303520" cy="4206240"/>
        </p:xfrm>
        <a:graphic>
          <a:graphicData uri="http://schemas.openxmlformats.org/drawingml/2006/chart">
            <c:chart xmlns:c="http://schemas.openxmlformats.org/drawingml/2006/chart" r:id="rId2"/>
          </a:graphicData>
        </a:graphic>
      </p:graphicFrame>
      <p:sp>
        <p:nvSpPr>
          <p:cNvPr id="22" name="TextBox 21"/>
          <p:cNvSpPr txBox="1"/>
          <p:nvPr/>
        </p:nvSpPr>
        <p:spPr>
          <a:xfrm>
            <a:off x="6492240" y="5806440"/>
            <a:ext cx="5212080" cy="548640"/>
          </a:xfrm>
          <a:prstGeom prst="rect">
            <a:avLst/>
          </a:prstGeom>
          <a:noFill/>
        </p:spPr>
        <p:txBody>
          <a:bodyPr wrap="square" anchor="t" lIns="45720" rIns="45720">
            <a:spAutoFit/>
          </a:bodyPr>
          <a:lstStyle/>
          <a:p>
            <a:pPr algn="l">
              <a:spcAft>
                <a:spcPts val="600"/>
              </a:spcAft>
            </a:pPr>
            <a:r>
              <a:rPr sz="1200" b="0" i="0">
                <a:solidFill>
                  <a:srgbClr val="5F6B7A"/>
                </a:solidFill>
                <a:latin typeface="Calibri"/>
              </a:rPr>
              <a:t>Savings overlap: 186 + 206 + 88 ms separately, but combined 385 ms, not 327 (fewer shadow rays also means fewer Vectors to speed up).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11480"/>
            <a:ext cx="502920" cy="50292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502920" cy="502920"/>
          </a:xfrm>
          <a:prstGeom prst="rect">
            <a:avLst/>
          </a:prstGeom>
          <a:noFill/>
        </p:spPr>
        <p:txBody>
          <a:bodyPr wrap="square" anchor="ctr" lIns="0" rIns="0" tIns="0" bIns="0">
            <a:spAutoFit/>
          </a:bodyPr>
          <a:lstStyle/>
          <a:p>
            <a:pPr algn="ctr">
              <a:spcAft>
                <a:spcPts val="0"/>
              </a:spcAft>
            </a:pPr>
            <a:r>
              <a:rPr sz="1600" b="1" i="0">
                <a:solidFill>
                  <a:srgbClr val="FFFFFF"/>
                </a:solidFill>
                <a:latin typeface="Calibri"/>
              </a:rPr>
              <a:t>4</a:t>
            </a:r>
          </a:p>
        </p:txBody>
      </p:sp>
      <p:sp>
        <p:nvSpPr>
          <p:cNvPr id="4" name="TextBox 3"/>
          <p:cNvSpPr txBox="1"/>
          <p:nvPr/>
        </p:nvSpPr>
        <p:spPr>
          <a:xfrm>
            <a:off x="1234440" y="320040"/>
            <a:ext cx="10408615" cy="731520"/>
          </a:xfrm>
          <a:prstGeom prst="rect">
            <a:avLst/>
          </a:prstGeom>
          <a:noFill/>
        </p:spPr>
        <p:txBody>
          <a:bodyPr wrap="square" anchor="ctr" lIns="45720" rIns="45720">
            <a:spAutoFit/>
          </a:bodyPr>
          <a:lstStyle/>
          <a:p>
            <a:pPr algn="l">
              <a:spcAft>
                <a:spcPts val="0"/>
              </a:spcAft>
            </a:pPr>
            <a:r>
              <a:rPr sz="3200" b="1" i="0">
                <a:solidFill>
                  <a:srgbClr val="1E2A38"/>
                </a:solidFill>
                <a:latin typeface="Cambria"/>
              </a:rPr>
              <a:t>Software results</a:t>
            </a:r>
          </a:p>
        </p:txBody>
      </p:sp>
      <p:sp>
        <p:nvSpPr>
          <p:cNvPr id="5" name="TextBox 4"/>
          <p:cNvSpPr txBox="1"/>
          <p:nvPr/>
        </p:nvSpPr>
        <p:spPr>
          <a:xfrm>
            <a:off x="1234440" y="1005840"/>
            <a:ext cx="10408615" cy="411480"/>
          </a:xfrm>
          <a:prstGeom prst="rect">
            <a:avLst/>
          </a:prstGeom>
          <a:noFill/>
        </p:spPr>
        <p:txBody>
          <a:bodyPr wrap="square" anchor="t" lIns="45720" rIns="45720">
            <a:spAutoFit/>
          </a:bodyPr>
          <a:lstStyle/>
          <a:p>
            <a:pPr algn="l">
              <a:spcAft>
                <a:spcPts val="0"/>
              </a:spcAft>
            </a:pPr>
            <a:r>
              <a:rPr sz="1600" b="0" i="0">
                <a:solidFill>
                  <a:srgbClr val="5F6B7A"/>
                </a:solidFill>
                <a:latin typeface="Calibri"/>
              </a:rPr>
              <a:t>pyperformance --rigorous, 120 samples each, same tuned session</a:t>
            </a:r>
          </a:p>
        </p:txBody>
      </p:sp>
      <p:graphicFrame>
        <p:nvGraphicFramePr>
          <p:cNvPr id="6" name="Chart 5"/>
          <p:cNvGraphicFramePr>
            <a:graphicFrameLocks noGrp="1"/>
          </p:cNvGraphicFramePr>
          <p:nvPr/>
        </p:nvGraphicFramePr>
        <p:xfrm>
          <a:off x="457200" y="1554480"/>
          <a:ext cx="6583680" cy="4480560"/>
        </p:xfrm>
        <a:graphic>
          <a:graphicData uri="http://schemas.openxmlformats.org/drawingml/2006/chart">
            <c:chart xmlns:c="http://schemas.openxmlformats.org/drawingml/2006/chart" r:id="rId2"/>
          </a:graphicData>
        </a:graphic>
      </p:graphicFrame>
      <p:sp>
        <p:nvSpPr>
          <p:cNvPr id="7" name="TextBox 6"/>
          <p:cNvSpPr txBox="1"/>
          <p:nvPr/>
        </p:nvSpPr>
        <p:spPr>
          <a:xfrm>
            <a:off x="7498079" y="1645920"/>
            <a:ext cx="2103120" cy="731520"/>
          </a:xfrm>
          <a:prstGeom prst="rect">
            <a:avLst/>
          </a:prstGeom>
          <a:noFill/>
        </p:spPr>
        <p:txBody>
          <a:bodyPr wrap="square" anchor="b" lIns="45720" rIns="45720">
            <a:spAutoFit/>
          </a:bodyPr>
          <a:lstStyle/>
          <a:p>
            <a:pPr algn="l">
              <a:spcAft>
                <a:spcPts val="0"/>
              </a:spcAft>
            </a:pPr>
            <a:r>
              <a:rPr sz="4400" b="1" i="0">
                <a:solidFill>
                  <a:srgbClr val="1C9A86"/>
                </a:solidFill>
                <a:latin typeface="Cambria"/>
              </a:rPr>
              <a:t>1.60x</a:t>
            </a:r>
          </a:p>
        </p:txBody>
      </p:sp>
      <p:sp>
        <p:nvSpPr>
          <p:cNvPr id="8" name="TextBox 7"/>
          <p:cNvSpPr txBox="1"/>
          <p:nvPr/>
        </p:nvSpPr>
        <p:spPr>
          <a:xfrm>
            <a:off x="7498079" y="2395728"/>
            <a:ext cx="2103120" cy="640080"/>
          </a:xfrm>
          <a:prstGeom prst="rect">
            <a:avLst/>
          </a:prstGeom>
          <a:noFill/>
        </p:spPr>
        <p:txBody>
          <a:bodyPr wrap="square" anchor="t" lIns="45720" rIns="45720">
            <a:spAutoFit/>
          </a:bodyPr>
          <a:lstStyle/>
          <a:p>
            <a:pPr algn="l">
              <a:spcAft>
                <a:spcPts val="0"/>
              </a:spcAft>
            </a:pPr>
            <a:r>
              <a:rPr sz="1400" b="0" i="0">
                <a:solidFill>
                  <a:srgbClr val="5F6B7A"/>
                </a:solidFill>
                <a:latin typeface="Calibri"/>
              </a:rPr>
              <a:t>nbody</a:t>
            </a:r>
            <a:br/>
            <a:r>
              <a:rPr sz="1400" b="0" i="0">
                <a:solidFill>
                  <a:srgbClr val="5F6B7A"/>
                </a:solidFill>
                <a:latin typeface="Calibri"/>
              </a:rPr>
              <a:t>37% less time</a:t>
            </a:r>
          </a:p>
        </p:txBody>
      </p:sp>
      <p:sp>
        <p:nvSpPr>
          <p:cNvPr id="9" name="TextBox 8"/>
          <p:cNvSpPr txBox="1"/>
          <p:nvPr/>
        </p:nvSpPr>
        <p:spPr>
          <a:xfrm>
            <a:off x="9601200" y="1645920"/>
            <a:ext cx="2103120" cy="731520"/>
          </a:xfrm>
          <a:prstGeom prst="rect">
            <a:avLst/>
          </a:prstGeom>
          <a:noFill/>
        </p:spPr>
        <p:txBody>
          <a:bodyPr wrap="square" anchor="b" lIns="45720" rIns="45720">
            <a:spAutoFit/>
          </a:bodyPr>
          <a:lstStyle/>
          <a:p>
            <a:pPr algn="l">
              <a:spcAft>
                <a:spcPts val="0"/>
              </a:spcAft>
            </a:pPr>
            <a:r>
              <a:rPr sz="4400" b="1" i="0">
                <a:solidFill>
                  <a:srgbClr val="1C9A86"/>
                </a:solidFill>
                <a:latin typeface="Cambria"/>
              </a:rPr>
              <a:t>2.10x</a:t>
            </a:r>
          </a:p>
        </p:txBody>
      </p:sp>
      <p:sp>
        <p:nvSpPr>
          <p:cNvPr id="10" name="TextBox 9"/>
          <p:cNvSpPr txBox="1"/>
          <p:nvPr/>
        </p:nvSpPr>
        <p:spPr>
          <a:xfrm>
            <a:off x="9601200" y="2395728"/>
            <a:ext cx="2103120" cy="640080"/>
          </a:xfrm>
          <a:prstGeom prst="rect">
            <a:avLst/>
          </a:prstGeom>
          <a:noFill/>
        </p:spPr>
        <p:txBody>
          <a:bodyPr wrap="square" anchor="t" lIns="45720" rIns="45720">
            <a:spAutoFit/>
          </a:bodyPr>
          <a:lstStyle/>
          <a:p>
            <a:pPr algn="l">
              <a:spcAft>
                <a:spcPts val="0"/>
              </a:spcAft>
            </a:pPr>
            <a:r>
              <a:rPr sz="1400" b="0" i="0">
                <a:solidFill>
                  <a:srgbClr val="5F6B7A"/>
                </a:solidFill>
                <a:latin typeface="Calibri"/>
              </a:rPr>
              <a:t>raytrace</a:t>
            </a:r>
            <a:br/>
            <a:r>
              <a:rPr sz="1400" b="0" i="0">
                <a:solidFill>
                  <a:srgbClr val="5F6B7A"/>
                </a:solidFill>
                <a:latin typeface="Calibri"/>
              </a:rPr>
              <a:t>52% less time</a:t>
            </a:r>
          </a:p>
        </p:txBody>
      </p:sp>
      <p:sp>
        <p:nvSpPr>
          <p:cNvPr id="11" name="TextBox 10"/>
          <p:cNvSpPr txBox="1"/>
          <p:nvPr/>
        </p:nvSpPr>
        <p:spPr>
          <a:xfrm>
            <a:off x="7498079" y="3383280"/>
            <a:ext cx="2103120" cy="731520"/>
          </a:xfrm>
          <a:prstGeom prst="rect">
            <a:avLst/>
          </a:prstGeom>
          <a:noFill/>
        </p:spPr>
        <p:txBody>
          <a:bodyPr wrap="square" anchor="b" lIns="45720" rIns="45720">
            <a:spAutoFit/>
          </a:bodyPr>
          <a:lstStyle/>
          <a:p>
            <a:pPr algn="l">
              <a:spcAft>
                <a:spcPts val="0"/>
              </a:spcAft>
            </a:pPr>
            <a:r>
              <a:rPr sz="4000" b="1" i="0">
                <a:solidFill>
                  <a:srgbClr val="D9822B"/>
                </a:solidFill>
                <a:latin typeface="Cambria"/>
              </a:rPr>
              <a:t>-34%</a:t>
            </a:r>
          </a:p>
        </p:txBody>
      </p:sp>
      <p:sp>
        <p:nvSpPr>
          <p:cNvPr id="12" name="TextBox 11"/>
          <p:cNvSpPr txBox="1"/>
          <p:nvPr/>
        </p:nvSpPr>
        <p:spPr>
          <a:xfrm>
            <a:off x="7498079" y="4133088"/>
            <a:ext cx="2103120" cy="640080"/>
          </a:xfrm>
          <a:prstGeom prst="rect">
            <a:avLst/>
          </a:prstGeom>
          <a:noFill/>
        </p:spPr>
        <p:txBody>
          <a:bodyPr wrap="square" anchor="t" lIns="45720" rIns="45720">
            <a:spAutoFit/>
          </a:bodyPr>
          <a:lstStyle/>
          <a:p>
            <a:pPr algn="l">
              <a:spcAft>
                <a:spcPts val="0"/>
              </a:spcAft>
            </a:pPr>
            <a:r>
              <a:rPr sz="1400" b="0" i="0">
                <a:solidFill>
                  <a:srgbClr val="5F6B7A"/>
                </a:solidFill>
                <a:latin typeface="Calibri"/>
              </a:rPr>
              <a:t>nbody</a:t>
            </a:r>
            <a:br/>
            <a:r>
              <a:rPr sz="1400" b="0" i="0">
                <a:solidFill>
                  <a:srgbClr val="5F6B7A"/>
                </a:solidFill>
                <a:latin typeface="Calibri"/>
              </a:rPr>
              <a:t>instructions</a:t>
            </a:r>
          </a:p>
        </p:txBody>
      </p:sp>
      <p:sp>
        <p:nvSpPr>
          <p:cNvPr id="13" name="TextBox 12"/>
          <p:cNvSpPr txBox="1"/>
          <p:nvPr/>
        </p:nvSpPr>
        <p:spPr>
          <a:xfrm>
            <a:off x="9601200" y="3383280"/>
            <a:ext cx="2103120" cy="731520"/>
          </a:xfrm>
          <a:prstGeom prst="rect">
            <a:avLst/>
          </a:prstGeom>
          <a:noFill/>
        </p:spPr>
        <p:txBody>
          <a:bodyPr wrap="square" anchor="b" lIns="45720" rIns="45720">
            <a:spAutoFit/>
          </a:bodyPr>
          <a:lstStyle/>
          <a:p>
            <a:pPr algn="l">
              <a:spcAft>
                <a:spcPts val="0"/>
              </a:spcAft>
            </a:pPr>
            <a:r>
              <a:rPr sz="4000" b="1" i="0">
                <a:solidFill>
                  <a:srgbClr val="D9822B"/>
                </a:solidFill>
                <a:latin typeface="Cambria"/>
              </a:rPr>
              <a:t>-52%</a:t>
            </a:r>
          </a:p>
        </p:txBody>
      </p:sp>
      <p:sp>
        <p:nvSpPr>
          <p:cNvPr id="14" name="TextBox 13"/>
          <p:cNvSpPr txBox="1"/>
          <p:nvPr/>
        </p:nvSpPr>
        <p:spPr>
          <a:xfrm>
            <a:off x="9601200" y="4133088"/>
            <a:ext cx="2103120" cy="640080"/>
          </a:xfrm>
          <a:prstGeom prst="rect">
            <a:avLst/>
          </a:prstGeom>
          <a:noFill/>
        </p:spPr>
        <p:txBody>
          <a:bodyPr wrap="square" anchor="t" lIns="45720" rIns="45720">
            <a:spAutoFit/>
          </a:bodyPr>
          <a:lstStyle/>
          <a:p>
            <a:pPr algn="l">
              <a:spcAft>
                <a:spcPts val="0"/>
              </a:spcAft>
            </a:pPr>
            <a:r>
              <a:rPr sz="1400" b="0" i="0">
                <a:solidFill>
                  <a:srgbClr val="5F6B7A"/>
                </a:solidFill>
                <a:latin typeface="Calibri"/>
              </a:rPr>
              <a:t>raytrace</a:t>
            </a:r>
            <a:br/>
            <a:r>
              <a:rPr sz="1400" b="0" i="0">
                <a:solidFill>
                  <a:srgbClr val="5F6B7A"/>
                </a:solidFill>
                <a:latin typeface="Calibri"/>
              </a:rPr>
              <a:t>instructions</a:t>
            </a:r>
          </a:p>
        </p:txBody>
      </p:sp>
      <p:sp>
        <p:nvSpPr>
          <p:cNvPr id="15" name="Rounded Rectangle 14"/>
          <p:cNvSpPr/>
          <p:nvPr/>
        </p:nvSpPr>
        <p:spPr>
          <a:xfrm>
            <a:off x="7498079" y="5166360"/>
            <a:ext cx="4114800" cy="91440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79" y="5166360"/>
            <a:ext cx="4114800" cy="914400"/>
          </a:xfrm>
          <a:prstGeom prst="rect">
            <a:avLst/>
          </a:prstGeom>
          <a:noFill/>
        </p:spPr>
        <p:txBody>
          <a:bodyPr wrap="square" anchor="ctr" lIns="73152" rIns="73152" tIns="73152" bIns="73152">
            <a:spAutoFit/>
          </a:bodyPr>
          <a:lstStyle/>
          <a:p>
            <a:pPr algn="l">
              <a:spcAft>
                <a:spcPts val="200"/>
              </a:spcAft>
            </a:pPr>
            <a:r>
              <a:rPr sz="1500" b="0" i="0">
                <a:solidFill>
                  <a:srgbClr val="1E2A38"/>
                </a:solidFill>
                <a:latin typeface="Calibri"/>
              </a:rPr>
              <a:t>Target: 7% on two benchmarks.</a:t>
            </a:r>
            <a:br/>
            <a:r>
              <a:rPr sz="1500" b="0" i="0">
                <a:solidFill>
                  <a:srgbClr val="1E2A38"/>
                </a:solidFill>
                <a:latin typeface="Calibri"/>
              </a:rPr>
              <a:t>Both outputs bit-identical.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5202E"/>
        </a:solidFill>
        <a:effectLst/>
      </p:bgPr>
    </p:bg>
    <p:spTree>
      <p:nvGrpSpPr>
        <p:cNvPr id="1" name=""/>
        <p:cNvGrpSpPr/>
        <p:nvPr/>
      </p:nvGrpSpPr>
      <p:grpSpPr/>
      <p:sp>
        <p:nvSpPr>
          <p:cNvPr id="2" name="Oval 1"/>
          <p:cNvSpPr/>
          <p:nvPr/>
        </p:nvSpPr>
        <p:spPr>
          <a:xfrm>
            <a:off x="548640" y="411480"/>
            <a:ext cx="502920" cy="50292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502920" cy="502920"/>
          </a:xfrm>
          <a:prstGeom prst="rect">
            <a:avLst/>
          </a:prstGeom>
          <a:noFill/>
        </p:spPr>
        <p:txBody>
          <a:bodyPr wrap="square" anchor="ctr" lIns="0" rIns="0" tIns="0" bIns="0">
            <a:spAutoFit/>
          </a:bodyPr>
          <a:lstStyle/>
          <a:p>
            <a:pPr algn="ctr">
              <a:spcAft>
                <a:spcPts val="0"/>
              </a:spcAft>
            </a:pPr>
            <a:r>
              <a:rPr sz="1600" b="1" i="0">
                <a:solidFill>
                  <a:srgbClr val="FFFFFF"/>
                </a:solidFill>
                <a:latin typeface="Calibri"/>
              </a:rPr>
              <a:t>5</a:t>
            </a:r>
          </a:p>
        </p:txBody>
      </p:sp>
      <p:sp>
        <p:nvSpPr>
          <p:cNvPr id="4" name="TextBox 3"/>
          <p:cNvSpPr txBox="1"/>
          <p:nvPr/>
        </p:nvSpPr>
        <p:spPr>
          <a:xfrm>
            <a:off x="1234440" y="320040"/>
            <a:ext cx="10408615" cy="731520"/>
          </a:xfrm>
          <a:prstGeom prst="rect">
            <a:avLst/>
          </a:prstGeom>
          <a:noFill/>
        </p:spPr>
        <p:txBody>
          <a:bodyPr wrap="square" anchor="ctr" lIns="45720" rIns="45720">
            <a:spAutoFit/>
          </a:bodyPr>
          <a:lstStyle/>
          <a:p>
            <a:pPr algn="l">
              <a:spcAft>
                <a:spcPts val="0"/>
              </a:spcAft>
            </a:pPr>
            <a:r>
              <a:rPr sz="3200" b="1" i="0">
                <a:solidFill>
                  <a:srgbClr val="FFFFFF"/>
                </a:solidFill>
                <a:latin typeface="Cambria"/>
              </a:rPr>
              <a:t>Why a hardware accelerator, and why nbody</a:t>
            </a:r>
          </a:p>
        </p:txBody>
      </p:sp>
      <p:sp>
        <p:nvSpPr>
          <p:cNvPr id="5" name="TextBox 4"/>
          <p:cNvSpPr txBox="1"/>
          <p:nvPr/>
        </p:nvSpPr>
        <p:spPr>
          <a:xfrm>
            <a:off x="1234440" y="1005840"/>
            <a:ext cx="10408615" cy="411480"/>
          </a:xfrm>
          <a:prstGeom prst="rect">
            <a:avLst/>
          </a:prstGeom>
          <a:noFill/>
        </p:spPr>
        <p:txBody>
          <a:bodyPr wrap="square" anchor="t" lIns="45720" rIns="45720">
            <a:spAutoFit/>
          </a:bodyPr>
          <a:lstStyle/>
          <a:p>
            <a:pPr algn="l">
              <a:spcAft>
                <a:spcPts val="0"/>
              </a:spcAft>
            </a:pPr>
            <a:r>
              <a:rPr sz="1600" b="0" i="0">
                <a:solidFill>
                  <a:srgbClr val="B8C4D2"/>
                </a:solidFill>
                <a:latin typeface="Calibri"/>
              </a:rPr>
              <a:t>What is left after the software fix cannot be removed in Python</a:t>
            </a:r>
          </a:p>
        </p:txBody>
      </p:sp>
      <p:sp>
        <p:nvSpPr>
          <p:cNvPr id="6" name="TextBox 5"/>
          <p:cNvSpPr txBox="1"/>
          <p:nvPr/>
        </p:nvSpPr>
        <p:spPr>
          <a:xfrm>
            <a:off x="731520" y="1737360"/>
            <a:ext cx="3383280" cy="731520"/>
          </a:xfrm>
          <a:prstGeom prst="rect">
            <a:avLst/>
          </a:prstGeom>
          <a:noFill/>
        </p:spPr>
        <p:txBody>
          <a:bodyPr wrap="square" anchor="b" lIns="45720" rIns="45720">
            <a:spAutoFit/>
          </a:bodyPr>
          <a:lstStyle/>
          <a:p>
            <a:pPr algn="l">
              <a:spcAft>
                <a:spcPts val="0"/>
              </a:spcAft>
            </a:pPr>
            <a:r>
              <a:rPr sz="5200" b="1" i="0">
                <a:solidFill>
                  <a:srgbClr val="D9822B"/>
                </a:solidFill>
                <a:latin typeface="Cambria"/>
              </a:rPr>
              <a:t>~100%</a:t>
            </a:r>
          </a:p>
        </p:txBody>
      </p:sp>
      <p:sp>
        <p:nvSpPr>
          <p:cNvPr id="7" name="TextBox 6"/>
          <p:cNvSpPr txBox="1"/>
          <p:nvPr/>
        </p:nvSpPr>
        <p:spPr>
          <a:xfrm>
            <a:off x="731520" y="2487168"/>
            <a:ext cx="3383280" cy="640080"/>
          </a:xfrm>
          <a:prstGeom prst="rect">
            <a:avLst/>
          </a:prstGeom>
          <a:noFill/>
        </p:spPr>
        <p:txBody>
          <a:bodyPr wrap="square" anchor="t" lIns="45720" rIns="45720">
            <a:spAutoFit/>
          </a:bodyPr>
          <a:lstStyle/>
          <a:p>
            <a:pPr algn="l">
              <a:spcAft>
                <a:spcPts val="0"/>
              </a:spcAft>
            </a:pPr>
            <a:r>
              <a:rPr sz="1500" b="0" i="0">
                <a:solidFill>
                  <a:srgbClr val="C9D3DE"/>
                </a:solidFill>
                <a:latin typeface="Calibri"/>
              </a:rPr>
              <a:t>of nbody's time is one loop,</a:t>
            </a:r>
            <a:br/>
            <a:r>
              <a:rPr sz="1500" b="0" i="0">
                <a:solidFill>
                  <a:srgbClr val="C9D3DE"/>
                </a:solidFill>
                <a:latin typeface="Calibri"/>
              </a:rPr>
              <a:t>advance(): Amdahl is on our side</a:t>
            </a:r>
          </a:p>
        </p:txBody>
      </p:sp>
      <p:sp>
        <p:nvSpPr>
          <p:cNvPr id="8" name="TextBox 7"/>
          <p:cNvSpPr txBox="1"/>
          <p:nvPr/>
        </p:nvSpPr>
        <p:spPr>
          <a:xfrm>
            <a:off x="4389120" y="1737360"/>
            <a:ext cx="3383280" cy="731520"/>
          </a:xfrm>
          <a:prstGeom prst="rect">
            <a:avLst/>
          </a:prstGeom>
          <a:noFill/>
        </p:spPr>
        <p:txBody>
          <a:bodyPr wrap="square" anchor="b" lIns="45720" rIns="45720">
            <a:spAutoFit/>
          </a:bodyPr>
          <a:lstStyle/>
          <a:p>
            <a:pPr algn="l">
              <a:spcAft>
                <a:spcPts val="0"/>
              </a:spcAft>
            </a:pPr>
            <a:r>
              <a:rPr sz="5200" b="1" i="0">
                <a:solidFill>
                  <a:srgbClr val="D9822B"/>
                </a:solidFill>
                <a:latin typeface="Cambria"/>
              </a:rPr>
              <a:t>51%</a:t>
            </a:r>
          </a:p>
        </p:txBody>
      </p:sp>
      <p:sp>
        <p:nvSpPr>
          <p:cNvPr id="9" name="TextBox 8"/>
          <p:cNvSpPr txBox="1"/>
          <p:nvPr/>
        </p:nvSpPr>
        <p:spPr>
          <a:xfrm>
            <a:off x="4389120" y="2487168"/>
            <a:ext cx="3383280" cy="640080"/>
          </a:xfrm>
          <a:prstGeom prst="rect">
            <a:avLst/>
          </a:prstGeom>
          <a:noFill/>
        </p:spPr>
        <p:txBody>
          <a:bodyPr wrap="square" anchor="t" lIns="45720" rIns="45720">
            <a:spAutoFit/>
          </a:bodyPr>
          <a:lstStyle/>
          <a:p>
            <a:pPr algn="l">
              <a:spcAft>
                <a:spcPts val="0"/>
              </a:spcAft>
            </a:pPr>
            <a:r>
              <a:rPr sz="1500" b="0" i="0">
                <a:solidFill>
                  <a:srgbClr val="C9D3DE"/>
                </a:solidFill>
                <a:latin typeface="Calibri"/>
              </a:rPr>
              <a:t>of the optimized code is float</a:t>
            </a:r>
            <a:br/>
            <a:r>
              <a:rPr sz="1500" b="0" i="0">
                <a:solidFill>
                  <a:srgbClr val="C9D3DE"/>
                </a:solidFill>
                <a:latin typeface="Calibri"/>
              </a:rPr>
              <a:t>arithmetic + float objects:</a:t>
            </a:r>
            <a:br/>
            <a:r>
              <a:rPr sz="1500" b="0" i="0">
                <a:solidFill>
                  <a:srgbClr val="C9D3DE"/>
                </a:solidFill>
                <a:latin typeface="Calibri"/>
              </a:rPr>
              <a:t>only hardware removes that</a:t>
            </a:r>
          </a:p>
        </p:txBody>
      </p:sp>
      <p:sp>
        <p:nvSpPr>
          <p:cNvPr id="10" name="TextBox 9"/>
          <p:cNvSpPr txBox="1"/>
          <p:nvPr/>
        </p:nvSpPr>
        <p:spPr>
          <a:xfrm>
            <a:off x="8046720" y="1737360"/>
            <a:ext cx="3383280" cy="731520"/>
          </a:xfrm>
          <a:prstGeom prst="rect">
            <a:avLst/>
          </a:prstGeom>
          <a:noFill/>
        </p:spPr>
        <p:txBody>
          <a:bodyPr wrap="square" anchor="b" lIns="45720" rIns="45720">
            <a:spAutoFit/>
          </a:bodyPr>
          <a:lstStyle/>
          <a:p>
            <a:pPr algn="l">
              <a:spcAft>
                <a:spcPts val="0"/>
              </a:spcAft>
            </a:pPr>
            <a:r>
              <a:rPr sz="5200" b="1" i="0">
                <a:solidFill>
                  <a:srgbClr val="D9822B"/>
                </a:solidFill>
                <a:latin typeface="Cambria"/>
              </a:rPr>
              <a:t>280 B</a:t>
            </a:r>
          </a:p>
        </p:txBody>
      </p:sp>
      <p:sp>
        <p:nvSpPr>
          <p:cNvPr id="11" name="TextBox 10"/>
          <p:cNvSpPr txBox="1"/>
          <p:nvPr/>
        </p:nvSpPr>
        <p:spPr>
          <a:xfrm>
            <a:off x="8046720" y="2487168"/>
            <a:ext cx="3383280" cy="640080"/>
          </a:xfrm>
          <a:prstGeom prst="rect">
            <a:avLst/>
          </a:prstGeom>
          <a:noFill/>
        </p:spPr>
        <p:txBody>
          <a:bodyPr wrap="square" anchor="t" lIns="45720" rIns="45720">
            <a:spAutoFit/>
          </a:bodyPr>
          <a:lstStyle/>
          <a:p>
            <a:pPr algn="l">
              <a:spcAft>
                <a:spcPts val="0"/>
              </a:spcAft>
            </a:pPr>
            <a:r>
              <a:rPr sz="1500" b="0" i="0">
                <a:solidFill>
                  <a:srgbClr val="C9D3DE"/>
                </a:solidFill>
                <a:latin typeface="Calibri"/>
              </a:rPr>
              <a:t>of state (5 bodies x 7 doubles):</a:t>
            </a:r>
            <a:br/>
            <a:r>
              <a:rPr sz="1500" b="0" i="0">
                <a:solidFill>
                  <a:srgbClr val="C9D3DE"/>
                </a:solidFill>
                <a:latin typeface="Calibri"/>
              </a:rPr>
              <a:t>one transfer in, one out</a:t>
            </a:r>
            <a:br/>
            <a:r>
              <a:rPr sz="1500" b="0" i="0">
                <a:solidFill>
                  <a:srgbClr val="C9D3DE"/>
                </a:solidFill>
                <a:latin typeface="Calibri"/>
              </a:rPr>
              <a:t>per call</a:t>
            </a:r>
          </a:p>
        </p:txBody>
      </p:sp>
      <p:sp>
        <p:nvSpPr>
          <p:cNvPr id="12" name="Rounded Rectangle 11"/>
          <p:cNvSpPr/>
          <p:nvPr/>
        </p:nvSpPr>
        <p:spPr>
          <a:xfrm>
            <a:off x="731520" y="4434840"/>
            <a:ext cx="10698480" cy="1645920"/>
          </a:xfrm>
          <a:prstGeom prst="roundRect">
            <a:avLst>
              <a:gd name="adj" fmla="val 8000"/>
            </a:avLst>
          </a:prstGeom>
          <a:solidFill>
            <a:srgbClr val="223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526280"/>
            <a:ext cx="10241280" cy="1508760"/>
          </a:xfrm>
          <a:prstGeom prst="rect">
            <a:avLst/>
          </a:prstGeom>
          <a:noFill/>
        </p:spPr>
        <p:txBody>
          <a:bodyPr wrap="square" anchor="t" lIns="45720" rIns="45720">
            <a:spAutoFit/>
          </a:bodyPr>
          <a:lstStyle/>
          <a:p>
            <a:pPr algn="l">
              <a:spcAft>
                <a:spcPts val="800"/>
              </a:spcAft>
            </a:pPr>
            <a:r>
              <a:rPr sz="1600" b="1" i="0">
                <a:solidFill>
                  <a:srgbClr val="D9822B"/>
                </a:solidFill>
                <a:latin typeface="Calibri"/>
              </a:rPr>
              <a:t>raytrace instead? </a:t>
            </a:r>
            <a:r>
              <a:rPr sz="1600" b="0" i="0">
                <a:solidFill>
                  <a:srgbClr val="E6EDF3"/>
                </a:solidFill>
                <a:latin typeface="Calibri"/>
              </a:rPr>
              <a:t>its math is only ~6% of the time; the cost is Python calls and objects. A ray-sphere unit would speed up that 6% and leave the rest in Python.</a:t>
            </a:r>
          </a:p>
          <a:p>
            <a:pPr algn="l">
              <a:spcAft>
                <a:spcPts val="800"/>
              </a:spcAft>
            </a:pPr>
            <a:r>
              <a:rPr sz="1600" b="1" i="0">
                <a:solidFill>
                  <a:srgbClr val="D9822B"/>
                </a:solidFill>
                <a:latin typeface="Calibri"/>
              </a:rPr>
              <a:t>nbody: </a:t>
            </a:r>
            <a:r>
              <a:rPr sz="1600" b="0" i="0">
                <a:solidFill>
                  <a:srgbClr val="E6EDF3"/>
                </a:solidFill>
                <a:latin typeface="Calibri"/>
              </a:rPr>
              <a:t>the whole advance() loop moves to hardware; 20000 steps run with no software in between.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11480"/>
            <a:ext cx="502920" cy="50292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502920" cy="502920"/>
          </a:xfrm>
          <a:prstGeom prst="rect">
            <a:avLst/>
          </a:prstGeom>
          <a:noFill/>
        </p:spPr>
        <p:txBody>
          <a:bodyPr wrap="square" anchor="ctr" lIns="0" rIns="0" tIns="0" bIns="0">
            <a:spAutoFit/>
          </a:bodyPr>
          <a:lstStyle/>
          <a:p>
            <a:pPr algn="ctr">
              <a:spcAft>
                <a:spcPts val="0"/>
              </a:spcAft>
            </a:pPr>
            <a:r>
              <a:rPr sz="1600" b="1" i="0">
                <a:solidFill>
                  <a:srgbClr val="FFFFFF"/>
                </a:solidFill>
                <a:latin typeface="Calibri"/>
              </a:rPr>
              <a:t>5</a:t>
            </a:r>
          </a:p>
        </p:txBody>
      </p:sp>
      <p:sp>
        <p:nvSpPr>
          <p:cNvPr id="4" name="TextBox 3"/>
          <p:cNvSpPr txBox="1"/>
          <p:nvPr/>
        </p:nvSpPr>
        <p:spPr>
          <a:xfrm>
            <a:off x="1234440" y="320040"/>
            <a:ext cx="10408615" cy="731520"/>
          </a:xfrm>
          <a:prstGeom prst="rect">
            <a:avLst/>
          </a:prstGeom>
          <a:noFill/>
        </p:spPr>
        <p:txBody>
          <a:bodyPr wrap="square" anchor="ctr" lIns="45720" rIns="45720">
            <a:spAutoFit/>
          </a:bodyPr>
          <a:lstStyle/>
          <a:p>
            <a:pPr algn="l">
              <a:spcAft>
                <a:spcPts val="0"/>
              </a:spcAft>
            </a:pPr>
            <a:r>
              <a:rPr sz="3200" b="1" i="0">
                <a:solidFill>
                  <a:srgbClr val="1E2A38"/>
                </a:solidFill>
                <a:latin typeface="Cambria"/>
              </a:rPr>
              <a:t>The accelerator in the system</a:t>
            </a:r>
          </a:p>
        </p:txBody>
      </p:sp>
      <p:sp>
        <p:nvSpPr>
          <p:cNvPr id="5" name="TextBox 4"/>
          <p:cNvSpPr txBox="1"/>
          <p:nvPr/>
        </p:nvSpPr>
        <p:spPr>
          <a:xfrm>
            <a:off x="1234440" y="1005840"/>
            <a:ext cx="10408615" cy="411480"/>
          </a:xfrm>
          <a:prstGeom prst="rect">
            <a:avLst/>
          </a:prstGeom>
          <a:noFill/>
        </p:spPr>
        <p:txBody>
          <a:bodyPr wrap="square" anchor="t" lIns="45720" rIns="45720">
            <a:spAutoFit/>
          </a:bodyPr>
          <a:lstStyle/>
          <a:p>
            <a:pPr algn="l">
              <a:spcAft>
                <a:spcPts val="0"/>
              </a:spcAft>
            </a:pPr>
            <a:r>
              <a:rPr sz="1600" b="0" i="0">
                <a:solidFill>
                  <a:srgbClr val="5F6B7A"/>
                </a:solidFill>
                <a:latin typeface="Calibri"/>
              </a:rPr>
              <a:t>FPGA card on PCIe, 100 MHz, IEEE-754 double precision like Python</a:t>
            </a:r>
          </a:p>
        </p:txBody>
      </p:sp>
      <p:sp>
        <p:nvSpPr>
          <p:cNvPr id="6" name="Rounded Rectangle 5"/>
          <p:cNvSpPr/>
          <p:nvPr/>
        </p:nvSpPr>
        <p:spPr>
          <a:xfrm>
            <a:off x="548640" y="1600200"/>
            <a:ext cx="3749039" cy="4572000"/>
          </a:xfrm>
          <a:prstGeom prst="roundRect">
            <a:avLst>
              <a:gd name="adj" fmla="val 8000"/>
            </a:avLst>
          </a:prstGeom>
          <a:solidFill>
            <a:srgbClr val="E7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91640"/>
            <a:ext cx="3383280" cy="365760"/>
          </a:xfrm>
          <a:prstGeom prst="rect">
            <a:avLst/>
          </a:prstGeom>
          <a:noFill/>
        </p:spPr>
        <p:txBody>
          <a:bodyPr wrap="square" anchor="t" lIns="45720" rIns="45720">
            <a:spAutoFit/>
          </a:bodyPr>
          <a:lstStyle/>
          <a:p>
            <a:pPr algn="l">
              <a:spcAft>
                <a:spcPts val="600"/>
              </a:spcAft>
            </a:pPr>
            <a:r>
              <a:rPr sz="1500" b="1" i="0">
                <a:solidFill>
                  <a:srgbClr val="1E2A38"/>
                </a:solidFill>
                <a:latin typeface="Calibri"/>
              </a:rPr>
              <a:t>HOST (CPU)</a:t>
            </a:r>
          </a:p>
        </p:txBody>
      </p:sp>
      <p:sp>
        <p:nvSpPr>
          <p:cNvPr id="8" name="Rounded Rectangle 7"/>
          <p:cNvSpPr/>
          <p:nvPr/>
        </p:nvSpPr>
        <p:spPr>
          <a:xfrm>
            <a:off x="777240" y="2148840"/>
            <a:ext cx="3291840" cy="1051560"/>
          </a:xfrm>
          <a:prstGeom prst="roundRect">
            <a:avLst>
              <a:gd name="adj" fmla="val 8000"/>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48840"/>
            <a:ext cx="3291840" cy="1051560"/>
          </a:xfrm>
          <a:prstGeom prst="rect">
            <a:avLst/>
          </a:prstGeom>
          <a:noFill/>
        </p:spPr>
        <p:txBody>
          <a:bodyPr wrap="square" anchor="ctr" lIns="73152" rIns="73152" tIns="73152" bIns="73152">
            <a:spAutoFit/>
          </a:bodyPr>
          <a:lstStyle/>
          <a:p>
            <a:pPr algn="ctr">
              <a:spcAft>
                <a:spcPts val="200"/>
              </a:spcAft>
            </a:pPr>
            <a:r>
              <a:rPr sz="1400" b="1" i="0">
                <a:solidFill>
                  <a:srgbClr val="1E2A38"/>
                </a:solidFill>
                <a:latin typeface="Calibri"/>
              </a:rPr>
              <a:t>Python benchmark</a:t>
            </a:r>
          </a:p>
          <a:p>
            <a:pPr algn="ctr">
              <a:spcAft>
                <a:spcPts val="200"/>
              </a:spcAft>
            </a:pPr>
            <a:r>
              <a:rPr sz="1200" b="0" i="0">
                <a:solidFill>
                  <a:srgbClr val="5F6B7A"/>
                </a:solidFill>
                <a:latin typeface="Calibri"/>
              </a:rPr>
              <a:t>advance(dt, n) - unchanged</a:t>
            </a:r>
          </a:p>
        </p:txBody>
      </p:sp>
      <p:cxnSp>
        <p:nvCxnSpPr>
          <p:cNvPr id="10" name="Connector 9"/>
          <p:cNvCxnSpPr/>
          <p:nvPr/>
        </p:nvCxnSpPr>
        <p:spPr>
          <a:xfrm>
            <a:off x="2423160" y="3200400"/>
            <a:ext cx="0" cy="274320"/>
          </a:xfrm>
          <a:prstGeom prst="line">
            <a:avLst/>
          </a:prstGeom>
          <a:ln w="19050">
            <a:solidFill>
              <a:srgbClr val="1E2A3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77240" y="3474720"/>
            <a:ext cx="3291840" cy="1051560"/>
          </a:xfrm>
          <a:prstGeom prst="roundRect">
            <a:avLst>
              <a:gd name="adj" fmla="val 8000"/>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474720"/>
            <a:ext cx="3291840" cy="1051560"/>
          </a:xfrm>
          <a:prstGeom prst="rect">
            <a:avLst/>
          </a:prstGeom>
          <a:noFill/>
        </p:spPr>
        <p:txBody>
          <a:bodyPr wrap="square" anchor="ctr" lIns="73152" rIns="73152" tIns="73152" bIns="73152">
            <a:spAutoFit/>
          </a:bodyPr>
          <a:lstStyle/>
          <a:p>
            <a:pPr algn="ctr">
              <a:spcAft>
                <a:spcPts val="200"/>
              </a:spcAft>
            </a:pPr>
            <a:r>
              <a:rPr sz="1400" b="1" i="0">
                <a:solidFill>
                  <a:srgbClr val="1E2A38"/>
                </a:solidFill>
                <a:latin typeface="Calibri"/>
              </a:rPr>
              <a:t>nbody_accel_driver.py</a:t>
            </a:r>
          </a:p>
          <a:p>
            <a:pPr algn="ctr">
              <a:spcAft>
                <a:spcPts val="200"/>
              </a:spcAft>
            </a:pPr>
            <a:r>
              <a:rPr sz="1200" b="0" i="0">
                <a:solidFill>
                  <a:srgbClr val="5F6B7A"/>
                </a:solidFill>
                <a:latin typeface="Calibri"/>
              </a:rPr>
              <a:t>card? write regs, START, wait,</a:t>
            </a:r>
            <a:br/>
            <a:r>
              <a:rPr sz="1200" b="0" i="0">
                <a:solidFill>
                  <a:srgbClr val="5F6B7A"/>
                </a:solidFill>
                <a:latin typeface="Calibri"/>
              </a:rPr>
              <a:t>read back. No card: software</a:t>
            </a:r>
          </a:p>
        </p:txBody>
      </p:sp>
      <p:cxnSp>
        <p:nvCxnSpPr>
          <p:cNvPr id="13" name="Connector 12"/>
          <p:cNvCxnSpPr/>
          <p:nvPr/>
        </p:nvCxnSpPr>
        <p:spPr>
          <a:xfrm>
            <a:off x="2423160" y="4526279"/>
            <a:ext cx="0" cy="274321"/>
          </a:xfrm>
          <a:prstGeom prst="line">
            <a:avLst/>
          </a:prstGeom>
          <a:ln w="19050">
            <a:solidFill>
              <a:srgbClr val="1E2A3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77240" y="4800600"/>
            <a:ext cx="3291840" cy="1051560"/>
          </a:xfrm>
          <a:prstGeom prst="roundRect">
            <a:avLst>
              <a:gd name="adj" fmla="val 8000"/>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800600"/>
            <a:ext cx="3291840" cy="1051560"/>
          </a:xfrm>
          <a:prstGeom prst="rect">
            <a:avLst/>
          </a:prstGeom>
          <a:noFill/>
        </p:spPr>
        <p:txBody>
          <a:bodyPr wrap="square" anchor="ctr" lIns="73152" rIns="73152" tIns="73152" bIns="73152">
            <a:spAutoFit/>
          </a:bodyPr>
          <a:lstStyle/>
          <a:p>
            <a:pPr algn="ctr">
              <a:spcAft>
                <a:spcPts val="200"/>
              </a:spcAft>
            </a:pPr>
            <a:r>
              <a:rPr sz="1400" b="1" i="0">
                <a:solidFill>
                  <a:srgbClr val="1E2A38"/>
                </a:solidFill>
                <a:latin typeface="Calibri"/>
              </a:rPr>
              <a:t>OS: PCIe driver</a:t>
            </a:r>
          </a:p>
          <a:p>
            <a:pPr algn="ctr">
              <a:spcAft>
                <a:spcPts val="200"/>
              </a:spcAft>
            </a:pPr>
            <a:r>
              <a:rPr sz="1200" b="0" i="0">
                <a:solidFill>
                  <a:srgbClr val="5F6B7A"/>
                </a:solidFill>
                <a:latin typeface="Calibri"/>
              </a:rPr>
              <a:t>mmap BAR0, IOMMU, interrupt</a:t>
            </a:r>
          </a:p>
        </p:txBody>
      </p:sp>
      <p:cxnSp>
        <p:nvCxnSpPr>
          <p:cNvPr id="16" name="Connector 15"/>
          <p:cNvCxnSpPr/>
          <p:nvPr/>
        </p:nvCxnSpPr>
        <p:spPr>
          <a:xfrm>
            <a:off x="4297680" y="3886200"/>
            <a:ext cx="640080" cy="0"/>
          </a:xfrm>
          <a:prstGeom prst="line">
            <a:avLst/>
          </a:prstGeom>
          <a:ln w="76200">
            <a:solidFill>
              <a:srgbClr val="D9822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160520" y="3383280"/>
            <a:ext cx="914400" cy="411480"/>
          </a:xfrm>
          <a:prstGeom prst="rect">
            <a:avLst/>
          </a:prstGeom>
          <a:noFill/>
        </p:spPr>
        <p:txBody>
          <a:bodyPr wrap="square" anchor="t" lIns="45720" rIns="45720">
            <a:spAutoFit/>
          </a:bodyPr>
          <a:lstStyle/>
          <a:p>
            <a:pPr algn="ctr">
              <a:spcAft>
                <a:spcPts val="600"/>
              </a:spcAft>
            </a:pPr>
            <a:r>
              <a:rPr sz="1400" b="1" i="0">
                <a:solidFill>
                  <a:srgbClr val="D9822B"/>
                </a:solidFill>
                <a:latin typeface="Calibri"/>
              </a:rPr>
              <a:t>PCIe</a:t>
            </a:r>
          </a:p>
        </p:txBody>
      </p:sp>
      <p:sp>
        <p:nvSpPr>
          <p:cNvPr id="18" name="Rounded Rectangle 17"/>
          <p:cNvSpPr/>
          <p:nvPr/>
        </p:nvSpPr>
        <p:spPr>
          <a:xfrm>
            <a:off x="4937760" y="1600200"/>
            <a:ext cx="6675120" cy="4572000"/>
          </a:xfrm>
          <a:prstGeom prst="roundRect">
            <a:avLst>
              <a:gd name="adj" fmla="val 8000"/>
            </a:avLst>
          </a:prstGeom>
          <a:solidFill>
            <a:srgbClr val="F1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1691640"/>
            <a:ext cx="6309360" cy="365760"/>
          </a:xfrm>
          <a:prstGeom prst="rect">
            <a:avLst/>
          </a:prstGeom>
          <a:noFill/>
        </p:spPr>
        <p:txBody>
          <a:bodyPr wrap="square" anchor="t" lIns="45720" rIns="45720">
            <a:spAutoFit/>
          </a:bodyPr>
          <a:lstStyle/>
          <a:p>
            <a:pPr algn="l">
              <a:spcAft>
                <a:spcPts val="600"/>
              </a:spcAft>
            </a:pPr>
            <a:r>
              <a:rPr sz="1500" b="1" i="0">
                <a:solidFill>
                  <a:srgbClr val="1E2A38"/>
                </a:solidFill>
                <a:latin typeface="Calibri"/>
              </a:rPr>
              <a:t>ACCELERATOR CARD (FPGA)</a:t>
            </a:r>
          </a:p>
        </p:txBody>
      </p:sp>
      <p:sp>
        <p:nvSpPr>
          <p:cNvPr id="20" name="Rounded Rectangle 19"/>
          <p:cNvSpPr/>
          <p:nvPr/>
        </p:nvSpPr>
        <p:spPr>
          <a:xfrm>
            <a:off x="5166360" y="2148840"/>
            <a:ext cx="2011680" cy="1097280"/>
          </a:xfrm>
          <a:prstGeom prst="roundRect">
            <a:avLst>
              <a:gd name="adj" fmla="val 8000"/>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66360" y="2148840"/>
            <a:ext cx="2011680" cy="1097280"/>
          </a:xfrm>
          <a:prstGeom prst="rect">
            <a:avLst/>
          </a:prstGeom>
          <a:noFill/>
        </p:spPr>
        <p:txBody>
          <a:bodyPr wrap="square" anchor="ctr" lIns="73152" rIns="73152" tIns="73152" bIns="73152">
            <a:spAutoFit/>
          </a:bodyPr>
          <a:lstStyle/>
          <a:p>
            <a:pPr algn="ctr">
              <a:spcAft>
                <a:spcPts val="200"/>
              </a:spcAft>
            </a:pPr>
            <a:r>
              <a:rPr sz="1300" b="1" i="0">
                <a:solidFill>
                  <a:srgbClr val="1E2A38"/>
                </a:solidFill>
                <a:latin typeface="Calibri"/>
              </a:rPr>
              <a:t>PCIe endpoint</a:t>
            </a:r>
          </a:p>
          <a:p>
            <a:pPr algn="ctr">
              <a:spcAft>
                <a:spcPts val="200"/>
              </a:spcAft>
            </a:pPr>
            <a:r>
              <a:rPr sz="1100" b="0" i="0">
                <a:solidFill>
                  <a:srgbClr val="5F6B7A"/>
                </a:solidFill>
                <a:latin typeface="Calibri"/>
              </a:rPr>
              <a:t>MMIO: addr 16, data 64</a:t>
            </a:r>
          </a:p>
        </p:txBody>
      </p:sp>
      <p:sp>
        <p:nvSpPr>
          <p:cNvPr id="22" name="Rounded Rectangle 21"/>
          <p:cNvSpPr/>
          <p:nvPr/>
        </p:nvSpPr>
        <p:spPr>
          <a:xfrm>
            <a:off x="5166360" y="3520440"/>
            <a:ext cx="2011680" cy="1417320"/>
          </a:xfrm>
          <a:prstGeom prst="roundRect">
            <a:avLst>
              <a:gd name="adj" fmla="val 8000"/>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6360" y="3520440"/>
            <a:ext cx="2011680" cy="1417320"/>
          </a:xfrm>
          <a:prstGeom prst="rect">
            <a:avLst/>
          </a:prstGeom>
          <a:noFill/>
        </p:spPr>
        <p:txBody>
          <a:bodyPr wrap="square" anchor="ctr" lIns="73152" rIns="73152" tIns="73152" bIns="73152">
            <a:spAutoFit/>
          </a:bodyPr>
          <a:lstStyle/>
          <a:p>
            <a:pPr algn="ctr">
              <a:spcAft>
                <a:spcPts val="200"/>
              </a:spcAft>
            </a:pPr>
            <a:r>
              <a:rPr sz="1300" b="1" i="0">
                <a:solidFill>
                  <a:srgbClr val="1E2A38"/>
                </a:solidFill>
                <a:latin typeface="Calibri"/>
              </a:rPr>
              <a:t>Registers</a:t>
            </a:r>
          </a:p>
          <a:p>
            <a:pPr algn="ctr">
              <a:spcAft>
                <a:spcPts val="200"/>
              </a:spcAft>
            </a:pPr>
            <a:r>
              <a:rPr sz="1100" b="0" i="0">
                <a:solidFill>
                  <a:srgbClr val="5F6B7A"/>
                </a:solidFill>
                <a:latin typeface="Calibri"/>
              </a:rPr>
              <a:t>CTRL, STATUS, N,</a:t>
            </a:r>
            <a:br/>
            <a:r>
              <a:rPr sz="1100" b="0" i="0">
                <a:solidFill>
                  <a:srgbClr val="5F6B7A"/>
                </a:solidFill>
                <a:latin typeface="Calibri"/>
              </a:rPr>
              <a:t>STEPS, DT, CYCLES</a:t>
            </a:r>
            <a:br/>
            <a:r>
              <a:rPr sz="1100" b="0" i="0">
                <a:solidFill>
                  <a:srgbClr val="5F6B7A"/>
                </a:solidFill>
                <a:latin typeface="Calibri"/>
              </a:rPr>
              <a:t>+ body state (16)</a:t>
            </a:r>
          </a:p>
        </p:txBody>
      </p:sp>
      <p:sp>
        <p:nvSpPr>
          <p:cNvPr id="24" name="Rounded Rectangle 23"/>
          <p:cNvSpPr/>
          <p:nvPr/>
        </p:nvSpPr>
        <p:spPr>
          <a:xfrm>
            <a:off x="7543800" y="2148840"/>
            <a:ext cx="3840480" cy="1097280"/>
          </a:xfrm>
          <a:prstGeom prst="roundRect">
            <a:avLst>
              <a:gd name="adj" fmla="val 8000"/>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43800" y="2148840"/>
            <a:ext cx="3840480" cy="1097280"/>
          </a:xfrm>
          <a:prstGeom prst="rect">
            <a:avLst/>
          </a:prstGeom>
          <a:noFill/>
        </p:spPr>
        <p:txBody>
          <a:bodyPr wrap="square" anchor="ctr" lIns="73152" rIns="73152" tIns="73152" bIns="73152">
            <a:spAutoFit/>
          </a:bodyPr>
          <a:lstStyle/>
          <a:p>
            <a:pPr algn="ctr">
              <a:spcAft>
                <a:spcPts val="200"/>
              </a:spcAft>
            </a:pPr>
            <a:r>
              <a:rPr sz="1300" b="1" i="0">
                <a:solidFill>
                  <a:srgbClr val="1E2A38"/>
                </a:solidFill>
                <a:latin typeface="Calibri"/>
              </a:rPr>
              <a:t>Controller FSM</a:t>
            </a:r>
          </a:p>
          <a:p>
            <a:pPr algn="ctr">
              <a:spcAft>
                <a:spcPts val="200"/>
              </a:spcAft>
            </a:pPr>
            <a:r>
              <a:rPr sz="1100" b="0" i="0">
                <a:solidFill>
                  <a:srgbClr val="5F6B7A"/>
                </a:solidFill>
                <a:latin typeface="Calibri"/>
              </a:rPr>
              <a:t>FEED &gt; DRAIN &gt; ACC &gt; POS &gt; next step</a:t>
            </a:r>
          </a:p>
        </p:txBody>
      </p:sp>
      <p:sp>
        <p:nvSpPr>
          <p:cNvPr id="26" name="Rounded Rectangle 25"/>
          <p:cNvSpPr/>
          <p:nvPr/>
        </p:nvSpPr>
        <p:spPr>
          <a:xfrm>
            <a:off x="7543800" y="3520440"/>
            <a:ext cx="3840480" cy="1097280"/>
          </a:xfrm>
          <a:prstGeom prst="roundRect">
            <a:avLst>
              <a:gd name="adj" fmla="val 8000"/>
            </a:avLst>
          </a:prstGeom>
          <a:solidFill>
            <a:srgbClr val="15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43800" y="3520440"/>
            <a:ext cx="3840480" cy="1097280"/>
          </a:xfrm>
          <a:prstGeom prst="rect">
            <a:avLst/>
          </a:prstGeom>
          <a:noFill/>
        </p:spPr>
        <p:txBody>
          <a:bodyPr wrap="square" anchor="ctr" lIns="73152" rIns="73152" tIns="73152" bIns="73152">
            <a:spAutoFit/>
          </a:bodyPr>
          <a:lstStyle/>
          <a:p>
            <a:pPr algn="ctr">
              <a:spcAft>
                <a:spcPts val="200"/>
              </a:spcAft>
            </a:pPr>
            <a:r>
              <a:rPr sz="1300" b="1" i="0">
                <a:solidFill>
                  <a:srgbClr val="FFFFFF"/>
                </a:solidFill>
                <a:latin typeface="Calibri"/>
              </a:rPr>
              <a:t>Pair force pipeline</a:t>
            </a:r>
          </a:p>
          <a:p>
            <a:pPr algn="ctr">
              <a:spcAft>
                <a:spcPts val="200"/>
              </a:spcAft>
            </a:pPr>
            <a:r>
              <a:rPr sz="1100" b="0" i="0">
                <a:solidFill>
                  <a:srgbClr val="D8E0EA"/>
                </a:solidFill>
                <a:latin typeface="Calibri"/>
              </a:rPr>
              <a:t>81 cycles, 1 new pair per cycle</a:t>
            </a:r>
          </a:p>
        </p:txBody>
      </p:sp>
      <p:sp>
        <p:nvSpPr>
          <p:cNvPr id="28" name="Rounded Rectangle 27"/>
          <p:cNvSpPr/>
          <p:nvPr/>
        </p:nvSpPr>
        <p:spPr>
          <a:xfrm>
            <a:off x="7543800" y="4846320"/>
            <a:ext cx="3840480" cy="1097280"/>
          </a:xfrm>
          <a:prstGeom prst="roundRect">
            <a:avLst>
              <a:gd name="adj" fmla="val 8000"/>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43800" y="4846320"/>
            <a:ext cx="3840480" cy="1097280"/>
          </a:xfrm>
          <a:prstGeom prst="rect">
            <a:avLst/>
          </a:prstGeom>
          <a:noFill/>
        </p:spPr>
        <p:txBody>
          <a:bodyPr wrap="square" anchor="ctr" lIns="73152" rIns="73152" tIns="73152" bIns="73152">
            <a:spAutoFit/>
          </a:bodyPr>
          <a:lstStyle/>
          <a:p>
            <a:pPr algn="ctr">
              <a:spcAft>
                <a:spcPts val="200"/>
              </a:spcAft>
            </a:pPr>
            <a:r>
              <a:rPr sz="1300" b="1" i="0">
                <a:solidFill>
                  <a:srgbClr val="1E2A38"/>
                </a:solidFill>
                <a:latin typeface="Calibri"/>
              </a:rPr>
              <a:t>Accumulator + position update</a:t>
            </a:r>
          </a:p>
          <a:p>
            <a:pPr algn="ctr">
              <a:spcAft>
                <a:spcPts val="200"/>
              </a:spcAft>
            </a:pPr>
            <a:r>
              <a:rPr sz="1100" b="0" i="0">
                <a:solidFill>
                  <a:srgbClr val="5F6B7A"/>
                </a:solidFill>
                <a:latin typeface="Calibri"/>
              </a:rPr>
              <a:t>6 adders (pair order) · 3 mul + 3 add</a:t>
            </a:r>
          </a:p>
        </p:txBody>
      </p:sp>
      <p:cxnSp>
        <p:nvCxnSpPr>
          <p:cNvPr id="30" name="Connector 29"/>
          <p:cNvCxnSpPr/>
          <p:nvPr/>
        </p:nvCxnSpPr>
        <p:spPr>
          <a:xfrm>
            <a:off x="6172200" y="3246120"/>
            <a:ext cx="0" cy="274320"/>
          </a:xfrm>
          <a:prstGeom prst="line">
            <a:avLst/>
          </a:prstGeom>
          <a:ln w="19050">
            <a:solidFill>
              <a:srgbClr val="1E2A3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178040" y="2697480"/>
            <a:ext cx="365760" cy="0"/>
          </a:xfrm>
          <a:prstGeom prst="line">
            <a:avLst/>
          </a:prstGeom>
          <a:ln w="19050">
            <a:solidFill>
              <a:srgbClr val="1E2A3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178040" y="4069080"/>
            <a:ext cx="365760" cy="0"/>
          </a:xfrm>
          <a:prstGeom prst="line">
            <a:avLst/>
          </a:prstGeom>
          <a:ln w="19050">
            <a:solidFill>
              <a:srgbClr val="1E2A3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464040" y="4617720"/>
            <a:ext cx="0" cy="228600"/>
          </a:xfrm>
          <a:prstGeom prst="line">
            <a:avLst/>
          </a:prstGeom>
          <a:ln w="19050">
            <a:solidFill>
              <a:srgbClr val="1E2A3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7178040" y="4663440"/>
            <a:ext cx="365760" cy="731520"/>
          </a:xfrm>
          <a:prstGeom prst="line">
            <a:avLst/>
          </a:prstGeom>
          <a:ln w="19050">
            <a:solidFill>
              <a:srgbClr val="1E2A3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166360" y="5212080"/>
            <a:ext cx="2194560" cy="822960"/>
          </a:xfrm>
          <a:prstGeom prst="rect">
            <a:avLst/>
          </a:prstGeom>
          <a:noFill/>
        </p:spPr>
        <p:txBody>
          <a:bodyPr wrap="square" anchor="t" lIns="45720" rIns="45720">
            <a:spAutoFit/>
          </a:bodyPr>
          <a:lstStyle/>
          <a:p>
            <a:pPr algn="l">
              <a:spcAft>
                <a:spcPts val="600"/>
              </a:spcAft>
            </a:pPr>
            <a:r>
              <a:rPr sz="1100" b="0" i="0">
                <a:solidFill>
                  <a:srgbClr val="5F6B7A"/>
                </a:solidFill>
                <a:latin typeface="Calibri"/>
              </a:rPr>
              <a:t>irq_done -&gt; host</a:t>
            </a:r>
            <a:br/>
            <a:r>
              <a:rPr sz="1100" b="0" i="0">
                <a:solidFill>
                  <a:srgbClr val="5F6B7A"/>
                </a:solidFill>
                <a:latin typeface="Calibri"/>
              </a:rPr>
              <a:t>when all steps are done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11480"/>
            <a:ext cx="502920" cy="50292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502920" cy="502920"/>
          </a:xfrm>
          <a:prstGeom prst="rect">
            <a:avLst/>
          </a:prstGeom>
          <a:noFill/>
        </p:spPr>
        <p:txBody>
          <a:bodyPr wrap="square" anchor="ctr" lIns="0" rIns="0" tIns="0" bIns="0">
            <a:spAutoFit/>
          </a:bodyPr>
          <a:lstStyle/>
          <a:p>
            <a:pPr algn="ctr">
              <a:spcAft>
                <a:spcPts val="0"/>
              </a:spcAft>
            </a:pPr>
            <a:r>
              <a:rPr sz="1600" b="1" i="0">
                <a:solidFill>
                  <a:srgbClr val="FFFFFF"/>
                </a:solidFill>
                <a:latin typeface="Calibri"/>
              </a:rPr>
              <a:t>5</a:t>
            </a:r>
          </a:p>
        </p:txBody>
      </p:sp>
      <p:sp>
        <p:nvSpPr>
          <p:cNvPr id="4" name="TextBox 3"/>
          <p:cNvSpPr txBox="1"/>
          <p:nvPr/>
        </p:nvSpPr>
        <p:spPr>
          <a:xfrm>
            <a:off x="1234440" y="320040"/>
            <a:ext cx="10408615" cy="731520"/>
          </a:xfrm>
          <a:prstGeom prst="rect">
            <a:avLst/>
          </a:prstGeom>
          <a:noFill/>
        </p:spPr>
        <p:txBody>
          <a:bodyPr wrap="square" anchor="ctr" lIns="45720" rIns="45720">
            <a:spAutoFit/>
          </a:bodyPr>
          <a:lstStyle/>
          <a:p>
            <a:pPr algn="l">
              <a:spcAft>
                <a:spcPts val="0"/>
              </a:spcAft>
            </a:pPr>
            <a:r>
              <a:rPr sz="3200" b="1" i="0">
                <a:solidFill>
                  <a:srgbClr val="1E2A38"/>
                </a:solidFill>
                <a:latin typeface="Cambria"/>
              </a:rPr>
              <a:t>Inside: pair force pipeline and control</a:t>
            </a:r>
          </a:p>
        </p:txBody>
      </p:sp>
      <p:sp>
        <p:nvSpPr>
          <p:cNvPr id="5" name="TextBox 4"/>
          <p:cNvSpPr txBox="1"/>
          <p:nvPr/>
        </p:nvSpPr>
        <p:spPr>
          <a:xfrm>
            <a:off x="1234440" y="1005840"/>
            <a:ext cx="10408615" cy="411480"/>
          </a:xfrm>
          <a:prstGeom prst="rect">
            <a:avLst/>
          </a:prstGeom>
          <a:noFill/>
        </p:spPr>
        <p:txBody>
          <a:bodyPr wrap="square" anchor="t" lIns="45720" rIns="45720">
            <a:spAutoFit/>
          </a:bodyPr>
          <a:lstStyle/>
          <a:p>
            <a:pPr algn="l">
              <a:spcAft>
                <a:spcPts val="0"/>
              </a:spcAft>
            </a:pPr>
            <a:r>
              <a:rPr sz="1600" b="0" i="0">
                <a:solidFill>
                  <a:srgbClr val="5F6B7A"/>
                </a:solidFill>
                <a:latin typeface="Calibri"/>
              </a:rPr>
              <a:t>Pairs are independent within a step (forces depend only on positions)</a:t>
            </a:r>
          </a:p>
        </p:txBody>
      </p:sp>
      <p:sp>
        <p:nvSpPr>
          <p:cNvPr id="6" name="Rounded Rectangle 5"/>
          <p:cNvSpPr/>
          <p:nvPr/>
        </p:nvSpPr>
        <p:spPr>
          <a:xfrm>
            <a:off x="548640" y="1691640"/>
            <a:ext cx="841248" cy="1325880"/>
          </a:xfrm>
          <a:prstGeom prst="roundRect">
            <a:avLst>
              <a:gd name="adj" fmla="val 8000"/>
            </a:avLst>
          </a:prstGeom>
          <a:solidFill>
            <a:srgbClr val="15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91640"/>
            <a:ext cx="841248" cy="1325880"/>
          </a:xfrm>
          <a:prstGeom prst="rect">
            <a:avLst/>
          </a:prstGeom>
          <a:noFill/>
        </p:spPr>
        <p:txBody>
          <a:bodyPr wrap="square" anchor="ctr" lIns="73152" rIns="73152" tIns="73152" bIns="73152">
            <a:spAutoFit/>
          </a:bodyPr>
          <a:lstStyle/>
          <a:p>
            <a:pPr algn="ctr">
              <a:spcAft>
                <a:spcPts val="200"/>
              </a:spcAft>
            </a:pPr>
            <a:r>
              <a:rPr sz="1400" b="1" i="0">
                <a:solidFill>
                  <a:srgbClr val="FFFFFF"/>
                </a:solidFill>
                <a:latin typeface="Calibri"/>
              </a:rPr>
              <a:t>S1</a:t>
            </a:r>
          </a:p>
          <a:p>
            <a:pPr algn="ctr">
              <a:spcAft>
                <a:spcPts val="200"/>
              </a:spcAft>
            </a:pPr>
            <a:r>
              <a:rPr sz="1200" b="0" i="0">
                <a:solidFill>
                  <a:srgbClr val="FFFFFF"/>
                </a:solidFill>
                <a:latin typeface="Calibri"/>
              </a:rPr>
              <a:t>dx,dy,dz</a:t>
            </a:r>
          </a:p>
          <a:p>
            <a:pPr algn="ctr">
              <a:spcAft>
                <a:spcPts val="200"/>
              </a:spcAft>
            </a:pPr>
            <a:r>
              <a:rPr sz="1100" b="0" i="0">
                <a:solidFill>
                  <a:srgbClr val="D8E0EA"/>
                </a:solidFill>
                <a:latin typeface="Calibri"/>
              </a:rPr>
              <a:t>3 add</a:t>
            </a:r>
          </a:p>
          <a:p>
            <a:pPr algn="ctr">
              <a:spcAft>
                <a:spcPts val="200"/>
              </a:spcAft>
            </a:pPr>
            <a:r>
              <a:rPr sz="1100" b="0" i="0">
                <a:solidFill>
                  <a:srgbClr val="D8E0EA"/>
                </a:solidFill>
                <a:latin typeface="Calibri"/>
              </a:rPr>
              <a:t>3 cycles</a:t>
            </a:r>
          </a:p>
        </p:txBody>
      </p:sp>
      <p:sp>
        <p:nvSpPr>
          <p:cNvPr id="8" name="Rounded Rectangle 7"/>
          <p:cNvSpPr/>
          <p:nvPr/>
        </p:nvSpPr>
        <p:spPr>
          <a:xfrm>
            <a:off x="1463040" y="1691640"/>
            <a:ext cx="841248" cy="1325880"/>
          </a:xfrm>
          <a:prstGeom prst="roundRect">
            <a:avLst>
              <a:gd name="adj" fmla="val 8000"/>
            </a:avLst>
          </a:prstGeom>
          <a:solidFill>
            <a:srgbClr val="15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63040" y="1691640"/>
            <a:ext cx="841248" cy="1325880"/>
          </a:xfrm>
          <a:prstGeom prst="rect">
            <a:avLst/>
          </a:prstGeom>
          <a:noFill/>
        </p:spPr>
        <p:txBody>
          <a:bodyPr wrap="square" anchor="ctr" lIns="73152" rIns="73152" tIns="73152" bIns="73152">
            <a:spAutoFit/>
          </a:bodyPr>
          <a:lstStyle/>
          <a:p>
            <a:pPr algn="ctr">
              <a:spcAft>
                <a:spcPts val="200"/>
              </a:spcAft>
            </a:pPr>
            <a:r>
              <a:rPr sz="1400" b="1" i="0">
                <a:solidFill>
                  <a:srgbClr val="FFFFFF"/>
                </a:solidFill>
                <a:latin typeface="Calibri"/>
              </a:rPr>
              <a:t>S2</a:t>
            </a:r>
          </a:p>
          <a:p>
            <a:pPr algn="ctr">
              <a:spcAft>
                <a:spcPts val="200"/>
              </a:spcAft>
            </a:pPr>
            <a:r>
              <a:rPr sz="1200" b="0" i="0">
                <a:solidFill>
                  <a:srgbClr val="FFFFFF"/>
                </a:solidFill>
                <a:latin typeface="Calibri"/>
              </a:rPr>
              <a:t>squares</a:t>
            </a:r>
          </a:p>
          <a:p>
            <a:pPr algn="ctr">
              <a:spcAft>
                <a:spcPts val="200"/>
              </a:spcAft>
            </a:pPr>
            <a:r>
              <a:rPr sz="1100" b="0" i="0">
                <a:solidFill>
                  <a:srgbClr val="D8E0EA"/>
                </a:solidFill>
                <a:latin typeface="Calibri"/>
              </a:rPr>
              <a:t>3 mul</a:t>
            </a:r>
          </a:p>
          <a:p>
            <a:pPr algn="ctr">
              <a:spcAft>
                <a:spcPts val="200"/>
              </a:spcAft>
            </a:pPr>
            <a:r>
              <a:rPr sz="1100" b="0" i="0">
                <a:solidFill>
                  <a:srgbClr val="D8E0EA"/>
                </a:solidFill>
                <a:latin typeface="Calibri"/>
              </a:rPr>
              <a:t>4 cycles</a:t>
            </a:r>
          </a:p>
        </p:txBody>
      </p:sp>
      <p:sp>
        <p:nvSpPr>
          <p:cNvPr id="10" name="Rounded Rectangle 9"/>
          <p:cNvSpPr/>
          <p:nvPr/>
        </p:nvSpPr>
        <p:spPr>
          <a:xfrm>
            <a:off x="2377440" y="1691640"/>
            <a:ext cx="841248" cy="1325880"/>
          </a:xfrm>
          <a:prstGeom prst="roundRect">
            <a:avLst>
              <a:gd name="adj" fmla="val 8000"/>
            </a:avLst>
          </a:prstGeom>
          <a:solidFill>
            <a:srgbClr val="15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77440" y="1691640"/>
            <a:ext cx="841248" cy="1325880"/>
          </a:xfrm>
          <a:prstGeom prst="rect">
            <a:avLst/>
          </a:prstGeom>
          <a:noFill/>
        </p:spPr>
        <p:txBody>
          <a:bodyPr wrap="square" anchor="ctr" lIns="73152" rIns="73152" tIns="73152" bIns="73152">
            <a:spAutoFit/>
          </a:bodyPr>
          <a:lstStyle/>
          <a:p>
            <a:pPr algn="ctr">
              <a:spcAft>
                <a:spcPts val="200"/>
              </a:spcAft>
            </a:pPr>
            <a:r>
              <a:rPr sz="1400" b="1" i="0">
                <a:solidFill>
                  <a:srgbClr val="FFFFFF"/>
                </a:solidFill>
                <a:latin typeface="Calibri"/>
              </a:rPr>
              <a:t>S3-4</a:t>
            </a:r>
          </a:p>
          <a:p>
            <a:pPr algn="ctr">
              <a:spcAft>
                <a:spcPts val="200"/>
              </a:spcAft>
            </a:pPr>
            <a:r>
              <a:rPr sz="1200" b="0" i="0">
                <a:solidFill>
                  <a:srgbClr val="FFFFFF"/>
                </a:solidFill>
                <a:latin typeface="Calibri"/>
              </a:rPr>
              <a:t>d2 = sum</a:t>
            </a:r>
          </a:p>
          <a:p>
            <a:pPr algn="ctr">
              <a:spcAft>
                <a:spcPts val="200"/>
              </a:spcAft>
            </a:pPr>
            <a:r>
              <a:rPr sz="1100" b="0" i="0">
                <a:solidFill>
                  <a:srgbClr val="D8E0EA"/>
                </a:solidFill>
                <a:latin typeface="Calibri"/>
              </a:rPr>
              <a:t>2 add</a:t>
            </a:r>
          </a:p>
          <a:p>
            <a:pPr algn="ctr">
              <a:spcAft>
                <a:spcPts val="200"/>
              </a:spcAft>
            </a:pPr>
            <a:r>
              <a:rPr sz="1100" b="0" i="0">
                <a:solidFill>
                  <a:srgbClr val="D8E0EA"/>
                </a:solidFill>
                <a:latin typeface="Calibri"/>
              </a:rPr>
              <a:t>6 cycles</a:t>
            </a:r>
          </a:p>
        </p:txBody>
      </p:sp>
      <p:sp>
        <p:nvSpPr>
          <p:cNvPr id="12" name="Rounded Rectangle 11"/>
          <p:cNvSpPr/>
          <p:nvPr/>
        </p:nvSpPr>
        <p:spPr>
          <a:xfrm>
            <a:off x="3291840" y="1691640"/>
            <a:ext cx="2304288" cy="1325880"/>
          </a:xfrm>
          <a:prstGeom prst="roundRect">
            <a:avLst>
              <a:gd name="adj" fmla="val 8000"/>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91840" y="1691640"/>
            <a:ext cx="2304288" cy="1325880"/>
          </a:xfrm>
          <a:prstGeom prst="rect">
            <a:avLst/>
          </a:prstGeom>
          <a:noFill/>
        </p:spPr>
        <p:txBody>
          <a:bodyPr wrap="square" anchor="ctr" lIns="73152" rIns="73152" tIns="73152" bIns="73152">
            <a:spAutoFit/>
          </a:bodyPr>
          <a:lstStyle/>
          <a:p>
            <a:pPr algn="ctr">
              <a:spcAft>
                <a:spcPts val="200"/>
              </a:spcAft>
            </a:pPr>
            <a:r>
              <a:rPr sz="1400" b="1" i="0">
                <a:solidFill>
                  <a:srgbClr val="FFFFFF"/>
                </a:solidFill>
                <a:latin typeface="Calibri"/>
              </a:rPr>
              <a:t>S5</a:t>
            </a:r>
          </a:p>
          <a:p>
            <a:pPr algn="ctr">
              <a:spcAft>
                <a:spcPts val="200"/>
              </a:spcAft>
            </a:pPr>
            <a:r>
              <a:rPr sz="1200" b="0" i="0">
                <a:solidFill>
                  <a:srgbClr val="FFFFFF"/>
                </a:solidFill>
                <a:latin typeface="Calibri"/>
              </a:rPr>
              <a:t>sqrt(d2)</a:t>
            </a:r>
          </a:p>
          <a:p>
            <a:pPr algn="ctr">
              <a:spcAft>
                <a:spcPts val="200"/>
              </a:spcAft>
            </a:pPr>
            <a:r>
              <a:rPr sz="1100" b="0" i="0">
                <a:solidFill>
                  <a:srgbClr val="FFFFFF"/>
                </a:solidFill>
                <a:latin typeface="Calibri"/>
              </a:rPr>
              <a:t>sqrt</a:t>
            </a:r>
          </a:p>
          <a:p>
            <a:pPr algn="ctr">
              <a:spcAft>
                <a:spcPts val="200"/>
              </a:spcAft>
            </a:pPr>
            <a:r>
              <a:rPr sz="1100" b="0" i="0">
                <a:solidFill>
                  <a:srgbClr val="FFFFFF"/>
                </a:solidFill>
                <a:latin typeface="Calibri"/>
              </a:rPr>
              <a:t>28 cycles</a:t>
            </a:r>
          </a:p>
        </p:txBody>
      </p:sp>
      <p:sp>
        <p:nvSpPr>
          <p:cNvPr id="14" name="Rounded Rectangle 13"/>
          <p:cNvSpPr/>
          <p:nvPr/>
        </p:nvSpPr>
        <p:spPr>
          <a:xfrm>
            <a:off x="5669280" y="1691640"/>
            <a:ext cx="841248" cy="1325880"/>
          </a:xfrm>
          <a:prstGeom prst="roundRect">
            <a:avLst>
              <a:gd name="adj" fmla="val 8000"/>
            </a:avLst>
          </a:prstGeom>
          <a:solidFill>
            <a:srgbClr val="15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0" y="1691640"/>
            <a:ext cx="841248" cy="1325880"/>
          </a:xfrm>
          <a:prstGeom prst="rect">
            <a:avLst/>
          </a:prstGeom>
          <a:noFill/>
        </p:spPr>
        <p:txBody>
          <a:bodyPr wrap="square" anchor="ctr" lIns="73152" rIns="73152" tIns="73152" bIns="73152">
            <a:spAutoFit/>
          </a:bodyPr>
          <a:lstStyle/>
          <a:p>
            <a:pPr algn="ctr">
              <a:spcAft>
                <a:spcPts val="200"/>
              </a:spcAft>
            </a:pPr>
            <a:r>
              <a:rPr sz="1400" b="1" i="0">
                <a:solidFill>
                  <a:srgbClr val="FFFFFF"/>
                </a:solidFill>
                <a:latin typeface="Calibri"/>
              </a:rPr>
              <a:t>S6</a:t>
            </a:r>
          </a:p>
          <a:p>
            <a:pPr algn="ctr">
              <a:spcAft>
                <a:spcPts val="200"/>
              </a:spcAft>
            </a:pPr>
            <a:r>
              <a:rPr sz="1200" b="0" i="0">
                <a:solidFill>
                  <a:srgbClr val="FFFFFF"/>
                </a:solidFill>
                <a:latin typeface="Calibri"/>
              </a:rPr>
              <a:t>d2 * r</a:t>
            </a:r>
          </a:p>
          <a:p>
            <a:pPr algn="ctr">
              <a:spcAft>
                <a:spcPts val="200"/>
              </a:spcAft>
            </a:pPr>
            <a:r>
              <a:rPr sz="1100" b="0" i="0">
                <a:solidFill>
                  <a:srgbClr val="D8E0EA"/>
                </a:solidFill>
                <a:latin typeface="Calibri"/>
              </a:rPr>
              <a:t>mul</a:t>
            </a:r>
          </a:p>
          <a:p>
            <a:pPr algn="ctr">
              <a:spcAft>
                <a:spcPts val="200"/>
              </a:spcAft>
            </a:pPr>
            <a:r>
              <a:rPr sz="1100" b="0" i="0">
                <a:solidFill>
                  <a:srgbClr val="D8E0EA"/>
                </a:solidFill>
                <a:latin typeface="Calibri"/>
              </a:rPr>
              <a:t>4 cycles</a:t>
            </a:r>
          </a:p>
        </p:txBody>
      </p:sp>
      <p:sp>
        <p:nvSpPr>
          <p:cNvPr id="16" name="Rounded Rectangle 15"/>
          <p:cNvSpPr/>
          <p:nvPr/>
        </p:nvSpPr>
        <p:spPr>
          <a:xfrm>
            <a:off x="6583680" y="1691640"/>
            <a:ext cx="2304288" cy="1325880"/>
          </a:xfrm>
          <a:prstGeom prst="roundRect">
            <a:avLst>
              <a:gd name="adj" fmla="val 8000"/>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0" y="1691640"/>
            <a:ext cx="2304288" cy="1325880"/>
          </a:xfrm>
          <a:prstGeom prst="rect">
            <a:avLst/>
          </a:prstGeom>
          <a:noFill/>
        </p:spPr>
        <p:txBody>
          <a:bodyPr wrap="square" anchor="ctr" lIns="73152" rIns="73152" tIns="73152" bIns="73152">
            <a:spAutoFit/>
          </a:bodyPr>
          <a:lstStyle/>
          <a:p>
            <a:pPr algn="ctr">
              <a:spcAft>
                <a:spcPts val="200"/>
              </a:spcAft>
            </a:pPr>
            <a:r>
              <a:rPr sz="1400" b="1" i="0">
                <a:solidFill>
                  <a:srgbClr val="FFFFFF"/>
                </a:solidFill>
                <a:latin typeface="Calibri"/>
              </a:rPr>
              <a:t>S7</a:t>
            </a:r>
          </a:p>
          <a:p>
            <a:pPr algn="ctr">
              <a:spcAft>
                <a:spcPts val="200"/>
              </a:spcAft>
            </a:pPr>
            <a:r>
              <a:rPr sz="1200" b="0" i="0">
                <a:solidFill>
                  <a:srgbClr val="FFFFFF"/>
                </a:solidFill>
                <a:latin typeface="Calibri"/>
              </a:rPr>
              <a:t>dt / den</a:t>
            </a:r>
          </a:p>
          <a:p>
            <a:pPr algn="ctr">
              <a:spcAft>
                <a:spcPts val="200"/>
              </a:spcAft>
            </a:pPr>
            <a:r>
              <a:rPr sz="1100" b="0" i="0">
                <a:solidFill>
                  <a:srgbClr val="FFFFFF"/>
                </a:solidFill>
                <a:latin typeface="Calibri"/>
              </a:rPr>
              <a:t>div</a:t>
            </a:r>
          </a:p>
          <a:p>
            <a:pPr algn="ctr">
              <a:spcAft>
                <a:spcPts val="200"/>
              </a:spcAft>
            </a:pPr>
            <a:r>
              <a:rPr sz="1100" b="0" i="0">
                <a:solidFill>
                  <a:srgbClr val="FFFFFF"/>
                </a:solidFill>
                <a:latin typeface="Calibri"/>
              </a:rPr>
              <a:t>28 cycles</a:t>
            </a:r>
          </a:p>
        </p:txBody>
      </p:sp>
      <p:sp>
        <p:nvSpPr>
          <p:cNvPr id="18" name="Rounded Rectangle 17"/>
          <p:cNvSpPr/>
          <p:nvPr/>
        </p:nvSpPr>
        <p:spPr>
          <a:xfrm>
            <a:off x="8961120" y="1691640"/>
            <a:ext cx="841248" cy="1325880"/>
          </a:xfrm>
          <a:prstGeom prst="roundRect">
            <a:avLst>
              <a:gd name="adj" fmla="val 8000"/>
            </a:avLst>
          </a:prstGeom>
          <a:solidFill>
            <a:srgbClr val="15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0" y="1691640"/>
            <a:ext cx="841248" cy="1325880"/>
          </a:xfrm>
          <a:prstGeom prst="rect">
            <a:avLst/>
          </a:prstGeom>
          <a:noFill/>
        </p:spPr>
        <p:txBody>
          <a:bodyPr wrap="square" anchor="ctr" lIns="73152" rIns="73152" tIns="73152" bIns="73152">
            <a:spAutoFit/>
          </a:bodyPr>
          <a:lstStyle/>
          <a:p>
            <a:pPr algn="ctr">
              <a:spcAft>
                <a:spcPts val="200"/>
              </a:spcAft>
            </a:pPr>
            <a:r>
              <a:rPr sz="1400" b="1" i="0">
                <a:solidFill>
                  <a:srgbClr val="FFFFFF"/>
                </a:solidFill>
                <a:latin typeface="Calibri"/>
              </a:rPr>
              <a:t>S8</a:t>
            </a:r>
          </a:p>
          <a:p>
            <a:pPr algn="ctr">
              <a:spcAft>
                <a:spcPts val="200"/>
              </a:spcAft>
            </a:pPr>
            <a:r>
              <a:rPr sz="1200" b="0" i="0">
                <a:solidFill>
                  <a:srgbClr val="FFFFFF"/>
                </a:solidFill>
                <a:latin typeface="Calibri"/>
              </a:rPr>
              <a:t>m * mag</a:t>
            </a:r>
          </a:p>
          <a:p>
            <a:pPr algn="ctr">
              <a:spcAft>
                <a:spcPts val="200"/>
              </a:spcAft>
            </a:pPr>
            <a:r>
              <a:rPr sz="1100" b="0" i="0">
                <a:solidFill>
                  <a:srgbClr val="D8E0EA"/>
                </a:solidFill>
                <a:latin typeface="Calibri"/>
              </a:rPr>
              <a:t>2 mul</a:t>
            </a:r>
          </a:p>
          <a:p>
            <a:pPr algn="ctr">
              <a:spcAft>
                <a:spcPts val="200"/>
              </a:spcAft>
            </a:pPr>
            <a:r>
              <a:rPr sz="1100" b="0" i="0">
                <a:solidFill>
                  <a:srgbClr val="D8E0EA"/>
                </a:solidFill>
                <a:latin typeface="Calibri"/>
              </a:rPr>
              <a:t>4 cycles</a:t>
            </a:r>
          </a:p>
        </p:txBody>
      </p:sp>
      <p:sp>
        <p:nvSpPr>
          <p:cNvPr id="20" name="Rounded Rectangle 19"/>
          <p:cNvSpPr/>
          <p:nvPr/>
        </p:nvSpPr>
        <p:spPr>
          <a:xfrm>
            <a:off x="9875520" y="1691640"/>
            <a:ext cx="841248" cy="1325880"/>
          </a:xfrm>
          <a:prstGeom prst="roundRect">
            <a:avLst>
              <a:gd name="adj" fmla="val 8000"/>
            </a:avLst>
          </a:prstGeom>
          <a:solidFill>
            <a:srgbClr val="15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0" y="1691640"/>
            <a:ext cx="841248" cy="1325880"/>
          </a:xfrm>
          <a:prstGeom prst="rect">
            <a:avLst/>
          </a:prstGeom>
          <a:noFill/>
        </p:spPr>
        <p:txBody>
          <a:bodyPr wrap="square" anchor="ctr" lIns="73152" rIns="73152" tIns="73152" bIns="73152">
            <a:spAutoFit/>
          </a:bodyPr>
          <a:lstStyle/>
          <a:p>
            <a:pPr algn="ctr">
              <a:spcAft>
                <a:spcPts val="200"/>
              </a:spcAft>
            </a:pPr>
            <a:r>
              <a:rPr sz="1400" b="1" i="0">
                <a:solidFill>
                  <a:srgbClr val="FFFFFF"/>
                </a:solidFill>
                <a:latin typeface="Calibri"/>
              </a:rPr>
              <a:t>S9</a:t>
            </a:r>
          </a:p>
          <a:p>
            <a:pPr algn="ctr">
              <a:spcAft>
                <a:spcPts val="200"/>
              </a:spcAft>
            </a:pPr>
            <a:r>
              <a:rPr sz="1200" b="0" i="0">
                <a:solidFill>
                  <a:srgbClr val="FFFFFF"/>
                </a:solidFill>
                <a:latin typeface="Calibri"/>
              </a:rPr>
              <a:t>6 deltas</a:t>
            </a:r>
          </a:p>
          <a:p>
            <a:pPr algn="ctr">
              <a:spcAft>
                <a:spcPts val="200"/>
              </a:spcAft>
            </a:pPr>
            <a:r>
              <a:rPr sz="1100" b="0" i="0">
                <a:solidFill>
                  <a:srgbClr val="D8E0EA"/>
                </a:solidFill>
                <a:latin typeface="Calibri"/>
              </a:rPr>
              <a:t>6 mul</a:t>
            </a:r>
          </a:p>
          <a:p>
            <a:pPr algn="ctr">
              <a:spcAft>
                <a:spcPts val="200"/>
              </a:spcAft>
            </a:pPr>
            <a:r>
              <a:rPr sz="1100" b="0" i="0">
                <a:solidFill>
                  <a:srgbClr val="D8E0EA"/>
                </a:solidFill>
                <a:latin typeface="Calibri"/>
              </a:rPr>
              <a:t>4 cycles</a:t>
            </a:r>
          </a:p>
        </p:txBody>
      </p:sp>
      <p:sp>
        <p:nvSpPr>
          <p:cNvPr id="22" name="TextBox 21"/>
          <p:cNvSpPr txBox="1"/>
          <p:nvPr/>
        </p:nvSpPr>
        <p:spPr>
          <a:xfrm>
            <a:off x="548640" y="3063240"/>
            <a:ext cx="11064240" cy="365760"/>
          </a:xfrm>
          <a:prstGeom prst="rect">
            <a:avLst/>
          </a:prstGeom>
          <a:noFill/>
        </p:spPr>
        <p:txBody>
          <a:bodyPr wrap="square" anchor="t" lIns="45720" rIns="45720">
            <a:spAutoFit/>
          </a:bodyPr>
          <a:lstStyle/>
          <a:p>
            <a:pPr algn="l">
              <a:spcAft>
                <a:spcPts val="600"/>
              </a:spcAft>
            </a:pPr>
            <a:r>
              <a:rPr sz="1300" b="0" i="0">
                <a:solidFill>
                  <a:srgbClr val="5F6B7A"/>
                </a:solidFill>
                <a:latin typeface="Calibri"/>
              </a:rPr>
              <a:t>81 cycles latency · div and sqrt: digit recurrence, 2 bits per stage, 28 stages each · all IEEE-754 double, round to nearest even</a:t>
            </a:r>
          </a:p>
        </p:txBody>
      </p:sp>
      <p:sp>
        <p:nvSpPr>
          <p:cNvPr id="23" name="Rounded Rectangle 22"/>
          <p:cNvSpPr/>
          <p:nvPr/>
        </p:nvSpPr>
        <p:spPr>
          <a:xfrm>
            <a:off x="731520" y="3749039"/>
            <a:ext cx="1463040" cy="640080"/>
          </a:xfrm>
          <a:prstGeom prst="roundRect">
            <a:avLst>
              <a:gd name="adj" fmla="val 8000"/>
            </a:avLst>
          </a:prstGeom>
          <a:solidFill>
            <a:srgbClr val="EEF2F6"/>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749039"/>
            <a:ext cx="1463040" cy="640080"/>
          </a:xfrm>
          <a:prstGeom prst="rect">
            <a:avLst/>
          </a:prstGeom>
          <a:noFill/>
        </p:spPr>
        <p:txBody>
          <a:bodyPr wrap="square" anchor="ctr" lIns="73152" rIns="73152" tIns="73152" bIns="73152">
            <a:spAutoFit/>
          </a:bodyPr>
          <a:lstStyle/>
          <a:p>
            <a:pPr algn="ctr">
              <a:spcAft>
                <a:spcPts val="200"/>
              </a:spcAft>
            </a:pPr>
            <a:r>
              <a:rPr sz="1500" b="1" i="0">
                <a:solidFill>
                  <a:srgbClr val="1E2A38"/>
                </a:solidFill>
                <a:latin typeface="Courier New"/>
              </a:rPr>
              <a:t>IDLE</a:t>
            </a:r>
          </a:p>
        </p:txBody>
      </p:sp>
      <p:cxnSp>
        <p:nvCxnSpPr>
          <p:cNvPr id="25" name="Connector 24"/>
          <p:cNvCxnSpPr/>
          <p:nvPr/>
        </p:nvCxnSpPr>
        <p:spPr>
          <a:xfrm>
            <a:off x="2194560" y="4069080"/>
            <a:ext cx="411479" cy="0"/>
          </a:xfrm>
          <a:prstGeom prst="line">
            <a:avLst/>
          </a:prstGeom>
          <a:ln w="19050">
            <a:solidFill>
              <a:srgbClr val="1E2A3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40080" y="4434840"/>
            <a:ext cx="1645920" cy="640080"/>
          </a:xfrm>
          <a:prstGeom prst="rect">
            <a:avLst/>
          </a:prstGeom>
          <a:noFill/>
        </p:spPr>
        <p:txBody>
          <a:bodyPr wrap="square" anchor="t" lIns="45720" rIns="45720">
            <a:spAutoFit/>
          </a:bodyPr>
          <a:lstStyle/>
          <a:p>
            <a:pPr algn="ctr">
              <a:spcAft>
                <a:spcPts val="0"/>
              </a:spcAft>
            </a:pPr>
            <a:r>
              <a:rPr sz="1200" b="0" i="0">
                <a:solidFill>
                  <a:srgbClr val="5F6B7A"/>
                </a:solidFill>
                <a:latin typeface="Calibri"/>
              </a:rPr>
              <a:t>wait for START</a:t>
            </a:r>
          </a:p>
        </p:txBody>
      </p:sp>
      <p:sp>
        <p:nvSpPr>
          <p:cNvPr id="27" name="Rounded Rectangle 26"/>
          <p:cNvSpPr/>
          <p:nvPr/>
        </p:nvSpPr>
        <p:spPr>
          <a:xfrm>
            <a:off x="2606039" y="3749039"/>
            <a:ext cx="1463040" cy="640080"/>
          </a:xfrm>
          <a:prstGeom prst="roundRect">
            <a:avLst>
              <a:gd name="adj" fmla="val 8000"/>
            </a:avLst>
          </a:prstGeom>
          <a:solidFill>
            <a:srgbClr val="EEF2F6"/>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06039" y="3749039"/>
            <a:ext cx="1463040" cy="640080"/>
          </a:xfrm>
          <a:prstGeom prst="rect">
            <a:avLst/>
          </a:prstGeom>
          <a:noFill/>
        </p:spPr>
        <p:txBody>
          <a:bodyPr wrap="square" anchor="ctr" lIns="73152" rIns="73152" tIns="73152" bIns="73152">
            <a:spAutoFit/>
          </a:bodyPr>
          <a:lstStyle/>
          <a:p>
            <a:pPr algn="ctr">
              <a:spcAft>
                <a:spcPts val="200"/>
              </a:spcAft>
            </a:pPr>
            <a:r>
              <a:rPr sz="1500" b="1" i="0">
                <a:solidFill>
                  <a:srgbClr val="1E2A38"/>
                </a:solidFill>
                <a:latin typeface="Courier New"/>
              </a:rPr>
              <a:t>FEED</a:t>
            </a:r>
          </a:p>
        </p:txBody>
      </p:sp>
      <p:cxnSp>
        <p:nvCxnSpPr>
          <p:cNvPr id="29" name="Connector 28"/>
          <p:cNvCxnSpPr/>
          <p:nvPr/>
        </p:nvCxnSpPr>
        <p:spPr>
          <a:xfrm>
            <a:off x="4069079" y="4069080"/>
            <a:ext cx="411480" cy="0"/>
          </a:xfrm>
          <a:prstGeom prst="line">
            <a:avLst/>
          </a:prstGeom>
          <a:ln w="19050">
            <a:solidFill>
              <a:srgbClr val="1E2A3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514599" y="4434840"/>
            <a:ext cx="1645920" cy="640080"/>
          </a:xfrm>
          <a:prstGeom prst="rect">
            <a:avLst/>
          </a:prstGeom>
          <a:noFill/>
        </p:spPr>
        <p:txBody>
          <a:bodyPr wrap="square" anchor="t" lIns="45720" rIns="45720">
            <a:spAutoFit/>
          </a:bodyPr>
          <a:lstStyle/>
          <a:p>
            <a:pPr algn="ctr">
              <a:spcAft>
                <a:spcPts val="0"/>
              </a:spcAft>
            </a:pPr>
            <a:r>
              <a:rPr sz="1200" b="0" i="0">
                <a:solidFill>
                  <a:srgbClr val="5F6B7A"/>
                </a:solidFill>
                <a:latin typeface="Calibri"/>
              </a:rPr>
              <a:t>one pair per cycle</a:t>
            </a:r>
            <a:br/>
            <a:r>
              <a:rPr sz="1200" b="0" i="0">
                <a:solidFill>
                  <a:srgbClr val="5F6B7A"/>
                </a:solidFill>
                <a:latin typeface="Calibri"/>
              </a:rPr>
              <a:t>into the pipeline</a:t>
            </a:r>
          </a:p>
        </p:txBody>
      </p:sp>
      <p:sp>
        <p:nvSpPr>
          <p:cNvPr id="31" name="Rounded Rectangle 30"/>
          <p:cNvSpPr/>
          <p:nvPr/>
        </p:nvSpPr>
        <p:spPr>
          <a:xfrm>
            <a:off x="4480559" y="3749039"/>
            <a:ext cx="1463040" cy="640080"/>
          </a:xfrm>
          <a:prstGeom prst="roundRect">
            <a:avLst>
              <a:gd name="adj" fmla="val 8000"/>
            </a:avLst>
          </a:prstGeom>
          <a:solidFill>
            <a:srgbClr val="EEF2F6"/>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80559" y="3749039"/>
            <a:ext cx="1463040" cy="640080"/>
          </a:xfrm>
          <a:prstGeom prst="rect">
            <a:avLst/>
          </a:prstGeom>
          <a:noFill/>
        </p:spPr>
        <p:txBody>
          <a:bodyPr wrap="square" anchor="ctr" lIns="73152" rIns="73152" tIns="73152" bIns="73152">
            <a:spAutoFit/>
          </a:bodyPr>
          <a:lstStyle/>
          <a:p>
            <a:pPr algn="ctr">
              <a:spcAft>
                <a:spcPts val="200"/>
              </a:spcAft>
            </a:pPr>
            <a:r>
              <a:rPr sz="1500" b="1" i="0">
                <a:solidFill>
                  <a:srgbClr val="1E2A38"/>
                </a:solidFill>
                <a:latin typeface="Courier New"/>
              </a:rPr>
              <a:t>DRAIN</a:t>
            </a:r>
          </a:p>
        </p:txBody>
      </p:sp>
      <p:cxnSp>
        <p:nvCxnSpPr>
          <p:cNvPr id="33" name="Connector 32"/>
          <p:cNvCxnSpPr/>
          <p:nvPr/>
        </p:nvCxnSpPr>
        <p:spPr>
          <a:xfrm>
            <a:off x="5943600" y="4069080"/>
            <a:ext cx="411479" cy="0"/>
          </a:xfrm>
          <a:prstGeom prst="line">
            <a:avLst/>
          </a:prstGeom>
          <a:ln w="19050">
            <a:solidFill>
              <a:srgbClr val="1E2A3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389120" y="4434840"/>
            <a:ext cx="1645920" cy="640080"/>
          </a:xfrm>
          <a:prstGeom prst="rect">
            <a:avLst/>
          </a:prstGeom>
          <a:noFill/>
        </p:spPr>
        <p:txBody>
          <a:bodyPr wrap="square" anchor="t" lIns="45720" rIns="45720">
            <a:spAutoFit/>
          </a:bodyPr>
          <a:lstStyle/>
          <a:p>
            <a:pPr algn="ctr">
              <a:spcAft>
                <a:spcPts val="0"/>
              </a:spcAft>
            </a:pPr>
            <a:r>
              <a:rPr sz="1200" b="0" i="0">
                <a:solidFill>
                  <a:srgbClr val="5F6B7A"/>
                </a:solidFill>
                <a:latin typeface="Calibri"/>
              </a:rPr>
              <a:t>wait for the</a:t>
            </a:r>
            <a:br/>
            <a:r>
              <a:rPr sz="1200" b="0" i="0">
                <a:solidFill>
                  <a:srgbClr val="5F6B7A"/>
                </a:solidFill>
                <a:latin typeface="Calibri"/>
              </a:rPr>
              <a:t>last result</a:t>
            </a:r>
          </a:p>
        </p:txBody>
      </p:sp>
      <p:sp>
        <p:nvSpPr>
          <p:cNvPr id="35" name="Rounded Rectangle 34"/>
          <p:cNvSpPr/>
          <p:nvPr/>
        </p:nvSpPr>
        <p:spPr>
          <a:xfrm>
            <a:off x="6355079" y="3749039"/>
            <a:ext cx="1463040" cy="640080"/>
          </a:xfrm>
          <a:prstGeom prst="roundRect">
            <a:avLst>
              <a:gd name="adj" fmla="val 8000"/>
            </a:avLst>
          </a:prstGeom>
          <a:solidFill>
            <a:srgbClr val="EEF2F6"/>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55079" y="3749039"/>
            <a:ext cx="1463040" cy="640080"/>
          </a:xfrm>
          <a:prstGeom prst="rect">
            <a:avLst/>
          </a:prstGeom>
          <a:noFill/>
        </p:spPr>
        <p:txBody>
          <a:bodyPr wrap="square" anchor="ctr" lIns="73152" rIns="73152" tIns="73152" bIns="73152">
            <a:spAutoFit/>
          </a:bodyPr>
          <a:lstStyle/>
          <a:p>
            <a:pPr algn="ctr">
              <a:spcAft>
                <a:spcPts val="200"/>
              </a:spcAft>
            </a:pPr>
            <a:r>
              <a:rPr sz="1500" b="1" i="0">
                <a:solidFill>
                  <a:srgbClr val="1E2A38"/>
                </a:solidFill>
                <a:latin typeface="Courier New"/>
              </a:rPr>
              <a:t>ACC</a:t>
            </a:r>
          </a:p>
        </p:txBody>
      </p:sp>
      <p:cxnSp>
        <p:nvCxnSpPr>
          <p:cNvPr id="37" name="Connector 36"/>
          <p:cNvCxnSpPr/>
          <p:nvPr/>
        </p:nvCxnSpPr>
        <p:spPr>
          <a:xfrm>
            <a:off x="7818119" y="4069080"/>
            <a:ext cx="411481" cy="0"/>
          </a:xfrm>
          <a:prstGeom prst="line">
            <a:avLst/>
          </a:prstGeom>
          <a:ln w="19050">
            <a:solidFill>
              <a:srgbClr val="1E2A3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263640" y="4434840"/>
            <a:ext cx="1645920" cy="640080"/>
          </a:xfrm>
          <a:prstGeom prst="rect">
            <a:avLst/>
          </a:prstGeom>
          <a:noFill/>
        </p:spPr>
        <p:txBody>
          <a:bodyPr wrap="square" anchor="t" lIns="45720" rIns="45720">
            <a:spAutoFit/>
          </a:bodyPr>
          <a:lstStyle/>
          <a:p>
            <a:pPr algn="ctr">
              <a:spcAft>
                <a:spcPts val="0"/>
              </a:spcAft>
            </a:pPr>
            <a:r>
              <a:rPr sz="1200" b="0" i="0">
                <a:solidFill>
                  <a:srgbClr val="5F6B7A"/>
                </a:solidFill>
                <a:latin typeface="Calibri"/>
              </a:rPr>
              <a:t>apply deltas</a:t>
            </a:r>
            <a:br/>
            <a:r>
              <a:rPr sz="1200" b="0" i="0">
                <a:solidFill>
                  <a:srgbClr val="5F6B7A"/>
                </a:solidFill>
                <a:latin typeface="Calibri"/>
              </a:rPr>
              <a:t>in pair order</a:t>
            </a:r>
          </a:p>
        </p:txBody>
      </p:sp>
      <p:sp>
        <p:nvSpPr>
          <p:cNvPr id="39" name="Rounded Rectangle 38"/>
          <p:cNvSpPr/>
          <p:nvPr/>
        </p:nvSpPr>
        <p:spPr>
          <a:xfrm>
            <a:off x="8229600" y="3749039"/>
            <a:ext cx="1463040" cy="640080"/>
          </a:xfrm>
          <a:prstGeom prst="roundRect">
            <a:avLst>
              <a:gd name="adj" fmla="val 8000"/>
            </a:avLst>
          </a:prstGeom>
          <a:solidFill>
            <a:srgbClr val="EEF2F6"/>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0" y="3749039"/>
            <a:ext cx="1463040" cy="640080"/>
          </a:xfrm>
          <a:prstGeom prst="rect">
            <a:avLst/>
          </a:prstGeom>
          <a:noFill/>
        </p:spPr>
        <p:txBody>
          <a:bodyPr wrap="square" anchor="ctr" lIns="73152" rIns="73152" tIns="73152" bIns="73152">
            <a:spAutoFit/>
          </a:bodyPr>
          <a:lstStyle/>
          <a:p>
            <a:pPr algn="ctr">
              <a:spcAft>
                <a:spcPts val="200"/>
              </a:spcAft>
            </a:pPr>
            <a:r>
              <a:rPr sz="1500" b="1" i="0">
                <a:solidFill>
                  <a:srgbClr val="1E2A38"/>
                </a:solidFill>
                <a:latin typeface="Courier New"/>
              </a:rPr>
              <a:t>POS</a:t>
            </a:r>
          </a:p>
        </p:txBody>
      </p:sp>
      <p:cxnSp>
        <p:nvCxnSpPr>
          <p:cNvPr id="41" name="Connector 40"/>
          <p:cNvCxnSpPr/>
          <p:nvPr/>
        </p:nvCxnSpPr>
        <p:spPr>
          <a:xfrm>
            <a:off x="9692640" y="4069080"/>
            <a:ext cx="411480" cy="0"/>
          </a:xfrm>
          <a:prstGeom prst="line">
            <a:avLst/>
          </a:prstGeom>
          <a:ln w="19050">
            <a:solidFill>
              <a:srgbClr val="1E2A3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138160" y="4434840"/>
            <a:ext cx="1645920" cy="640080"/>
          </a:xfrm>
          <a:prstGeom prst="rect">
            <a:avLst/>
          </a:prstGeom>
          <a:noFill/>
        </p:spPr>
        <p:txBody>
          <a:bodyPr wrap="square" anchor="t" lIns="45720" rIns="45720">
            <a:spAutoFit/>
          </a:bodyPr>
          <a:lstStyle/>
          <a:p>
            <a:pPr algn="ctr">
              <a:spcAft>
                <a:spcPts val="0"/>
              </a:spcAft>
            </a:pPr>
            <a:r>
              <a:rPr sz="1200" b="0" i="0">
                <a:solidFill>
                  <a:srgbClr val="5F6B7A"/>
                </a:solidFill>
                <a:latin typeface="Calibri"/>
              </a:rPr>
              <a:t>update positions</a:t>
            </a:r>
            <a:br/>
            <a:r>
              <a:rPr sz="1200" b="0" i="0">
                <a:solidFill>
                  <a:srgbClr val="5F6B7A"/>
                </a:solidFill>
                <a:latin typeface="Calibri"/>
              </a:rPr>
              <a:t>body by body</a:t>
            </a:r>
          </a:p>
        </p:txBody>
      </p:sp>
      <p:sp>
        <p:nvSpPr>
          <p:cNvPr id="43" name="Rounded Rectangle 42"/>
          <p:cNvSpPr/>
          <p:nvPr/>
        </p:nvSpPr>
        <p:spPr>
          <a:xfrm>
            <a:off x="10104120" y="3749039"/>
            <a:ext cx="1463040" cy="640080"/>
          </a:xfrm>
          <a:prstGeom prst="roundRect">
            <a:avLst>
              <a:gd name="adj" fmla="val 8000"/>
            </a:avLst>
          </a:prstGeom>
          <a:solidFill>
            <a:srgbClr val="EEF2F6"/>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04120" y="3749039"/>
            <a:ext cx="1463040" cy="640080"/>
          </a:xfrm>
          <a:prstGeom prst="rect">
            <a:avLst/>
          </a:prstGeom>
          <a:noFill/>
        </p:spPr>
        <p:txBody>
          <a:bodyPr wrap="square" anchor="ctr" lIns="73152" rIns="73152" tIns="73152" bIns="73152">
            <a:spAutoFit/>
          </a:bodyPr>
          <a:lstStyle/>
          <a:p>
            <a:pPr algn="ctr">
              <a:spcAft>
                <a:spcPts val="200"/>
              </a:spcAft>
            </a:pPr>
            <a:r>
              <a:rPr sz="1500" b="1" i="0">
                <a:solidFill>
                  <a:srgbClr val="1E2A38"/>
                </a:solidFill>
                <a:latin typeface="Courier New"/>
              </a:rPr>
              <a:t>STEP_END</a:t>
            </a:r>
          </a:p>
        </p:txBody>
      </p:sp>
      <p:sp>
        <p:nvSpPr>
          <p:cNvPr id="45" name="TextBox 44"/>
          <p:cNvSpPr txBox="1"/>
          <p:nvPr/>
        </p:nvSpPr>
        <p:spPr>
          <a:xfrm>
            <a:off x="10012680" y="4434840"/>
            <a:ext cx="1645920" cy="640080"/>
          </a:xfrm>
          <a:prstGeom prst="rect">
            <a:avLst/>
          </a:prstGeom>
          <a:noFill/>
        </p:spPr>
        <p:txBody>
          <a:bodyPr wrap="square" anchor="t" lIns="45720" rIns="45720">
            <a:spAutoFit/>
          </a:bodyPr>
          <a:lstStyle/>
          <a:p>
            <a:pPr algn="ctr">
              <a:spcAft>
                <a:spcPts val="0"/>
              </a:spcAft>
            </a:pPr>
            <a:r>
              <a:rPr sz="1200" b="0" i="0">
                <a:solidFill>
                  <a:srgbClr val="5F6B7A"/>
                </a:solidFill>
                <a:latin typeface="Calibri"/>
              </a:rPr>
              <a:t>next step</a:t>
            </a:r>
            <a:br/>
            <a:r>
              <a:rPr sz="1200" b="0" i="0">
                <a:solidFill>
                  <a:srgbClr val="5F6B7A"/>
                </a:solidFill>
                <a:latin typeface="Calibri"/>
              </a:rPr>
              <a:t>or DONE + irq</a:t>
            </a:r>
          </a:p>
        </p:txBody>
      </p:sp>
      <p:sp>
        <p:nvSpPr>
          <p:cNvPr id="46" name="Rounded Rectangle 45"/>
          <p:cNvSpPr/>
          <p:nvPr/>
        </p:nvSpPr>
        <p:spPr>
          <a:xfrm>
            <a:off x="731520" y="5212080"/>
            <a:ext cx="10789920" cy="91440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31520" y="5212080"/>
            <a:ext cx="10789920" cy="914400"/>
          </a:xfrm>
          <a:prstGeom prst="rect">
            <a:avLst/>
          </a:prstGeom>
          <a:noFill/>
        </p:spPr>
        <p:txBody>
          <a:bodyPr wrap="square" anchor="ctr" lIns="73152" rIns="73152" tIns="73152" bIns="73152">
            <a:spAutoFit/>
          </a:bodyPr>
          <a:lstStyle/>
          <a:p>
            <a:pPr algn="l">
              <a:spcAft>
                <a:spcPts val="200"/>
              </a:spcAft>
            </a:pPr>
            <a:r>
              <a:rPr sz="1500" b="1" i="0">
                <a:solidFill>
                  <a:srgbClr val="1E2A38"/>
                </a:solidFill>
                <a:latin typeface="Courier New"/>
              </a:rPr>
              <a:t>Measured cycles per step = 6P + 11N + 84</a:t>
            </a:r>
            <a:r>
              <a:rPr sz="1500" b="0" i="0">
                <a:solidFill>
                  <a:srgbClr val="1E2A38"/>
                </a:solidFill>
                <a:latin typeface="Calibri"/>
              </a:rPr>
              <a:t>     benchmark (N = 5, P = 10): 199 cycles = 1.99 µs at 100 MHz</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11480"/>
            <a:ext cx="502920" cy="50292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502920" cy="502920"/>
          </a:xfrm>
          <a:prstGeom prst="rect">
            <a:avLst/>
          </a:prstGeom>
          <a:noFill/>
        </p:spPr>
        <p:txBody>
          <a:bodyPr wrap="square" anchor="ctr" lIns="0" rIns="0" tIns="0" bIns="0">
            <a:spAutoFit/>
          </a:bodyPr>
          <a:lstStyle/>
          <a:p>
            <a:pPr algn="ctr">
              <a:spcAft>
                <a:spcPts val="0"/>
              </a:spcAft>
            </a:pPr>
            <a:r>
              <a:rPr sz="1600" b="1" i="0">
                <a:solidFill>
                  <a:srgbClr val="FFFFFF"/>
                </a:solidFill>
                <a:latin typeface="Calibri"/>
              </a:rPr>
              <a:t>5</a:t>
            </a:r>
          </a:p>
        </p:txBody>
      </p:sp>
      <p:sp>
        <p:nvSpPr>
          <p:cNvPr id="4" name="TextBox 3"/>
          <p:cNvSpPr txBox="1"/>
          <p:nvPr/>
        </p:nvSpPr>
        <p:spPr>
          <a:xfrm>
            <a:off x="1234440" y="320040"/>
            <a:ext cx="10408615" cy="731520"/>
          </a:xfrm>
          <a:prstGeom prst="rect">
            <a:avLst/>
          </a:prstGeom>
          <a:noFill/>
        </p:spPr>
        <p:txBody>
          <a:bodyPr wrap="square" anchor="ctr" lIns="45720" rIns="45720">
            <a:spAutoFit/>
          </a:bodyPr>
          <a:lstStyle/>
          <a:p>
            <a:pPr algn="l">
              <a:spcAft>
                <a:spcPts val="0"/>
              </a:spcAft>
            </a:pPr>
            <a:r>
              <a:rPr sz="3200" b="1" i="0">
                <a:solidFill>
                  <a:srgbClr val="1E2A38"/>
                </a:solidFill>
                <a:latin typeface="Cambria"/>
              </a:rPr>
              <a:t>How software talks to it</a:t>
            </a:r>
          </a:p>
        </p:txBody>
      </p:sp>
      <p:sp>
        <p:nvSpPr>
          <p:cNvPr id="5" name="TextBox 4"/>
          <p:cNvSpPr txBox="1"/>
          <p:nvPr/>
        </p:nvSpPr>
        <p:spPr>
          <a:xfrm>
            <a:off x="1234440" y="1005840"/>
            <a:ext cx="10408615" cy="411480"/>
          </a:xfrm>
          <a:prstGeom prst="rect">
            <a:avLst/>
          </a:prstGeom>
          <a:noFill/>
        </p:spPr>
        <p:txBody>
          <a:bodyPr wrap="square" anchor="t" lIns="45720" rIns="45720">
            <a:spAutoFit/>
          </a:bodyPr>
          <a:lstStyle/>
          <a:p>
            <a:pPr algn="l">
              <a:spcAft>
                <a:spcPts val="0"/>
              </a:spcAft>
            </a:pPr>
            <a:r>
              <a:rPr sz="1600" b="0" i="0">
                <a:solidFill>
                  <a:srgbClr val="5F6B7A"/>
                </a:solidFill>
                <a:latin typeface="Calibri"/>
              </a:rPr>
              <a:t>Memory-mapped registers in PCIe BAR0, 64-bit so one register holds one double</a:t>
            </a:r>
          </a:p>
        </p:txBody>
      </p:sp>
      <p:graphicFrame>
        <p:nvGraphicFramePr>
          <p:cNvPr id="6" name="Table 5"/>
          <p:cNvGraphicFramePr>
            <a:graphicFrameLocks noGrp="1"/>
          </p:cNvGraphicFramePr>
          <p:nvPr/>
        </p:nvGraphicFramePr>
        <p:xfrm>
          <a:off x="548640" y="1691640"/>
          <a:ext cx="6309360" cy="4206240"/>
        </p:xfrm>
        <a:graphic>
          <a:graphicData uri="http://schemas.openxmlformats.org/drawingml/2006/table">
            <a:tbl>
              <a:tblPr firstRow="1" bandRow="1">
                <a:tableStyleId>{5C22544A-7EE6-4342-B048-85BDC9FD1C3A}</a:tableStyleId>
              </a:tblPr>
              <a:tblGrid>
                <a:gridCol w="1325880"/>
                <a:gridCol w="2148840"/>
                <a:gridCol w="2834640"/>
              </a:tblGrid>
              <a:tr h="467360">
                <a:tc>
                  <a:txBody>
                    <a:bodyPr/>
                    <a:lstStyle/>
                    <a:p>
                      <a:r>
                        <a:rPr sz="1300" b="1">
                          <a:solidFill>
                            <a:srgbClr val="FFFFFF"/>
                          </a:solidFill>
                          <a:latin typeface="Calibri"/>
                        </a:rPr>
                        <a:t>offset</a:t>
                      </a:r>
                    </a:p>
                  </a:txBody>
                  <a:tcPr>
                    <a:solidFill>
                      <a:srgbClr val="15202E"/>
                    </a:solidFill>
                  </a:tcPr>
                </a:tc>
                <a:tc>
                  <a:txBody>
                    <a:bodyPr/>
                    <a:lstStyle/>
                    <a:p>
                      <a:r>
                        <a:rPr sz="1300" b="1">
                          <a:solidFill>
                            <a:srgbClr val="FFFFFF"/>
                          </a:solidFill>
                          <a:latin typeface="Calibri"/>
                        </a:rPr>
                        <a:t>register</a:t>
                      </a:r>
                    </a:p>
                  </a:txBody>
                  <a:tcPr>
                    <a:solidFill>
                      <a:srgbClr val="15202E"/>
                    </a:solidFill>
                  </a:tcPr>
                </a:tc>
                <a:tc>
                  <a:txBody>
                    <a:bodyPr/>
                    <a:lstStyle/>
                    <a:p>
                      <a:r>
                        <a:rPr sz="1300" b="1">
                          <a:solidFill>
                            <a:srgbClr val="FFFFFF"/>
                          </a:solidFill>
                          <a:latin typeface="Calibri"/>
                        </a:rPr>
                        <a:t>meaning</a:t>
                      </a:r>
                    </a:p>
                  </a:txBody>
                  <a:tcPr>
                    <a:solidFill>
                      <a:srgbClr val="15202E"/>
                    </a:solidFill>
                  </a:tcPr>
                </a:tc>
              </a:tr>
              <a:tr h="467360">
                <a:tc>
                  <a:txBody>
                    <a:bodyPr/>
                    <a:lstStyle/>
                    <a:p>
                      <a:r>
                        <a:rPr sz="1200">
                          <a:solidFill>
                            <a:srgbClr val="1E2A38"/>
                          </a:solidFill>
                          <a:latin typeface="Courier New"/>
                        </a:rPr>
                        <a:t>0x0000</a:t>
                      </a:r>
                    </a:p>
                  </a:txBody>
                  <a:tcPr>
                    <a:solidFill>
                      <a:srgbClr val="EEF2F6"/>
                    </a:solidFill>
                  </a:tcPr>
                </a:tc>
                <a:tc>
                  <a:txBody>
                    <a:bodyPr/>
                    <a:lstStyle/>
                    <a:p>
                      <a:r>
                        <a:rPr sz="1200">
                          <a:solidFill>
                            <a:srgbClr val="1E2A38"/>
                          </a:solidFill>
                          <a:latin typeface="Courier New"/>
                        </a:rPr>
                        <a:t>ID</a:t>
                      </a:r>
                    </a:p>
                  </a:txBody>
                  <a:tcPr>
                    <a:solidFill>
                      <a:srgbClr val="EEF2F6"/>
                    </a:solidFill>
                  </a:tcPr>
                </a:tc>
                <a:tc>
                  <a:txBody>
                    <a:bodyPr/>
                    <a:lstStyle/>
                    <a:p>
                      <a:r>
                        <a:rPr sz="1200">
                          <a:solidFill>
                            <a:srgbClr val="1E2A38"/>
                          </a:solidFill>
                          <a:latin typeface="Calibri"/>
                        </a:rPr>
                        <a:t>"NBODYACC": driver detects the card</a:t>
                      </a:r>
                    </a:p>
                  </a:txBody>
                  <a:tcPr>
                    <a:solidFill>
                      <a:srgbClr val="EEF2F6"/>
                    </a:solidFill>
                  </a:tcPr>
                </a:tc>
              </a:tr>
              <a:tr h="467360">
                <a:tc>
                  <a:txBody>
                    <a:bodyPr/>
                    <a:lstStyle/>
                    <a:p>
                      <a:r>
                        <a:rPr sz="1200">
                          <a:solidFill>
                            <a:srgbClr val="1E2A38"/>
                          </a:solidFill>
                          <a:latin typeface="Courier New"/>
                        </a:rPr>
                        <a:t>0x0008</a:t>
                      </a:r>
                    </a:p>
                  </a:txBody>
                  <a:tcPr>
                    <a:solidFill>
                      <a:srgbClr val="FFFFFF"/>
                    </a:solidFill>
                  </a:tcPr>
                </a:tc>
                <a:tc>
                  <a:txBody>
                    <a:bodyPr/>
                    <a:lstStyle/>
                    <a:p>
                      <a:r>
                        <a:rPr sz="1200">
                          <a:solidFill>
                            <a:srgbClr val="1E2A38"/>
                          </a:solidFill>
                          <a:latin typeface="Courier New"/>
                        </a:rPr>
                        <a:t>CTRL</a:t>
                      </a:r>
                    </a:p>
                  </a:txBody>
                  <a:tcPr>
                    <a:solidFill>
                      <a:srgbClr val="FFFFFF"/>
                    </a:solidFill>
                  </a:tcPr>
                </a:tc>
                <a:tc>
                  <a:txBody>
                    <a:bodyPr/>
                    <a:lstStyle/>
                    <a:p>
                      <a:r>
                        <a:rPr sz="1200">
                          <a:solidFill>
                            <a:srgbClr val="1E2A38"/>
                          </a:solidFill>
                          <a:latin typeface="Calibri"/>
                        </a:rPr>
                        <a:t>bit0 START</a:t>
                      </a:r>
                    </a:p>
                  </a:txBody>
                  <a:tcPr>
                    <a:solidFill>
                      <a:srgbClr val="FFFFFF"/>
                    </a:solidFill>
                  </a:tcPr>
                </a:tc>
              </a:tr>
              <a:tr h="467360">
                <a:tc>
                  <a:txBody>
                    <a:bodyPr/>
                    <a:lstStyle/>
                    <a:p>
                      <a:r>
                        <a:rPr sz="1200">
                          <a:solidFill>
                            <a:srgbClr val="1E2A38"/>
                          </a:solidFill>
                          <a:latin typeface="Courier New"/>
                        </a:rPr>
                        <a:t>0x0010</a:t>
                      </a:r>
                    </a:p>
                  </a:txBody>
                  <a:tcPr>
                    <a:solidFill>
                      <a:srgbClr val="EEF2F6"/>
                    </a:solidFill>
                  </a:tcPr>
                </a:tc>
                <a:tc>
                  <a:txBody>
                    <a:bodyPr/>
                    <a:lstStyle/>
                    <a:p>
                      <a:r>
                        <a:rPr sz="1200">
                          <a:solidFill>
                            <a:srgbClr val="1E2A38"/>
                          </a:solidFill>
                          <a:latin typeface="Courier New"/>
                        </a:rPr>
                        <a:t>STATUS</a:t>
                      </a:r>
                    </a:p>
                  </a:txBody>
                  <a:tcPr>
                    <a:solidFill>
                      <a:srgbClr val="EEF2F6"/>
                    </a:solidFill>
                  </a:tcPr>
                </a:tc>
                <a:tc>
                  <a:txBody>
                    <a:bodyPr/>
                    <a:lstStyle/>
                    <a:p>
                      <a:r>
                        <a:rPr sz="1200">
                          <a:solidFill>
                            <a:srgbClr val="1E2A38"/>
                          </a:solidFill>
                          <a:latin typeface="Calibri"/>
                        </a:rPr>
                        <a:t>BUSY, DONE</a:t>
                      </a:r>
                    </a:p>
                  </a:txBody>
                  <a:tcPr>
                    <a:solidFill>
                      <a:srgbClr val="EEF2F6"/>
                    </a:solidFill>
                  </a:tcPr>
                </a:tc>
              </a:tr>
              <a:tr h="467360">
                <a:tc>
                  <a:txBody>
                    <a:bodyPr/>
                    <a:lstStyle/>
                    <a:p>
                      <a:r>
                        <a:rPr sz="1200">
                          <a:solidFill>
                            <a:srgbClr val="1E2A38"/>
                          </a:solidFill>
                          <a:latin typeface="Courier New"/>
                        </a:rPr>
                        <a:t>0x0018</a:t>
                      </a:r>
                    </a:p>
                  </a:txBody>
                  <a:tcPr>
                    <a:solidFill>
                      <a:srgbClr val="FFFFFF"/>
                    </a:solidFill>
                  </a:tcPr>
                </a:tc>
                <a:tc>
                  <a:txBody>
                    <a:bodyPr/>
                    <a:lstStyle/>
                    <a:p>
                      <a:r>
                        <a:rPr sz="1200">
                          <a:solidFill>
                            <a:srgbClr val="1E2A38"/>
                          </a:solidFill>
                          <a:latin typeface="Courier New"/>
                        </a:rPr>
                        <a:t>NUM_BODIES</a:t>
                      </a:r>
                    </a:p>
                  </a:txBody>
                  <a:tcPr>
                    <a:solidFill>
                      <a:srgbClr val="FFFFFF"/>
                    </a:solidFill>
                  </a:tcPr>
                </a:tc>
                <a:tc>
                  <a:txBody>
                    <a:bodyPr/>
                    <a:lstStyle/>
                    <a:p>
                      <a:r>
                        <a:rPr sz="1200">
                          <a:solidFill>
                            <a:srgbClr val="1E2A38"/>
                          </a:solidFill>
                          <a:latin typeface="Calibri"/>
                        </a:rPr>
                        <a:t>2 .. 16</a:t>
                      </a:r>
                    </a:p>
                  </a:txBody>
                  <a:tcPr>
                    <a:solidFill>
                      <a:srgbClr val="FFFFFF"/>
                    </a:solidFill>
                  </a:tcPr>
                </a:tc>
              </a:tr>
              <a:tr h="467360">
                <a:tc>
                  <a:txBody>
                    <a:bodyPr/>
                    <a:lstStyle/>
                    <a:p>
                      <a:r>
                        <a:rPr sz="1200">
                          <a:solidFill>
                            <a:srgbClr val="1E2A38"/>
                          </a:solidFill>
                          <a:latin typeface="Courier New"/>
                        </a:rPr>
                        <a:t>0x0020</a:t>
                      </a:r>
                    </a:p>
                  </a:txBody>
                  <a:tcPr>
                    <a:solidFill>
                      <a:srgbClr val="EEF2F6"/>
                    </a:solidFill>
                  </a:tcPr>
                </a:tc>
                <a:tc>
                  <a:txBody>
                    <a:bodyPr/>
                    <a:lstStyle/>
                    <a:p>
                      <a:r>
                        <a:rPr sz="1200">
                          <a:solidFill>
                            <a:srgbClr val="1E2A38"/>
                          </a:solidFill>
                          <a:latin typeface="Courier New"/>
                        </a:rPr>
                        <a:t>NUM_STEPS</a:t>
                      </a:r>
                    </a:p>
                  </a:txBody>
                  <a:tcPr>
                    <a:solidFill>
                      <a:srgbClr val="EEF2F6"/>
                    </a:solidFill>
                  </a:tcPr>
                </a:tc>
                <a:tc>
                  <a:txBody>
                    <a:bodyPr/>
                    <a:lstStyle/>
                    <a:p>
                      <a:r>
                        <a:rPr sz="1200">
                          <a:solidFill>
                            <a:srgbClr val="1E2A38"/>
                          </a:solidFill>
                          <a:latin typeface="Calibri"/>
                        </a:rPr>
                        <a:t>steps per call</a:t>
                      </a:r>
                    </a:p>
                  </a:txBody>
                  <a:tcPr>
                    <a:solidFill>
                      <a:srgbClr val="EEF2F6"/>
                    </a:solidFill>
                  </a:tcPr>
                </a:tc>
              </a:tr>
              <a:tr h="467360">
                <a:tc>
                  <a:txBody>
                    <a:bodyPr/>
                    <a:lstStyle/>
                    <a:p>
                      <a:r>
                        <a:rPr sz="1200">
                          <a:solidFill>
                            <a:srgbClr val="1E2A38"/>
                          </a:solidFill>
                          <a:latin typeface="Courier New"/>
                        </a:rPr>
                        <a:t>0x0028</a:t>
                      </a:r>
                    </a:p>
                  </a:txBody>
                  <a:tcPr>
                    <a:solidFill>
                      <a:srgbClr val="FFFFFF"/>
                    </a:solidFill>
                  </a:tcPr>
                </a:tc>
                <a:tc>
                  <a:txBody>
                    <a:bodyPr/>
                    <a:lstStyle/>
                    <a:p>
                      <a:r>
                        <a:rPr sz="1200">
                          <a:solidFill>
                            <a:srgbClr val="1E2A38"/>
                          </a:solidFill>
                          <a:latin typeface="Courier New"/>
                        </a:rPr>
                        <a:t>DT</a:t>
                      </a:r>
                    </a:p>
                  </a:txBody>
                  <a:tcPr>
                    <a:solidFill>
                      <a:srgbClr val="FFFFFF"/>
                    </a:solidFill>
                  </a:tcPr>
                </a:tc>
                <a:tc>
                  <a:txBody>
                    <a:bodyPr/>
                    <a:lstStyle/>
                    <a:p>
                      <a:r>
                        <a:rPr sz="1200">
                          <a:solidFill>
                            <a:srgbClr val="1E2A38"/>
                          </a:solidFill>
                          <a:latin typeface="Calibri"/>
                        </a:rPr>
                        <a:t>IEEE-754 double</a:t>
                      </a:r>
                    </a:p>
                  </a:txBody>
                  <a:tcPr>
                    <a:solidFill>
                      <a:srgbClr val="FFFFFF"/>
                    </a:solidFill>
                  </a:tcPr>
                </a:tc>
              </a:tr>
              <a:tr h="467360">
                <a:tc>
                  <a:txBody>
                    <a:bodyPr/>
                    <a:lstStyle/>
                    <a:p>
                      <a:r>
                        <a:rPr sz="1200">
                          <a:solidFill>
                            <a:srgbClr val="1E2A38"/>
                          </a:solidFill>
                          <a:latin typeface="Courier New"/>
                        </a:rPr>
                        <a:t>0x0030/38</a:t>
                      </a:r>
                    </a:p>
                  </a:txBody>
                  <a:tcPr>
                    <a:solidFill>
                      <a:srgbClr val="EEF2F6"/>
                    </a:solidFill>
                  </a:tcPr>
                </a:tc>
                <a:tc>
                  <a:txBody>
                    <a:bodyPr/>
                    <a:lstStyle/>
                    <a:p>
                      <a:r>
                        <a:rPr sz="1200">
                          <a:solidFill>
                            <a:srgbClr val="1E2A38"/>
                          </a:solidFill>
                          <a:latin typeface="Courier New"/>
                        </a:rPr>
                        <a:t>STEPS_DONE, CYCLES</a:t>
                      </a:r>
                    </a:p>
                  </a:txBody>
                  <a:tcPr>
                    <a:solidFill>
                      <a:srgbClr val="EEF2F6"/>
                    </a:solidFill>
                  </a:tcPr>
                </a:tc>
                <a:tc>
                  <a:txBody>
                    <a:bodyPr/>
                    <a:lstStyle/>
                    <a:p>
                      <a:r>
                        <a:rPr sz="1200">
                          <a:solidFill>
                            <a:srgbClr val="1E2A38"/>
                          </a:solidFill>
                          <a:latin typeface="Calibri"/>
                        </a:rPr>
                        <a:t>progress, performance counter</a:t>
                      </a:r>
                    </a:p>
                  </a:txBody>
                  <a:tcPr>
                    <a:solidFill>
                      <a:srgbClr val="EEF2F6"/>
                    </a:solidFill>
                  </a:tcPr>
                </a:tc>
              </a:tr>
              <a:tr h="467360">
                <a:tc>
                  <a:txBody>
                    <a:bodyPr/>
                    <a:lstStyle/>
                    <a:p>
                      <a:r>
                        <a:rPr sz="1200">
                          <a:solidFill>
                            <a:srgbClr val="1E2A38"/>
                          </a:solidFill>
                          <a:latin typeface="Courier New"/>
                        </a:rPr>
                        <a:t>0x1000+</a:t>
                      </a:r>
                    </a:p>
                  </a:txBody>
                  <a:tcPr>
                    <a:solidFill>
                      <a:srgbClr val="FFFFFF"/>
                    </a:solidFill>
                  </a:tcPr>
                </a:tc>
                <a:tc>
                  <a:txBody>
                    <a:bodyPr/>
                    <a:lstStyle/>
                    <a:p>
                      <a:r>
                        <a:rPr sz="1200">
                          <a:solidFill>
                            <a:srgbClr val="1E2A38"/>
                          </a:solidFill>
                          <a:latin typeface="Courier New"/>
                        </a:rPr>
                        <a:t>BODY[b].f</a:t>
                      </a:r>
                    </a:p>
                  </a:txBody>
                  <a:tcPr>
                    <a:solidFill>
                      <a:srgbClr val="FFFFFF"/>
                    </a:solidFill>
                  </a:tcPr>
                </a:tc>
                <a:tc>
                  <a:txBody>
                    <a:bodyPr/>
                    <a:lstStyle/>
                    <a:p>
                      <a:r>
                        <a:rPr sz="1200">
                          <a:solidFill>
                            <a:srgbClr val="1E2A38"/>
                          </a:solidFill>
                          <a:latin typeface="Calibri"/>
                        </a:rPr>
                        <a:t>x y z vx vy vz m</a:t>
                      </a:r>
                    </a:p>
                  </a:txBody>
                  <a:tcPr>
                    <a:solidFill>
                      <a:srgbClr val="FFFFFF"/>
                    </a:solidFill>
                  </a:tcPr>
                </a:tc>
              </a:tr>
            </a:tbl>
          </a:graphicData>
        </a:graphic>
      </p:graphicFrame>
      <p:sp>
        <p:nvSpPr>
          <p:cNvPr id="7" name="Rounded Rectangle 6"/>
          <p:cNvSpPr/>
          <p:nvPr/>
        </p:nvSpPr>
        <p:spPr>
          <a:xfrm>
            <a:off x="7223760" y="1691640"/>
            <a:ext cx="4389120" cy="777240"/>
          </a:xfrm>
          <a:prstGeom prst="roundRect">
            <a:avLst>
              <a:gd name="adj" fmla="val 4000"/>
            </a:avLst>
          </a:prstGeom>
          <a:solidFill>
            <a:srgbClr val="1B2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764792"/>
            <a:ext cx="4206240" cy="630936"/>
          </a:xfrm>
          <a:prstGeom prst="rect">
            <a:avLst/>
          </a:prstGeom>
          <a:noFill/>
        </p:spPr>
        <p:txBody>
          <a:bodyPr wrap="square" anchor="t" lIns="45720" rIns="45720">
            <a:spAutoFit/>
          </a:bodyPr>
          <a:lstStyle/>
          <a:p>
            <a:pPr algn="l">
              <a:spcAft>
                <a:spcPts val="0"/>
              </a:spcAft>
            </a:pPr>
            <a:r>
              <a:rPr sz="1300" b="0" i="0">
                <a:solidFill>
                  <a:srgbClr val="E6EDF3"/>
                </a:solidFill>
                <a:latin typeface="Courier New"/>
              </a:rPr>
              <a:t>advance = accelerated(advance)</a:t>
            </a:r>
          </a:p>
          <a:p>
            <a:pPr algn="l">
              <a:spcAft>
                <a:spcPts val="0"/>
              </a:spcAft>
            </a:pPr>
            <a:r>
              <a:rPr sz="1300" b="0" i="0">
                <a:solidFill>
                  <a:srgbClr val="E6EDF3"/>
                </a:solidFill>
                <a:latin typeface="Courier New"/>
              </a:rPr>
              <a:t>advance(0.01, 20000)   # same call</a:t>
            </a:r>
          </a:p>
        </p:txBody>
      </p:sp>
      <p:sp>
        <p:nvSpPr>
          <p:cNvPr id="9" name="TextBox 8"/>
          <p:cNvSpPr txBox="1"/>
          <p:nvPr/>
        </p:nvSpPr>
        <p:spPr>
          <a:xfrm>
            <a:off x="7223760" y="2697480"/>
            <a:ext cx="4389120" cy="3291840"/>
          </a:xfrm>
          <a:prstGeom prst="rect">
            <a:avLst/>
          </a:prstGeom>
          <a:noFill/>
        </p:spPr>
        <p:txBody>
          <a:bodyPr wrap="square" anchor="t" lIns="45720" rIns="45720">
            <a:spAutoFit/>
          </a:bodyPr>
          <a:lstStyle/>
          <a:p>
            <a:pPr algn="l" marL="228600" indent="-228600">
              <a:spcAft>
                <a:spcPts val="1000"/>
              </a:spcAft>
              <a:buChar char="•"/>
            </a:pPr>
            <a:r>
              <a:rPr sz="1600" b="0" i="0">
                <a:solidFill>
                  <a:srgbClr val="1E2A38"/>
                </a:solidFill>
                <a:latin typeface="Calibri"/>
              </a:rPr>
              <a:t>card present: write N, steps, dt, 35 body values; START; wait for DONE; read back into the same lists</a:t>
            </a:r>
          </a:p>
          <a:p>
            <a:pPr algn="l" marL="228600" indent="-228600">
              <a:spcAft>
                <a:spcPts val="1000"/>
              </a:spcAft>
              <a:buChar char="•"/>
            </a:pPr>
            <a:r>
              <a:rPr sz="1600" b="0" i="0">
                <a:solidFill>
                  <a:srgbClr val="1E2A38"/>
                </a:solidFill>
                <a:latin typeface="Calibri"/>
              </a:rPr>
              <a:t>70 register operations per call, independent of the number of steps</a:t>
            </a:r>
          </a:p>
          <a:p>
            <a:pPr algn="l" marL="228600" indent="-228600">
              <a:spcAft>
                <a:spcPts val="1000"/>
              </a:spcAft>
              <a:buChar char="•"/>
            </a:pPr>
            <a:r>
              <a:rPr sz="1600" b="0" i="0">
                <a:solidFill>
                  <a:srgbClr val="1E2A38"/>
                </a:solidFill>
                <a:latin typeface="Calibri"/>
              </a:rPr>
              <a:t>no card, or &gt; 16 bodies: the normal software advance() runs</a:t>
            </a:r>
          </a:p>
          <a:p>
            <a:pPr algn="l" marL="228600" indent="-228600">
              <a:spcAft>
                <a:spcPts val="1000"/>
              </a:spcAft>
              <a:buChar char="•"/>
            </a:pPr>
            <a:r>
              <a:rPr sz="1600" b="0" i="0">
                <a:solidFill>
                  <a:srgbClr val="1E2A38"/>
                </a:solidFill>
                <a:latin typeface="Calibri"/>
              </a:rPr>
              <a:t>large systems: one DMA transfer instead of register writes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11480"/>
            <a:ext cx="502920" cy="50292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502920" cy="502920"/>
          </a:xfrm>
          <a:prstGeom prst="rect">
            <a:avLst/>
          </a:prstGeom>
          <a:noFill/>
        </p:spPr>
        <p:txBody>
          <a:bodyPr wrap="square" anchor="ctr" lIns="0" rIns="0" tIns="0" bIns="0">
            <a:spAutoFit/>
          </a:bodyPr>
          <a:lstStyle/>
          <a:p>
            <a:pPr algn="ctr">
              <a:spcAft>
                <a:spcPts val="0"/>
              </a:spcAft>
            </a:pPr>
            <a:r>
              <a:rPr sz="1600" b="1" i="0">
                <a:solidFill>
                  <a:srgbClr val="FFFFFF"/>
                </a:solidFill>
                <a:latin typeface="Calibri"/>
              </a:rPr>
              <a:t>5</a:t>
            </a:r>
          </a:p>
        </p:txBody>
      </p:sp>
      <p:sp>
        <p:nvSpPr>
          <p:cNvPr id="4" name="TextBox 3"/>
          <p:cNvSpPr txBox="1"/>
          <p:nvPr/>
        </p:nvSpPr>
        <p:spPr>
          <a:xfrm>
            <a:off x="1234440" y="320040"/>
            <a:ext cx="10408615" cy="731520"/>
          </a:xfrm>
          <a:prstGeom prst="rect">
            <a:avLst/>
          </a:prstGeom>
          <a:noFill/>
        </p:spPr>
        <p:txBody>
          <a:bodyPr wrap="square" anchor="ctr" lIns="45720" rIns="45720">
            <a:spAutoFit/>
          </a:bodyPr>
          <a:lstStyle/>
          <a:p>
            <a:pPr algn="l">
              <a:spcAft>
                <a:spcPts val="0"/>
              </a:spcAft>
            </a:pPr>
            <a:r>
              <a:rPr sz="3200" b="1" i="0">
                <a:solidFill>
                  <a:srgbClr val="1E2A38"/>
                </a:solidFill>
                <a:latin typeface="Cambria"/>
              </a:rPr>
              <a:t>Verification: bit for bit</a:t>
            </a:r>
          </a:p>
        </p:txBody>
      </p:sp>
      <p:sp>
        <p:nvSpPr>
          <p:cNvPr id="5" name="TextBox 4"/>
          <p:cNvSpPr txBox="1"/>
          <p:nvPr/>
        </p:nvSpPr>
        <p:spPr>
          <a:xfrm>
            <a:off x="1234440" y="1005840"/>
            <a:ext cx="10408615" cy="411480"/>
          </a:xfrm>
          <a:prstGeom prst="rect">
            <a:avLst/>
          </a:prstGeom>
          <a:noFill/>
        </p:spPr>
        <p:txBody>
          <a:bodyPr wrap="square" anchor="t" lIns="45720" rIns="45720">
            <a:spAutoFit/>
          </a:bodyPr>
          <a:lstStyle/>
          <a:p>
            <a:pPr algn="l">
              <a:spcAft>
                <a:spcPts val="0"/>
              </a:spcAft>
            </a:pPr>
            <a:r>
              <a:rPr sz="1600" b="0" i="0">
                <a:solidFill>
                  <a:srgbClr val="5F6B7A"/>
                </a:solidFill>
                <a:latin typeface="Calibri"/>
              </a:rPr>
              <a:t>Icarus Verilog simulation, run_tests.sh rebuilds and reruns everything</a:t>
            </a:r>
          </a:p>
        </p:txBody>
      </p:sp>
      <p:sp>
        <p:nvSpPr>
          <p:cNvPr id="6" name="Rounded Rectangle 5"/>
          <p:cNvSpPr/>
          <p:nvPr/>
        </p:nvSpPr>
        <p:spPr>
          <a:xfrm>
            <a:off x="640080" y="1737360"/>
            <a:ext cx="2560320" cy="265176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874519"/>
            <a:ext cx="2286000" cy="822960"/>
          </a:xfrm>
          <a:prstGeom prst="rect">
            <a:avLst/>
          </a:prstGeom>
          <a:noFill/>
        </p:spPr>
        <p:txBody>
          <a:bodyPr wrap="square" anchor="ctr" lIns="45720" rIns="45720">
            <a:spAutoFit/>
          </a:bodyPr>
          <a:lstStyle/>
          <a:p>
            <a:pPr algn="l">
              <a:spcAft>
                <a:spcPts val="0"/>
              </a:spcAft>
            </a:pPr>
            <a:r>
              <a:rPr sz="3400" b="1" i="0">
                <a:solidFill>
                  <a:srgbClr val="1C9A86"/>
                </a:solidFill>
                <a:latin typeface="Cambria"/>
              </a:rPr>
              <a:t>274,014</a:t>
            </a:r>
          </a:p>
        </p:txBody>
      </p:sp>
      <p:sp>
        <p:nvSpPr>
          <p:cNvPr id="8" name="TextBox 7"/>
          <p:cNvSpPr txBox="1"/>
          <p:nvPr/>
        </p:nvSpPr>
        <p:spPr>
          <a:xfrm>
            <a:off x="822959" y="2743200"/>
            <a:ext cx="2286000" cy="1554480"/>
          </a:xfrm>
          <a:prstGeom prst="rect">
            <a:avLst/>
          </a:prstGeom>
          <a:noFill/>
        </p:spPr>
        <p:txBody>
          <a:bodyPr wrap="square" anchor="t" lIns="45720" rIns="45720">
            <a:spAutoFit/>
          </a:bodyPr>
          <a:lstStyle/>
          <a:p>
            <a:pPr algn="l">
              <a:spcAft>
                <a:spcPts val="0"/>
              </a:spcAft>
            </a:pPr>
            <a:r>
              <a:rPr sz="1500" b="0" i="0">
                <a:solidFill>
                  <a:srgbClr val="1E2A38"/>
                </a:solidFill>
                <a:latin typeface="Calibri"/>
              </a:rPr>
              <a:t>floating-point test vectors: add, mul, div, sqrt vs Python's IEEE-754 results, 0 errors</a:t>
            </a:r>
          </a:p>
        </p:txBody>
      </p:sp>
      <p:sp>
        <p:nvSpPr>
          <p:cNvPr id="9" name="Rounded Rectangle 8"/>
          <p:cNvSpPr/>
          <p:nvPr/>
        </p:nvSpPr>
        <p:spPr>
          <a:xfrm>
            <a:off x="3429000" y="1737360"/>
            <a:ext cx="2560320" cy="265176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1874519"/>
            <a:ext cx="2286000" cy="822960"/>
          </a:xfrm>
          <a:prstGeom prst="rect">
            <a:avLst/>
          </a:prstGeom>
          <a:noFill/>
        </p:spPr>
        <p:txBody>
          <a:bodyPr wrap="square" anchor="ctr" lIns="45720" rIns="45720">
            <a:spAutoFit/>
          </a:bodyPr>
          <a:lstStyle/>
          <a:p>
            <a:pPr algn="l">
              <a:spcAft>
                <a:spcPts val="0"/>
              </a:spcAft>
            </a:pPr>
            <a:r>
              <a:rPr sz="3400" b="1" i="0">
                <a:solidFill>
                  <a:srgbClr val="1C9A86"/>
                </a:solidFill>
                <a:latin typeface="Cambria"/>
              </a:rPr>
              <a:t>4 / 4</a:t>
            </a:r>
          </a:p>
        </p:txBody>
      </p:sp>
      <p:sp>
        <p:nvSpPr>
          <p:cNvPr id="11" name="TextBox 10"/>
          <p:cNvSpPr txBox="1"/>
          <p:nvPr/>
        </p:nvSpPr>
        <p:spPr>
          <a:xfrm>
            <a:off x="3611880" y="2743200"/>
            <a:ext cx="2286000" cy="1554480"/>
          </a:xfrm>
          <a:prstGeom prst="rect">
            <a:avLst/>
          </a:prstGeom>
          <a:noFill/>
        </p:spPr>
        <p:txBody>
          <a:bodyPr wrap="square" anchor="t" lIns="45720" rIns="45720">
            <a:spAutoFit/>
          </a:bodyPr>
          <a:lstStyle/>
          <a:p>
            <a:pPr algn="l">
              <a:spcAft>
                <a:spcPts val="0"/>
              </a:spcAft>
            </a:pPr>
            <a:r>
              <a:rPr sz="1500" b="0" i="0">
                <a:solidFill>
                  <a:srgbClr val="1E2A38"/>
                </a:solidFill>
                <a:latin typeface="Calibri"/>
              </a:rPr>
              <a:t>system tests through the registers: real benchmark bodies and 2, 3, 16 bodies, bit-identical</a:t>
            </a:r>
          </a:p>
        </p:txBody>
      </p:sp>
      <p:sp>
        <p:nvSpPr>
          <p:cNvPr id="12" name="Rounded Rectangle 11"/>
          <p:cNvSpPr/>
          <p:nvPr/>
        </p:nvSpPr>
        <p:spPr>
          <a:xfrm>
            <a:off x="6217920" y="1737360"/>
            <a:ext cx="2560320" cy="265176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874519"/>
            <a:ext cx="2286000" cy="822960"/>
          </a:xfrm>
          <a:prstGeom prst="rect">
            <a:avLst/>
          </a:prstGeom>
          <a:noFill/>
        </p:spPr>
        <p:txBody>
          <a:bodyPr wrap="square" anchor="ctr" lIns="45720" rIns="45720">
            <a:spAutoFit/>
          </a:bodyPr>
          <a:lstStyle/>
          <a:p>
            <a:pPr algn="l">
              <a:spcAft>
                <a:spcPts val="0"/>
              </a:spcAft>
            </a:pPr>
            <a:r>
              <a:rPr sz="3400" b="1" i="0">
                <a:solidFill>
                  <a:srgbClr val="1C9A86"/>
                </a:solidFill>
                <a:latin typeface="Cambria"/>
              </a:rPr>
              <a:t>20,000</a:t>
            </a:r>
          </a:p>
        </p:txBody>
      </p:sp>
      <p:sp>
        <p:nvSpPr>
          <p:cNvPr id="14" name="TextBox 13"/>
          <p:cNvSpPr txBox="1"/>
          <p:nvPr/>
        </p:nvSpPr>
        <p:spPr>
          <a:xfrm>
            <a:off x="6400800" y="2743200"/>
            <a:ext cx="2286000" cy="1554480"/>
          </a:xfrm>
          <a:prstGeom prst="rect">
            <a:avLst/>
          </a:prstGeom>
          <a:noFill/>
        </p:spPr>
        <p:txBody>
          <a:bodyPr wrap="square" anchor="t" lIns="45720" rIns="45720">
            <a:spAutoFit/>
          </a:bodyPr>
          <a:lstStyle/>
          <a:p>
            <a:pPr algn="l">
              <a:spcAft>
                <a:spcPts val="0"/>
              </a:spcAft>
            </a:pPr>
            <a:r>
              <a:rPr sz="1500" b="0" i="0">
                <a:solidFill>
                  <a:srgbClr val="1E2A38"/>
                </a:solidFill>
                <a:latin typeface="Calibri"/>
              </a:rPr>
              <a:t>steps of the real benchmark call: 3,980,000 cycles, all 35 values bit-identical</a:t>
            </a:r>
          </a:p>
        </p:txBody>
      </p:sp>
      <p:sp>
        <p:nvSpPr>
          <p:cNvPr id="15" name="Rounded Rectangle 14"/>
          <p:cNvSpPr/>
          <p:nvPr/>
        </p:nvSpPr>
        <p:spPr>
          <a:xfrm>
            <a:off x="9006839" y="1737360"/>
            <a:ext cx="2560320" cy="265176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89719" y="1874519"/>
            <a:ext cx="2286000" cy="822960"/>
          </a:xfrm>
          <a:prstGeom prst="rect">
            <a:avLst/>
          </a:prstGeom>
          <a:noFill/>
        </p:spPr>
        <p:txBody>
          <a:bodyPr wrap="square" anchor="ctr" lIns="45720" rIns="45720">
            <a:spAutoFit/>
          </a:bodyPr>
          <a:lstStyle/>
          <a:p>
            <a:pPr algn="l">
              <a:spcAft>
                <a:spcPts val="0"/>
              </a:spcAft>
            </a:pPr>
            <a:r>
              <a:rPr sz="3400" b="1" i="0">
                <a:solidFill>
                  <a:srgbClr val="1C9A86"/>
                </a:solidFill>
                <a:latin typeface="Cambria"/>
              </a:rPr>
              <a:t>2 / 2</a:t>
            </a:r>
          </a:p>
        </p:txBody>
      </p:sp>
      <p:sp>
        <p:nvSpPr>
          <p:cNvPr id="17" name="TextBox 16"/>
          <p:cNvSpPr txBox="1"/>
          <p:nvPr/>
        </p:nvSpPr>
        <p:spPr>
          <a:xfrm>
            <a:off x="9189719" y="2743200"/>
            <a:ext cx="2286000" cy="1554480"/>
          </a:xfrm>
          <a:prstGeom prst="rect">
            <a:avLst/>
          </a:prstGeom>
          <a:noFill/>
        </p:spPr>
        <p:txBody>
          <a:bodyPr wrap="square" anchor="t" lIns="45720" rIns="45720">
            <a:spAutoFit/>
          </a:bodyPr>
          <a:lstStyle/>
          <a:p>
            <a:pPr algn="l">
              <a:spcAft>
                <a:spcPts val="0"/>
              </a:spcAft>
            </a:pPr>
            <a:r>
              <a:rPr sz="1500" b="0" i="0">
                <a:solidFill>
                  <a:srgbClr val="1E2A38"/>
                </a:solidFill>
                <a:latin typeface="Calibri"/>
              </a:rPr>
              <a:t>driver paths: software fallback and offload, both identical</a:t>
            </a:r>
          </a:p>
        </p:txBody>
      </p:sp>
      <p:sp>
        <p:nvSpPr>
          <p:cNvPr id="18" name="Rounded Rectangle 17"/>
          <p:cNvSpPr/>
          <p:nvPr/>
        </p:nvSpPr>
        <p:spPr>
          <a:xfrm>
            <a:off x="640080" y="4709160"/>
            <a:ext cx="10881360" cy="1325880"/>
          </a:xfrm>
          <a:prstGeom prst="roundRect">
            <a:avLst>
              <a:gd name="adj" fmla="val 8000"/>
            </a:avLst>
          </a:prstGeom>
          <a:solidFill>
            <a:srgbClr val="15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800600"/>
            <a:ext cx="10332720" cy="1143000"/>
          </a:xfrm>
          <a:prstGeom prst="rect">
            <a:avLst/>
          </a:prstGeom>
          <a:noFill/>
        </p:spPr>
        <p:txBody>
          <a:bodyPr wrap="square" anchor="t" lIns="45720" rIns="45720">
            <a:spAutoFit/>
          </a:bodyPr>
          <a:lstStyle/>
          <a:p>
            <a:pPr algn="l">
              <a:spcAft>
                <a:spcPts val="600"/>
              </a:spcAft>
            </a:pPr>
            <a:r>
              <a:rPr sz="1500" b="1" i="0">
                <a:solidFill>
                  <a:srgbClr val="D9822B"/>
                </a:solidFill>
                <a:latin typeface="Calibri"/>
              </a:rPr>
              <a:t>Same results as the software: </a:t>
            </a:r>
            <a:r>
              <a:rPr sz="1500" b="0" i="0">
                <a:solidFill>
                  <a:srgbClr val="E6EDF3"/>
                </a:solidFill>
                <a:latin typeface="Calibri"/>
              </a:rPr>
              <a:t>IEEE double with 1/(d2·sqrt(d2)), because +, -, x, / and sqrt have exactly one correct IEEE result and pow does not. Bit-identical to the software with the same formula; vs the original **: 1.3e-9 relative after 20000 steps (rounding only).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11480"/>
            <a:ext cx="502920" cy="50292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502920" cy="502920"/>
          </a:xfrm>
          <a:prstGeom prst="rect">
            <a:avLst/>
          </a:prstGeom>
          <a:noFill/>
        </p:spPr>
        <p:txBody>
          <a:bodyPr wrap="square" anchor="ctr" lIns="0" rIns="0" tIns="0" bIns="0">
            <a:spAutoFit/>
          </a:bodyPr>
          <a:lstStyle/>
          <a:p>
            <a:pPr algn="ctr">
              <a:spcAft>
                <a:spcPts val="0"/>
              </a:spcAft>
            </a:pPr>
            <a:r>
              <a:rPr sz="1600" b="1" i="0">
                <a:solidFill>
                  <a:srgbClr val="FFFFFF"/>
                </a:solidFill>
                <a:latin typeface="Calibri"/>
              </a:rPr>
              <a:t>5</a:t>
            </a:r>
          </a:p>
        </p:txBody>
      </p:sp>
      <p:sp>
        <p:nvSpPr>
          <p:cNvPr id="4" name="TextBox 3"/>
          <p:cNvSpPr txBox="1"/>
          <p:nvPr/>
        </p:nvSpPr>
        <p:spPr>
          <a:xfrm>
            <a:off x="1234440" y="320040"/>
            <a:ext cx="10408615" cy="731520"/>
          </a:xfrm>
          <a:prstGeom prst="rect">
            <a:avLst/>
          </a:prstGeom>
          <a:noFill/>
        </p:spPr>
        <p:txBody>
          <a:bodyPr wrap="square" anchor="ctr" lIns="45720" rIns="45720">
            <a:spAutoFit/>
          </a:bodyPr>
          <a:lstStyle/>
          <a:p>
            <a:pPr algn="l">
              <a:spcAft>
                <a:spcPts val="0"/>
              </a:spcAft>
            </a:pPr>
            <a:r>
              <a:rPr sz="3200" b="1" i="0">
                <a:solidFill>
                  <a:srgbClr val="1E2A38"/>
                </a:solidFill>
                <a:latin typeface="Cambria"/>
              </a:rPr>
              <a:t>Estimated speedup (from measured numbers)</a:t>
            </a:r>
          </a:p>
        </p:txBody>
      </p:sp>
      <p:sp>
        <p:nvSpPr>
          <p:cNvPr id="5" name="TextBox 4"/>
          <p:cNvSpPr txBox="1"/>
          <p:nvPr/>
        </p:nvSpPr>
        <p:spPr>
          <a:xfrm>
            <a:off x="1234440" y="1005840"/>
            <a:ext cx="10408615" cy="411480"/>
          </a:xfrm>
          <a:prstGeom prst="rect">
            <a:avLst/>
          </a:prstGeom>
          <a:noFill/>
        </p:spPr>
        <p:txBody>
          <a:bodyPr wrap="square" anchor="t" lIns="45720" rIns="45720">
            <a:spAutoFit/>
          </a:bodyPr>
          <a:lstStyle/>
          <a:p>
            <a:pPr algn="l">
              <a:spcAft>
                <a:spcPts val="0"/>
              </a:spcAft>
            </a:pPr>
            <a:r>
              <a:rPr sz="1600" b="0" i="0">
                <a:solidFill>
                  <a:srgbClr val="5F6B7A"/>
                </a:solidFill>
                <a:latin typeface="Calibri"/>
              </a:rPr>
              <a:t>Software: pyperformance medians. Hardware: simulated cycles x 10 ns + PCIe overhead</a:t>
            </a:r>
          </a:p>
        </p:txBody>
      </p:sp>
      <p:graphicFrame>
        <p:nvGraphicFramePr>
          <p:cNvPr id="6" name="Chart 5"/>
          <p:cNvGraphicFramePr>
            <a:graphicFrameLocks noGrp="1"/>
          </p:cNvGraphicFramePr>
          <p:nvPr/>
        </p:nvGraphicFramePr>
        <p:xfrm>
          <a:off x="457200" y="1554480"/>
          <a:ext cx="5760720" cy="4297680"/>
        </p:xfrm>
        <a:graphic>
          <a:graphicData uri="http://schemas.openxmlformats.org/drawingml/2006/chart">
            <c:chart xmlns:c="http://schemas.openxmlformats.org/drawingml/2006/chart" r:id="rId2"/>
          </a:graphicData>
        </a:graphic>
      </p:graphicFrame>
      <p:sp>
        <p:nvSpPr>
          <p:cNvPr id="7" name="TextBox 6"/>
          <p:cNvSpPr txBox="1"/>
          <p:nvPr/>
        </p:nvSpPr>
        <p:spPr>
          <a:xfrm>
            <a:off x="640080" y="5852160"/>
            <a:ext cx="5577840" cy="548640"/>
          </a:xfrm>
          <a:prstGeom prst="rect">
            <a:avLst/>
          </a:prstGeom>
          <a:noFill/>
        </p:spPr>
        <p:txBody>
          <a:bodyPr wrap="square" anchor="t" lIns="45720" rIns="45720">
            <a:spAutoFit/>
          </a:bodyPr>
          <a:lstStyle/>
          <a:p>
            <a:pPr algn="l">
              <a:spcAft>
                <a:spcPts val="600"/>
              </a:spcAft>
            </a:pPr>
            <a:r>
              <a:rPr sz="1200" b="0" i="0">
                <a:solidFill>
                  <a:srgbClr val="5F6B7A"/>
                </a:solidFill>
                <a:latin typeface="Calibri"/>
              </a:rPr>
              <a:t>accelerator = 20000 x 199 cycles x 10 ns (39.8 ms) + 70 PCIe accesses at 10 µs + polling (1.2 ms)</a:t>
            </a:r>
          </a:p>
        </p:txBody>
      </p:sp>
      <p:sp>
        <p:nvSpPr>
          <p:cNvPr id="8" name="TextBox 7"/>
          <p:cNvSpPr txBox="1"/>
          <p:nvPr/>
        </p:nvSpPr>
        <p:spPr>
          <a:xfrm>
            <a:off x="6675120" y="1645920"/>
            <a:ext cx="2377440" cy="731520"/>
          </a:xfrm>
          <a:prstGeom prst="rect">
            <a:avLst/>
          </a:prstGeom>
          <a:noFill/>
        </p:spPr>
        <p:txBody>
          <a:bodyPr wrap="square" anchor="b" lIns="45720" rIns="45720">
            <a:spAutoFit/>
          </a:bodyPr>
          <a:lstStyle/>
          <a:p>
            <a:pPr algn="l">
              <a:spcAft>
                <a:spcPts val="0"/>
              </a:spcAft>
            </a:pPr>
            <a:r>
              <a:rPr sz="4800" b="1" i="0">
                <a:solidFill>
                  <a:srgbClr val="D9822B"/>
                </a:solidFill>
                <a:latin typeface="Cambria"/>
              </a:rPr>
              <a:t>5.7x</a:t>
            </a:r>
          </a:p>
        </p:txBody>
      </p:sp>
      <p:sp>
        <p:nvSpPr>
          <p:cNvPr id="9" name="TextBox 8"/>
          <p:cNvSpPr txBox="1"/>
          <p:nvPr/>
        </p:nvSpPr>
        <p:spPr>
          <a:xfrm>
            <a:off x="6675120" y="2395728"/>
            <a:ext cx="2377440" cy="640080"/>
          </a:xfrm>
          <a:prstGeom prst="rect">
            <a:avLst/>
          </a:prstGeom>
          <a:noFill/>
        </p:spPr>
        <p:txBody>
          <a:bodyPr wrap="square" anchor="t" lIns="45720" rIns="45720">
            <a:spAutoFit/>
          </a:bodyPr>
          <a:lstStyle/>
          <a:p>
            <a:pPr algn="l">
              <a:spcAft>
                <a:spcPts val="0"/>
              </a:spcAft>
            </a:pPr>
            <a:r>
              <a:rPr sz="1400" b="0" i="0">
                <a:solidFill>
                  <a:srgbClr val="5F6B7A"/>
                </a:solidFill>
                <a:latin typeface="Calibri"/>
              </a:rPr>
              <a:t>vs original software</a:t>
            </a:r>
          </a:p>
        </p:txBody>
      </p:sp>
      <p:sp>
        <p:nvSpPr>
          <p:cNvPr id="10" name="TextBox 9"/>
          <p:cNvSpPr txBox="1"/>
          <p:nvPr/>
        </p:nvSpPr>
        <p:spPr>
          <a:xfrm>
            <a:off x="9235440" y="1645920"/>
            <a:ext cx="2377440" cy="731520"/>
          </a:xfrm>
          <a:prstGeom prst="rect">
            <a:avLst/>
          </a:prstGeom>
          <a:noFill/>
        </p:spPr>
        <p:txBody>
          <a:bodyPr wrap="square" anchor="b" lIns="45720" rIns="45720">
            <a:spAutoFit/>
          </a:bodyPr>
          <a:lstStyle/>
          <a:p>
            <a:pPr algn="l">
              <a:spcAft>
                <a:spcPts val="0"/>
              </a:spcAft>
            </a:pPr>
            <a:r>
              <a:rPr sz="4800" b="1" i="0">
                <a:solidFill>
                  <a:srgbClr val="D9822B"/>
                </a:solidFill>
                <a:latin typeface="Cambria"/>
              </a:rPr>
              <a:t>3.5x</a:t>
            </a:r>
          </a:p>
        </p:txBody>
      </p:sp>
      <p:sp>
        <p:nvSpPr>
          <p:cNvPr id="11" name="TextBox 10"/>
          <p:cNvSpPr txBox="1"/>
          <p:nvPr/>
        </p:nvSpPr>
        <p:spPr>
          <a:xfrm>
            <a:off x="9235440" y="2395728"/>
            <a:ext cx="2377440" cy="640080"/>
          </a:xfrm>
          <a:prstGeom prst="rect">
            <a:avLst/>
          </a:prstGeom>
          <a:noFill/>
        </p:spPr>
        <p:txBody>
          <a:bodyPr wrap="square" anchor="t" lIns="45720" rIns="45720">
            <a:spAutoFit/>
          </a:bodyPr>
          <a:lstStyle/>
          <a:p>
            <a:pPr algn="l">
              <a:spcAft>
                <a:spcPts val="0"/>
              </a:spcAft>
            </a:pPr>
            <a:r>
              <a:rPr sz="1400" b="0" i="0">
                <a:solidFill>
                  <a:srgbClr val="5F6B7A"/>
                </a:solidFill>
                <a:latin typeface="Calibri"/>
              </a:rPr>
              <a:t>vs our optimized</a:t>
            </a:r>
            <a:br/>
            <a:r>
              <a:rPr sz="1400" b="0" i="0">
                <a:solidFill>
                  <a:srgbClr val="5F6B7A"/>
                </a:solidFill>
                <a:latin typeface="Calibri"/>
              </a:rPr>
              <a:t>software</a:t>
            </a:r>
          </a:p>
        </p:txBody>
      </p:sp>
      <p:sp>
        <p:nvSpPr>
          <p:cNvPr id="12" name="Rounded Rectangle 11"/>
          <p:cNvSpPr/>
          <p:nvPr/>
        </p:nvSpPr>
        <p:spPr>
          <a:xfrm>
            <a:off x="6675120" y="3566160"/>
            <a:ext cx="4937760" cy="265176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03720" y="3657600"/>
            <a:ext cx="4572000" cy="2560320"/>
          </a:xfrm>
          <a:prstGeom prst="rect">
            <a:avLst/>
          </a:prstGeom>
          <a:noFill/>
        </p:spPr>
        <p:txBody>
          <a:bodyPr wrap="square" anchor="t" lIns="45720" rIns="45720">
            <a:spAutoFit/>
          </a:bodyPr>
          <a:lstStyle/>
          <a:p>
            <a:pPr algn="l">
              <a:spcAft>
                <a:spcPts val="800"/>
              </a:spcAft>
            </a:pPr>
            <a:r>
              <a:rPr sz="1400" b="1" i="0">
                <a:solidFill>
                  <a:srgbClr val="1E2A38"/>
                </a:solidFill>
                <a:latin typeface="Calibri"/>
              </a:rPr>
              <a:t>Break-even: </a:t>
            </a:r>
            <a:r>
              <a:rPr sz="1400" b="0" i="0">
                <a:solidFill>
                  <a:srgbClr val="1E2A38"/>
                </a:solidFill>
                <a:latin typeface="Calibri"/>
              </a:rPr>
              <a:t>the PCIe cost is paid once per call, so the card wins above ~125 steps (vs original) or ~230 (vs optimized). The benchmark does 20000.</a:t>
            </a:r>
          </a:p>
          <a:p>
            <a:pPr algn="l">
              <a:spcAft>
                <a:spcPts val="800"/>
              </a:spcAft>
            </a:pPr>
            <a:r>
              <a:rPr sz="1400" b="1" i="0">
                <a:solidFill>
                  <a:srgbClr val="1E2A38"/>
                </a:solidFill>
                <a:latin typeface="Calibri"/>
              </a:rPr>
              <a:t>More bodies, bigger win: </a:t>
            </a:r>
            <a:r>
              <a:rPr sz="1400" b="0" i="0">
                <a:solidFill>
                  <a:srgbClr val="1E2A38"/>
                </a:solidFill>
                <a:latin typeface="Calibri"/>
              </a:rPr>
              <a:t>1.3x at 2, 3.6x at 5, 5.1x at 8, 6.6x at 16 bodies.</a:t>
            </a:r>
          </a:p>
          <a:p>
            <a:pPr algn="l">
              <a:spcAft>
                <a:spcPts val="800"/>
              </a:spcAft>
            </a:pPr>
            <a:r>
              <a:rPr sz="1400" b="1" i="0">
                <a:solidFill>
                  <a:srgbClr val="1E2A38"/>
                </a:solidFill>
                <a:latin typeface="Calibri"/>
              </a:rPr>
              <a:t>Assumptions: </a:t>
            </a:r>
            <a:r>
              <a:rPr sz="1400" b="0" i="0">
                <a:solidFill>
                  <a:srgbClr val="1E2A38"/>
                </a:solidFill>
                <a:latin typeface="Calibri"/>
              </a:rPr>
              <a:t>100 MHz reached (not synthesized), 10 µs per register access (pessimistic), FPGA configured once.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11480"/>
            <a:ext cx="502920" cy="50292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502920" cy="502920"/>
          </a:xfrm>
          <a:prstGeom prst="rect">
            <a:avLst/>
          </a:prstGeom>
          <a:noFill/>
        </p:spPr>
        <p:txBody>
          <a:bodyPr wrap="square" anchor="ctr" lIns="0" rIns="0" tIns="0" bIns="0">
            <a:spAutoFit/>
          </a:bodyPr>
          <a:lstStyle/>
          <a:p>
            <a:pPr algn="ctr">
              <a:spcAft>
                <a:spcPts val="0"/>
              </a:spcAft>
            </a:pPr>
            <a:r>
              <a:rPr sz="1600" b="1" i="0">
                <a:solidFill>
                  <a:srgbClr val="FFFFFF"/>
                </a:solidFill>
                <a:latin typeface="Calibri"/>
              </a:rPr>
              <a:t>5</a:t>
            </a:r>
          </a:p>
        </p:txBody>
      </p:sp>
      <p:sp>
        <p:nvSpPr>
          <p:cNvPr id="4" name="TextBox 3"/>
          <p:cNvSpPr txBox="1"/>
          <p:nvPr/>
        </p:nvSpPr>
        <p:spPr>
          <a:xfrm>
            <a:off x="1234440" y="320040"/>
            <a:ext cx="10408615" cy="731520"/>
          </a:xfrm>
          <a:prstGeom prst="rect">
            <a:avLst/>
          </a:prstGeom>
          <a:noFill/>
        </p:spPr>
        <p:txBody>
          <a:bodyPr wrap="square" anchor="ctr" lIns="45720" rIns="45720">
            <a:spAutoFit/>
          </a:bodyPr>
          <a:lstStyle/>
          <a:p>
            <a:pPr algn="l">
              <a:spcAft>
                <a:spcPts val="0"/>
              </a:spcAft>
            </a:pPr>
            <a:r>
              <a:rPr sz="3200" b="1" i="0">
                <a:solidFill>
                  <a:srgbClr val="1E2A38"/>
                </a:solidFill>
                <a:latin typeface="Cambria"/>
              </a:rPr>
              <a:t>Design trade-offs</a:t>
            </a:r>
          </a:p>
        </p:txBody>
      </p:sp>
      <p:sp>
        <p:nvSpPr>
          <p:cNvPr id="5" name="TextBox 4"/>
          <p:cNvSpPr txBox="1"/>
          <p:nvPr/>
        </p:nvSpPr>
        <p:spPr>
          <a:xfrm>
            <a:off x="1234440" y="1005840"/>
            <a:ext cx="10408615" cy="411480"/>
          </a:xfrm>
          <a:prstGeom prst="rect">
            <a:avLst/>
          </a:prstGeom>
          <a:noFill/>
        </p:spPr>
        <p:txBody>
          <a:bodyPr wrap="square" anchor="t" lIns="45720" rIns="45720">
            <a:spAutoFit/>
          </a:bodyPr>
          <a:lstStyle/>
          <a:p>
            <a:pPr algn="l">
              <a:spcAft>
                <a:spcPts val="0"/>
              </a:spcAft>
            </a:pPr>
            <a:r>
              <a:rPr sz="1600" b="0" i="0">
                <a:solidFill>
                  <a:srgbClr val="5F6B7A"/>
                </a:solidFill>
                <a:latin typeface="Calibri"/>
              </a:rPr>
              <a:t>Performance, area, frequency and power</a:t>
            </a:r>
          </a:p>
        </p:txBody>
      </p:sp>
      <p:sp>
        <p:nvSpPr>
          <p:cNvPr id="6" name="Rounded Rectangle 5"/>
          <p:cNvSpPr/>
          <p:nvPr/>
        </p:nvSpPr>
        <p:spPr>
          <a:xfrm>
            <a:off x="548640" y="1645920"/>
            <a:ext cx="3520440" cy="210312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1847088"/>
            <a:ext cx="384048" cy="384048"/>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1783080"/>
            <a:ext cx="2743200" cy="548640"/>
          </a:xfrm>
          <a:prstGeom prst="rect">
            <a:avLst/>
          </a:prstGeom>
          <a:noFill/>
        </p:spPr>
        <p:txBody>
          <a:bodyPr wrap="square" anchor="ctr" lIns="45720" rIns="45720">
            <a:spAutoFit/>
          </a:bodyPr>
          <a:lstStyle/>
          <a:p>
            <a:pPr algn="l">
              <a:spcAft>
                <a:spcPts val="0"/>
              </a:spcAft>
            </a:pPr>
            <a:r>
              <a:rPr sz="1600" b="1" i="0">
                <a:solidFill>
                  <a:srgbClr val="1E2A38"/>
                </a:solidFill>
                <a:latin typeface="Cambria"/>
              </a:rPr>
              <a:t>IEEE double vs fixed point</a:t>
            </a:r>
          </a:p>
        </p:txBody>
      </p:sp>
      <p:sp>
        <p:nvSpPr>
          <p:cNvPr id="9" name="TextBox 8"/>
          <p:cNvSpPr txBox="1"/>
          <p:nvPr/>
        </p:nvSpPr>
        <p:spPr>
          <a:xfrm>
            <a:off x="731520" y="2423160"/>
            <a:ext cx="3200400" cy="1280160"/>
          </a:xfrm>
          <a:prstGeom prst="rect">
            <a:avLst/>
          </a:prstGeom>
          <a:noFill/>
        </p:spPr>
        <p:txBody>
          <a:bodyPr wrap="square" anchor="t" lIns="45720" rIns="45720">
            <a:spAutoFit/>
          </a:bodyPr>
          <a:lstStyle/>
          <a:p>
            <a:pPr algn="l">
              <a:spcAft>
                <a:spcPts val="0"/>
              </a:spcAft>
            </a:pPr>
            <a:r>
              <a:rPr sz="1500" b="0" i="0">
                <a:solidFill>
                  <a:srgbClr val="1E2A38"/>
                </a:solidFill>
                <a:latin typeface="Calibri"/>
              </a:rPr>
              <a:t>Exact same results as the software. Fixed point is smaller and uses less power, but drifts over 20000 steps.</a:t>
            </a:r>
          </a:p>
        </p:txBody>
      </p:sp>
      <p:sp>
        <p:nvSpPr>
          <p:cNvPr id="10" name="Rounded Rectangle 9"/>
          <p:cNvSpPr/>
          <p:nvPr/>
        </p:nvSpPr>
        <p:spPr>
          <a:xfrm>
            <a:off x="4297679" y="1645920"/>
            <a:ext cx="3520440" cy="210312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480559" y="1847088"/>
            <a:ext cx="384048" cy="384048"/>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83479" y="1783080"/>
            <a:ext cx="2743200" cy="548640"/>
          </a:xfrm>
          <a:prstGeom prst="rect">
            <a:avLst/>
          </a:prstGeom>
          <a:noFill/>
        </p:spPr>
        <p:txBody>
          <a:bodyPr wrap="square" anchor="ctr" lIns="45720" rIns="45720">
            <a:spAutoFit/>
          </a:bodyPr>
          <a:lstStyle/>
          <a:p>
            <a:pPr algn="l">
              <a:spcAft>
                <a:spcPts val="0"/>
              </a:spcAft>
            </a:pPr>
            <a:r>
              <a:rPr sz="1600" b="1" i="0">
                <a:solidFill>
                  <a:srgbClr val="1E2A38"/>
                </a:solidFill>
                <a:latin typeface="Cambria"/>
              </a:rPr>
              <a:t>Div/sqrt: bits per stage</a:t>
            </a:r>
          </a:p>
        </p:txBody>
      </p:sp>
      <p:sp>
        <p:nvSpPr>
          <p:cNvPr id="13" name="TextBox 12"/>
          <p:cNvSpPr txBox="1"/>
          <p:nvPr/>
        </p:nvSpPr>
        <p:spPr>
          <a:xfrm>
            <a:off x="4480559" y="2423160"/>
            <a:ext cx="3200400" cy="1280160"/>
          </a:xfrm>
          <a:prstGeom prst="rect">
            <a:avLst/>
          </a:prstGeom>
          <a:noFill/>
        </p:spPr>
        <p:txBody>
          <a:bodyPr wrap="square" anchor="t" lIns="45720" rIns="45720">
            <a:spAutoFit/>
          </a:bodyPr>
          <a:lstStyle/>
          <a:p>
            <a:pPr algn="l">
              <a:spcAft>
                <a:spcPts val="0"/>
              </a:spcAft>
            </a:pPr>
            <a:r>
              <a:rPr sz="1500" b="0" i="0">
                <a:solidFill>
                  <a:srgbClr val="1E2A38"/>
                </a:solidFill>
                <a:latin typeface="Calibri"/>
              </a:rPr>
              <a:t>2 bits at 100 MHz is our balance. 1 bit: ~150 MHz, 2x registers, more power. 4 bits: smaller, but ~50 MHz.</a:t>
            </a:r>
          </a:p>
        </p:txBody>
      </p:sp>
      <p:sp>
        <p:nvSpPr>
          <p:cNvPr id="14" name="Rounded Rectangle 13"/>
          <p:cNvSpPr/>
          <p:nvPr/>
        </p:nvSpPr>
        <p:spPr>
          <a:xfrm>
            <a:off x="8046719" y="1645920"/>
            <a:ext cx="3520440" cy="210312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229599" y="1847088"/>
            <a:ext cx="384048" cy="384048"/>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32519" y="1783080"/>
            <a:ext cx="2743200" cy="548640"/>
          </a:xfrm>
          <a:prstGeom prst="rect">
            <a:avLst/>
          </a:prstGeom>
          <a:noFill/>
        </p:spPr>
        <p:txBody>
          <a:bodyPr wrap="square" anchor="ctr" lIns="45720" rIns="45720">
            <a:spAutoFit/>
          </a:bodyPr>
          <a:lstStyle/>
          <a:p>
            <a:pPr algn="l">
              <a:spcAft>
                <a:spcPts val="0"/>
              </a:spcAft>
            </a:pPr>
            <a:r>
              <a:rPr sz="1600" b="1" i="0">
                <a:solidFill>
                  <a:srgbClr val="1E2A38"/>
                </a:solidFill>
                <a:latin typeface="Cambria"/>
              </a:rPr>
              <a:t>Accumulation order</a:t>
            </a:r>
          </a:p>
        </p:txBody>
      </p:sp>
      <p:sp>
        <p:nvSpPr>
          <p:cNvPr id="17" name="TextBox 16"/>
          <p:cNvSpPr txBox="1"/>
          <p:nvPr/>
        </p:nvSpPr>
        <p:spPr>
          <a:xfrm>
            <a:off x="8229599" y="2423160"/>
            <a:ext cx="3200400" cy="1280160"/>
          </a:xfrm>
          <a:prstGeom prst="rect">
            <a:avLst/>
          </a:prstGeom>
          <a:noFill/>
        </p:spPr>
        <p:txBody>
          <a:bodyPr wrap="square" anchor="t" lIns="45720" rIns="45720">
            <a:spAutoFit/>
          </a:bodyPr>
          <a:lstStyle/>
          <a:p>
            <a:pPr algn="l">
              <a:spcAft>
                <a:spcPts val="0"/>
              </a:spcAft>
            </a:pPr>
            <a:r>
              <a:rPr sz="1500" b="0" i="0">
                <a:solidFill>
                  <a:srgbClr val="1E2A38"/>
                </a:solidFill>
                <a:latin typeface="Calibri"/>
              </a:rPr>
              <a:t>Must follow pair order to stay exact: float addition is not associative.</a:t>
            </a:r>
          </a:p>
        </p:txBody>
      </p:sp>
      <p:sp>
        <p:nvSpPr>
          <p:cNvPr id="18" name="Rounded Rectangle 17"/>
          <p:cNvSpPr/>
          <p:nvPr/>
        </p:nvSpPr>
        <p:spPr>
          <a:xfrm>
            <a:off x="548640" y="3977639"/>
            <a:ext cx="3520440" cy="210312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31520" y="4178807"/>
            <a:ext cx="384048" cy="384048"/>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4440" y="4114800"/>
            <a:ext cx="2743200" cy="548640"/>
          </a:xfrm>
          <a:prstGeom prst="rect">
            <a:avLst/>
          </a:prstGeom>
          <a:noFill/>
        </p:spPr>
        <p:txBody>
          <a:bodyPr wrap="square" anchor="ctr" lIns="45720" rIns="45720">
            <a:spAutoFit/>
          </a:bodyPr>
          <a:lstStyle/>
          <a:p>
            <a:pPr algn="l">
              <a:spcAft>
                <a:spcPts val="0"/>
              </a:spcAft>
            </a:pPr>
            <a:r>
              <a:rPr sz="1600" b="1" i="0">
                <a:solidFill>
                  <a:srgbClr val="1E2A38"/>
                </a:solidFill>
                <a:latin typeface="Cambria"/>
              </a:rPr>
              <a:t>Parallelism vs area</a:t>
            </a:r>
          </a:p>
        </p:txBody>
      </p:sp>
      <p:sp>
        <p:nvSpPr>
          <p:cNvPr id="21" name="TextBox 20"/>
          <p:cNvSpPr txBox="1"/>
          <p:nvPr/>
        </p:nvSpPr>
        <p:spPr>
          <a:xfrm>
            <a:off x="731520" y="4754879"/>
            <a:ext cx="3200400" cy="1280160"/>
          </a:xfrm>
          <a:prstGeom prst="rect">
            <a:avLst/>
          </a:prstGeom>
          <a:noFill/>
        </p:spPr>
        <p:txBody>
          <a:bodyPr wrap="square" anchor="t" lIns="45720" rIns="45720">
            <a:spAutoFit/>
          </a:bodyPr>
          <a:lstStyle/>
          <a:p>
            <a:pPr algn="l">
              <a:spcAft>
                <a:spcPts val="0"/>
              </a:spcAft>
            </a:pPr>
            <a:r>
              <a:rPr sz="1500" b="0" i="0">
                <a:solidFill>
                  <a:srgbClr val="1E2A38"/>
                </a:solidFill>
                <a:latin typeface="Calibri"/>
              </a:rPr>
              <a:t>Parallel position update: -20% cycles for 5x that area. A second pipeline: latency, not throughput, is the limit.</a:t>
            </a:r>
          </a:p>
        </p:txBody>
      </p:sp>
      <p:sp>
        <p:nvSpPr>
          <p:cNvPr id="22" name="Rounded Rectangle 21"/>
          <p:cNvSpPr/>
          <p:nvPr/>
        </p:nvSpPr>
        <p:spPr>
          <a:xfrm>
            <a:off x="4297679" y="3977639"/>
            <a:ext cx="3520440" cy="210312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480559" y="4178807"/>
            <a:ext cx="384048" cy="384048"/>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83479" y="4114800"/>
            <a:ext cx="2743200" cy="548640"/>
          </a:xfrm>
          <a:prstGeom prst="rect">
            <a:avLst/>
          </a:prstGeom>
          <a:noFill/>
        </p:spPr>
        <p:txBody>
          <a:bodyPr wrap="square" anchor="ctr" lIns="45720" rIns="45720">
            <a:spAutoFit/>
          </a:bodyPr>
          <a:lstStyle/>
          <a:p>
            <a:pPr algn="l">
              <a:spcAft>
                <a:spcPts val="0"/>
              </a:spcAft>
            </a:pPr>
            <a:r>
              <a:rPr sz="1600" b="1" i="0">
                <a:solidFill>
                  <a:srgbClr val="1E2A38"/>
                </a:solidFill>
                <a:latin typeface="Cambria"/>
              </a:rPr>
              <a:t>MMIO vs DMA</a:t>
            </a:r>
          </a:p>
        </p:txBody>
      </p:sp>
      <p:sp>
        <p:nvSpPr>
          <p:cNvPr id="25" name="TextBox 24"/>
          <p:cNvSpPr txBox="1"/>
          <p:nvPr/>
        </p:nvSpPr>
        <p:spPr>
          <a:xfrm>
            <a:off x="4480559" y="4754879"/>
            <a:ext cx="3200400" cy="1280160"/>
          </a:xfrm>
          <a:prstGeom prst="rect">
            <a:avLst/>
          </a:prstGeom>
          <a:noFill/>
        </p:spPr>
        <p:txBody>
          <a:bodyPr wrap="square" anchor="t" lIns="45720" rIns="45720">
            <a:spAutoFit/>
          </a:bodyPr>
          <a:lstStyle/>
          <a:p>
            <a:pPr algn="l">
              <a:spcAft>
                <a:spcPts val="0"/>
              </a:spcAft>
            </a:pPr>
            <a:r>
              <a:rPr sz="1500" b="0" i="0">
                <a:solidFill>
                  <a:srgbClr val="1E2A38"/>
                </a:solidFill>
                <a:latin typeface="Calibri"/>
              </a:rPr>
              <a:t>Registers for small systems (70 accesses). DMA of one buffer for large systems, with IOMMU setup.</a:t>
            </a:r>
          </a:p>
        </p:txBody>
      </p:sp>
      <p:sp>
        <p:nvSpPr>
          <p:cNvPr id="26" name="Rounded Rectangle 25"/>
          <p:cNvSpPr/>
          <p:nvPr/>
        </p:nvSpPr>
        <p:spPr>
          <a:xfrm>
            <a:off x="8046719" y="3977639"/>
            <a:ext cx="3520440" cy="210312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599" y="4178807"/>
            <a:ext cx="384048" cy="384048"/>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32519" y="4114800"/>
            <a:ext cx="2743200" cy="548640"/>
          </a:xfrm>
          <a:prstGeom prst="rect">
            <a:avLst/>
          </a:prstGeom>
          <a:noFill/>
        </p:spPr>
        <p:txBody>
          <a:bodyPr wrap="square" anchor="ctr" lIns="45720" rIns="45720">
            <a:spAutoFit/>
          </a:bodyPr>
          <a:lstStyle/>
          <a:p>
            <a:pPr algn="l">
              <a:spcAft>
                <a:spcPts val="0"/>
              </a:spcAft>
            </a:pPr>
            <a:r>
              <a:rPr sz="1600" b="1" i="0">
                <a:solidFill>
                  <a:srgbClr val="1E2A38"/>
                </a:solidFill>
                <a:latin typeface="Cambria"/>
              </a:rPr>
              <a:t>Power and energy</a:t>
            </a:r>
          </a:p>
        </p:txBody>
      </p:sp>
      <p:sp>
        <p:nvSpPr>
          <p:cNvPr id="29" name="TextBox 28"/>
          <p:cNvSpPr txBox="1"/>
          <p:nvPr/>
        </p:nvSpPr>
        <p:spPr>
          <a:xfrm>
            <a:off x="8229599" y="4754879"/>
            <a:ext cx="3200400" cy="1280160"/>
          </a:xfrm>
          <a:prstGeom prst="rect">
            <a:avLst/>
          </a:prstGeom>
          <a:noFill/>
        </p:spPr>
        <p:txBody>
          <a:bodyPr wrap="square" anchor="t" lIns="45720" rIns="45720">
            <a:spAutoFit/>
          </a:bodyPr>
          <a:lstStyle/>
          <a:p>
            <a:pPr algn="l">
              <a:spcAft>
                <a:spcPts val="0"/>
              </a:spcAft>
            </a:pPr>
            <a:r>
              <a:rPr sz="1500" b="0" i="0">
                <a:solidFill>
                  <a:srgbClr val="1E2A38"/>
                </a:solidFill>
                <a:latin typeface="Calibri"/>
              </a:rPr>
              <a:t>CPU busy 232 ms vs card done in 41 ms: energy per run drops, if the FPGA is configured once and stays ready.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5202E"/>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ctr" lIns="45720" rIns="45720">
            <a:spAutoFit/>
          </a:bodyPr>
          <a:lstStyle/>
          <a:p>
            <a:pPr algn="l">
              <a:spcAft>
                <a:spcPts val="0"/>
              </a:spcAft>
            </a:pPr>
            <a:r>
              <a:rPr sz="3200" b="1" i="0">
                <a:solidFill>
                  <a:srgbClr val="FFFFFF"/>
                </a:solidFill>
                <a:latin typeface="Cambria"/>
              </a:rPr>
              <a:t>Conclusions</a:t>
            </a:r>
          </a:p>
        </p:txBody>
      </p:sp>
      <p:sp>
        <p:nvSpPr>
          <p:cNvPr id="3" name="Oval 2"/>
          <p:cNvSpPr/>
          <p:nvPr/>
        </p:nvSpPr>
        <p:spPr>
          <a:xfrm>
            <a:off x="731520" y="1463040"/>
            <a:ext cx="548640" cy="54864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48640" cy="548640"/>
          </a:xfrm>
          <a:prstGeom prst="rect">
            <a:avLst/>
          </a:prstGeom>
          <a:noFill/>
        </p:spPr>
        <p:txBody>
          <a:bodyPr wrap="square" anchor="ctr" lIns="0" rIns="0" tIns="0" bIns="0">
            <a:spAutoFit/>
          </a:bodyPr>
          <a:lstStyle/>
          <a:p>
            <a:pPr algn="ctr">
              <a:spcAft>
                <a:spcPts val="0"/>
              </a:spcAft>
            </a:pPr>
            <a:r>
              <a:rPr sz="1600" b="1" i="0">
                <a:solidFill>
                  <a:srgbClr val="FFFFFF"/>
                </a:solidFill>
                <a:latin typeface="Calibri"/>
              </a:rPr>
              <a:t>1</a:t>
            </a:r>
          </a:p>
        </p:txBody>
      </p:sp>
      <p:sp>
        <p:nvSpPr>
          <p:cNvPr id="5" name="TextBox 4"/>
          <p:cNvSpPr txBox="1"/>
          <p:nvPr/>
        </p:nvSpPr>
        <p:spPr>
          <a:xfrm>
            <a:off x="1554480" y="1371600"/>
            <a:ext cx="5486400" cy="457200"/>
          </a:xfrm>
          <a:prstGeom prst="rect">
            <a:avLst/>
          </a:prstGeom>
          <a:noFill/>
        </p:spPr>
        <p:txBody>
          <a:bodyPr wrap="square" anchor="t" lIns="45720" rIns="45720">
            <a:spAutoFit/>
          </a:bodyPr>
          <a:lstStyle/>
          <a:p>
            <a:pPr algn="l">
              <a:spcAft>
                <a:spcPts val="0"/>
              </a:spcAft>
            </a:pPr>
            <a:r>
              <a:rPr sz="2000" b="1" i="0">
                <a:solidFill>
                  <a:srgbClr val="FFFFFF"/>
                </a:solidFill>
                <a:latin typeface="Cambria"/>
              </a:rPr>
              <a:t>Measure before you trust</a:t>
            </a:r>
          </a:p>
        </p:txBody>
      </p:sp>
      <p:sp>
        <p:nvSpPr>
          <p:cNvPr id="6" name="TextBox 5"/>
          <p:cNvSpPr txBox="1"/>
          <p:nvPr/>
        </p:nvSpPr>
        <p:spPr>
          <a:xfrm>
            <a:off x="1554480" y="1828800"/>
            <a:ext cx="5486400" cy="640080"/>
          </a:xfrm>
          <a:prstGeom prst="rect">
            <a:avLst/>
          </a:prstGeom>
          <a:noFill/>
        </p:spPr>
        <p:txBody>
          <a:bodyPr wrap="square" anchor="t" lIns="45720" rIns="45720">
            <a:spAutoFit/>
          </a:bodyPr>
          <a:lstStyle/>
          <a:p>
            <a:pPr algn="l">
              <a:spcAft>
                <a:spcPts val="0"/>
              </a:spcAft>
            </a:pPr>
            <a:r>
              <a:rPr sz="1400" b="0" i="0">
                <a:solidFill>
                  <a:srgbClr val="C9D3DE"/>
                </a:solidFill>
                <a:latin typeface="Calibri"/>
              </a:rPr>
              <a:t>Tuned VM, 120 samples, medians: the noise was bigger than the target at first.</a:t>
            </a:r>
          </a:p>
        </p:txBody>
      </p:sp>
      <p:sp>
        <p:nvSpPr>
          <p:cNvPr id="7" name="Oval 6"/>
          <p:cNvSpPr/>
          <p:nvPr/>
        </p:nvSpPr>
        <p:spPr>
          <a:xfrm>
            <a:off x="731520" y="2651760"/>
            <a:ext cx="548640" cy="54864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651760"/>
            <a:ext cx="548640" cy="548640"/>
          </a:xfrm>
          <a:prstGeom prst="rect">
            <a:avLst/>
          </a:prstGeom>
          <a:noFill/>
        </p:spPr>
        <p:txBody>
          <a:bodyPr wrap="square" anchor="ctr" lIns="0" rIns="0" tIns="0" bIns="0">
            <a:spAutoFit/>
          </a:bodyPr>
          <a:lstStyle/>
          <a:p>
            <a:pPr algn="ctr">
              <a:spcAft>
                <a:spcPts val="0"/>
              </a:spcAft>
            </a:pPr>
            <a:r>
              <a:rPr sz="1600" b="1" i="0">
                <a:solidFill>
                  <a:srgbClr val="FFFFFF"/>
                </a:solidFill>
                <a:latin typeface="Calibri"/>
              </a:rPr>
              <a:t>2</a:t>
            </a:r>
          </a:p>
        </p:txBody>
      </p:sp>
      <p:sp>
        <p:nvSpPr>
          <p:cNvPr id="9" name="TextBox 8"/>
          <p:cNvSpPr txBox="1"/>
          <p:nvPr/>
        </p:nvSpPr>
        <p:spPr>
          <a:xfrm>
            <a:off x="1554480" y="2560320"/>
            <a:ext cx="5486400" cy="457200"/>
          </a:xfrm>
          <a:prstGeom prst="rect">
            <a:avLst/>
          </a:prstGeom>
          <a:noFill/>
        </p:spPr>
        <p:txBody>
          <a:bodyPr wrap="square" anchor="t" lIns="45720" rIns="45720">
            <a:spAutoFit/>
          </a:bodyPr>
          <a:lstStyle/>
          <a:p>
            <a:pPr algn="l">
              <a:spcAft>
                <a:spcPts val="0"/>
              </a:spcAft>
            </a:pPr>
            <a:r>
              <a:rPr sz="2000" b="1" i="0">
                <a:solidFill>
                  <a:srgbClr val="FFFFFF"/>
                </a:solidFill>
                <a:latin typeface="Cambria"/>
              </a:rPr>
              <a:t>Python's cost is the interpreter</a:t>
            </a:r>
          </a:p>
        </p:txBody>
      </p:sp>
      <p:sp>
        <p:nvSpPr>
          <p:cNvPr id="10" name="TextBox 9"/>
          <p:cNvSpPr txBox="1"/>
          <p:nvPr/>
        </p:nvSpPr>
        <p:spPr>
          <a:xfrm>
            <a:off x="1554480" y="3017520"/>
            <a:ext cx="5486400" cy="640080"/>
          </a:xfrm>
          <a:prstGeom prst="rect">
            <a:avLst/>
          </a:prstGeom>
          <a:noFill/>
        </p:spPr>
        <p:txBody>
          <a:bodyPr wrap="square" anchor="t" lIns="45720" rIns="45720">
            <a:spAutoFit/>
          </a:bodyPr>
          <a:lstStyle/>
          <a:p>
            <a:pPr algn="l">
              <a:spcAft>
                <a:spcPts val="0"/>
              </a:spcAft>
            </a:pPr>
            <a:r>
              <a:rPr sz="1400" b="0" i="0">
                <a:solidFill>
                  <a:srgbClr val="C9D3DE"/>
                </a:solidFill>
                <a:latin typeface="Calibri"/>
              </a:rPr>
              <a:t>Not the math: list access, calls, objects, dictionaries.</a:t>
            </a:r>
          </a:p>
        </p:txBody>
      </p:sp>
      <p:sp>
        <p:nvSpPr>
          <p:cNvPr id="11" name="Oval 10"/>
          <p:cNvSpPr/>
          <p:nvPr/>
        </p:nvSpPr>
        <p:spPr>
          <a:xfrm>
            <a:off x="731520" y="3840479"/>
            <a:ext cx="548640" cy="54864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840479"/>
            <a:ext cx="548640" cy="548640"/>
          </a:xfrm>
          <a:prstGeom prst="rect">
            <a:avLst/>
          </a:prstGeom>
          <a:noFill/>
        </p:spPr>
        <p:txBody>
          <a:bodyPr wrap="square" anchor="ctr" lIns="0" rIns="0" tIns="0" bIns="0">
            <a:spAutoFit/>
          </a:bodyPr>
          <a:lstStyle/>
          <a:p>
            <a:pPr algn="ctr">
              <a:spcAft>
                <a:spcPts val="0"/>
              </a:spcAft>
            </a:pPr>
            <a:r>
              <a:rPr sz="1600" b="1" i="0">
                <a:solidFill>
                  <a:srgbClr val="FFFFFF"/>
                </a:solidFill>
                <a:latin typeface="Calibri"/>
              </a:rPr>
              <a:t>3</a:t>
            </a:r>
          </a:p>
        </p:txBody>
      </p:sp>
      <p:sp>
        <p:nvSpPr>
          <p:cNvPr id="13" name="TextBox 12"/>
          <p:cNvSpPr txBox="1"/>
          <p:nvPr/>
        </p:nvSpPr>
        <p:spPr>
          <a:xfrm>
            <a:off x="1554480" y="3749039"/>
            <a:ext cx="5486400" cy="457200"/>
          </a:xfrm>
          <a:prstGeom prst="rect">
            <a:avLst/>
          </a:prstGeom>
          <a:noFill/>
        </p:spPr>
        <p:txBody>
          <a:bodyPr wrap="square" anchor="t" lIns="45720" rIns="45720">
            <a:spAutoFit/>
          </a:bodyPr>
          <a:lstStyle/>
          <a:p>
            <a:pPr algn="l">
              <a:spcAft>
                <a:spcPts val="0"/>
              </a:spcAft>
            </a:pPr>
            <a:r>
              <a:rPr sz="2000" b="1" i="0">
                <a:solidFill>
                  <a:srgbClr val="FFFFFF"/>
                </a:solidFill>
                <a:latin typeface="Cambria"/>
              </a:rPr>
              <a:t>Profile, then change one thing</a:t>
            </a:r>
          </a:p>
        </p:txBody>
      </p:sp>
      <p:sp>
        <p:nvSpPr>
          <p:cNvPr id="14" name="TextBox 13"/>
          <p:cNvSpPr txBox="1"/>
          <p:nvPr/>
        </p:nvSpPr>
        <p:spPr>
          <a:xfrm>
            <a:off x="1554480" y="4206240"/>
            <a:ext cx="5486400" cy="640080"/>
          </a:xfrm>
          <a:prstGeom prst="rect">
            <a:avLst/>
          </a:prstGeom>
          <a:noFill/>
        </p:spPr>
        <p:txBody>
          <a:bodyPr wrap="square" anchor="t" lIns="45720" rIns="45720">
            <a:spAutoFit/>
          </a:bodyPr>
          <a:lstStyle/>
          <a:p>
            <a:pPr algn="l">
              <a:spcAft>
                <a:spcPts val="0"/>
              </a:spcAft>
            </a:pPr>
            <a:r>
              <a:rPr sz="1400" b="0" i="0">
                <a:solidFill>
                  <a:srgbClr val="C9D3DE"/>
                </a:solidFill>
                <a:latin typeface="Calibri"/>
              </a:rPr>
              <a:t>Every fix came from a flame graph, and the profile even predicted the one that failed.</a:t>
            </a:r>
          </a:p>
        </p:txBody>
      </p:sp>
      <p:sp>
        <p:nvSpPr>
          <p:cNvPr id="15" name="Oval 14"/>
          <p:cNvSpPr/>
          <p:nvPr/>
        </p:nvSpPr>
        <p:spPr>
          <a:xfrm>
            <a:off x="731520" y="5029200"/>
            <a:ext cx="548640" cy="54864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029200"/>
            <a:ext cx="548640" cy="548640"/>
          </a:xfrm>
          <a:prstGeom prst="rect">
            <a:avLst/>
          </a:prstGeom>
          <a:noFill/>
        </p:spPr>
        <p:txBody>
          <a:bodyPr wrap="square" anchor="ctr" lIns="0" rIns="0" tIns="0" bIns="0">
            <a:spAutoFit/>
          </a:bodyPr>
          <a:lstStyle/>
          <a:p>
            <a:pPr algn="ctr">
              <a:spcAft>
                <a:spcPts val="0"/>
              </a:spcAft>
            </a:pPr>
            <a:r>
              <a:rPr sz="1600" b="1" i="0">
                <a:solidFill>
                  <a:srgbClr val="FFFFFF"/>
                </a:solidFill>
                <a:latin typeface="Calibri"/>
              </a:rPr>
              <a:t>4</a:t>
            </a:r>
          </a:p>
        </p:txBody>
      </p:sp>
      <p:sp>
        <p:nvSpPr>
          <p:cNvPr id="17" name="TextBox 16"/>
          <p:cNvSpPr txBox="1"/>
          <p:nvPr/>
        </p:nvSpPr>
        <p:spPr>
          <a:xfrm>
            <a:off x="1554480" y="4937760"/>
            <a:ext cx="5486400" cy="457200"/>
          </a:xfrm>
          <a:prstGeom prst="rect">
            <a:avLst/>
          </a:prstGeom>
          <a:noFill/>
        </p:spPr>
        <p:txBody>
          <a:bodyPr wrap="square" anchor="t" lIns="45720" rIns="45720">
            <a:spAutoFit/>
          </a:bodyPr>
          <a:lstStyle/>
          <a:p>
            <a:pPr algn="l">
              <a:spcAft>
                <a:spcPts val="0"/>
              </a:spcAft>
            </a:pPr>
            <a:r>
              <a:rPr sz="2000" b="1" i="0">
                <a:solidFill>
                  <a:srgbClr val="FFFFFF"/>
                </a:solidFill>
                <a:latin typeface="Cambria"/>
              </a:rPr>
              <a:t>Offload the whole loop</a:t>
            </a:r>
          </a:p>
        </p:txBody>
      </p:sp>
      <p:sp>
        <p:nvSpPr>
          <p:cNvPr id="18" name="TextBox 17"/>
          <p:cNvSpPr txBox="1"/>
          <p:nvPr/>
        </p:nvSpPr>
        <p:spPr>
          <a:xfrm>
            <a:off x="1554480" y="5394960"/>
            <a:ext cx="5486400" cy="640080"/>
          </a:xfrm>
          <a:prstGeom prst="rect">
            <a:avLst/>
          </a:prstGeom>
          <a:noFill/>
        </p:spPr>
        <p:txBody>
          <a:bodyPr wrap="square" anchor="t" lIns="45720" rIns="45720">
            <a:spAutoFit/>
          </a:bodyPr>
          <a:lstStyle/>
          <a:p>
            <a:pPr algn="l">
              <a:spcAft>
                <a:spcPts val="0"/>
              </a:spcAft>
            </a:pPr>
            <a:r>
              <a:rPr sz="1400" b="0" i="0">
                <a:solidFill>
                  <a:srgbClr val="C9D3DE"/>
                </a:solidFill>
                <a:latin typeface="Calibri"/>
              </a:rPr>
              <a:t>Hardware wins on big batches: 20000 steps per PCIe round trip.</a:t>
            </a:r>
          </a:p>
        </p:txBody>
      </p:sp>
      <p:sp>
        <p:nvSpPr>
          <p:cNvPr id="19" name="TextBox 18"/>
          <p:cNvSpPr txBox="1"/>
          <p:nvPr/>
        </p:nvSpPr>
        <p:spPr>
          <a:xfrm>
            <a:off x="7863840" y="1463040"/>
            <a:ext cx="3657600" cy="731520"/>
          </a:xfrm>
          <a:prstGeom prst="rect">
            <a:avLst/>
          </a:prstGeom>
          <a:noFill/>
        </p:spPr>
        <p:txBody>
          <a:bodyPr wrap="square" anchor="b" lIns="45720" rIns="45720">
            <a:spAutoFit/>
          </a:bodyPr>
          <a:lstStyle/>
          <a:p>
            <a:pPr algn="l">
              <a:spcAft>
                <a:spcPts val="0"/>
              </a:spcAft>
            </a:pPr>
            <a:r>
              <a:rPr sz="4000" b="1" i="0">
                <a:solidFill>
                  <a:srgbClr val="D9822B"/>
                </a:solidFill>
                <a:latin typeface="Cambria"/>
              </a:rPr>
              <a:t>1.60x / 2.10x</a:t>
            </a:r>
          </a:p>
        </p:txBody>
      </p:sp>
      <p:sp>
        <p:nvSpPr>
          <p:cNvPr id="20" name="TextBox 19"/>
          <p:cNvSpPr txBox="1"/>
          <p:nvPr/>
        </p:nvSpPr>
        <p:spPr>
          <a:xfrm>
            <a:off x="7863840" y="2212848"/>
            <a:ext cx="3657600" cy="640080"/>
          </a:xfrm>
          <a:prstGeom prst="rect">
            <a:avLst/>
          </a:prstGeom>
          <a:noFill/>
        </p:spPr>
        <p:txBody>
          <a:bodyPr wrap="square" anchor="t" lIns="45720" rIns="45720">
            <a:spAutoFit/>
          </a:bodyPr>
          <a:lstStyle/>
          <a:p>
            <a:pPr algn="l">
              <a:spcAft>
                <a:spcPts val="0"/>
              </a:spcAft>
            </a:pPr>
            <a:r>
              <a:rPr sz="1400" b="0" i="0">
                <a:solidFill>
                  <a:srgbClr val="C9D3DE"/>
                </a:solidFill>
                <a:latin typeface="Calibri"/>
              </a:rPr>
              <a:t>software: nbody / raytrace,</a:t>
            </a:r>
            <a:br/>
            <a:r>
              <a:rPr sz="1400" b="0" i="0">
                <a:solidFill>
                  <a:srgbClr val="C9D3DE"/>
                </a:solidFill>
                <a:latin typeface="Calibri"/>
              </a:rPr>
              <a:t>identical outputs</a:t>
            </a:r>
          </a:p>
        </p:txBody>
      </p:sp>
      <p:sp>
        <p:nvSpPr>
          <p:cNvPr id="21" name="TextBox 20"/>
          <p:cNvSpPr txBox="1"/>
          <p:nvPr/>
        </p:nvSpPr>
        <p:spPr>
          <a:xfrm>
            <a:off x="7863840" y="3200400"/>
            <a:ext cx="3657600" cy="731520"/>
          </a:xfrm>
          <a:prstGeom prst="rect">
            <a:avLst/>
          </a:prstGeom>
          <a:noFill/>
        </p:spPr>
        <p:txBody>
          <a:bodyPr wrap="square" anchor="b" lIns="45720" rIns="45720">
            <a:spAutoFit/>
          </a:bodyPr>
          <a:lstStyle/>
          <a:p>
            <a:pPr algn="l">
              <a:spcAft>
                <a:spcPts val="0"/>
              </a:spcAft>
            </a:pPr>
            <a:r>
              <a:rPr sz="4000" b="1" i="0">
                <a:solidFill>
                  <a:srgbClr val="D9822B"/>
                </a:solidFill>
                <a:latin typeface="Cambria"/>
              </a:rPr>
              <a:t>5.7x</a:t>
            </a:r>
          </a:p>
        </p:txBody>
      </p:sp>
      <p:sp>
        <p:nvSpPr>
          <p:cNvPr id="22" name="TextBox 21"/>
          <p:cNvSpPr txBox="1"/>
          <p:nvPr/>
        </p:nvSpPr>
        <p:spPr>
          <a:xfrm>
            <a:off x="7863840" y="3950208"/>
            <a:ext cx="3657600" cy="640080"/>
          </a:xfrm>
          <a:prstGeom prst="rect">
            <a:avLst/>
          </a:prstGeom>
          <a:noFill/>
        </p:spPr>
        <p:txBody>
          <a:bodyPr wrap="square" anchor="t" lIns="45720" rIns="45720">
            <a:spAutoFit/>
          </a:bodyPr>
          <a:lstStyle/>
          <a:p>
            <a:pPr algn="l">
              <a:spcAft>
                <a:spcPts val="0"/>
              </a:spcAft>
            </a:pPr>
            <a:r>
              <a:rPr sz="1400" b="0" i="0">
                <a:solidFill>
                  <a:srgbClr val="C9D3DE"/>
                </a:solidFill>
                <a:latin typeface="Calibri"/>
              </a:rPr>
              <a:t>nbody accelerator (estimate),</a:t>
            </a:r>
            <a:br/>
            <a:r>
              <a:rPr sz="1400" b="0" i="0">
                <a:solidFill>
                  <a:srgbClr val="C9D3DE"/>
                </a:solidFill>
                <a:latin typeface="Calibri"/>
              </a:rPr>
              <a:t>verified bit for bit in simulation</a:t>
            </a:r>
          </a:p>
        </p:txBody>
      </p:sp>
      <p:sp>
        <p:nvSpPr>
          <p:cNvPr id="23" name="TextBox 22"/>
          <p:cNvSpPr txBox="1"/>
          <p:nvPr/>
        </p:nvSpPr>
        <p:spPr>
          <a:xfrm>
            <a:off x="7863840" y="5029200"/>
            <a:ext cx="3657600" cy="914400"/>
          </a:xfrm>
          <a:prstGeom prst="rect">
            <a:avLst/>
          </a:prstGeom>
          <a:noFill/>
        </p:spPr>
        <p:txBody>
          <a:bodyPr wrap="square" anchor="t" lIns="45720" rIns="45720">
            <a:spAutoFit/>
          </a:bodyPr>
          <a:lstStyle/>
          <a:p>
            <a:pPr algn="l">
              <a:spcAft>
                <a:spcPts val="600"/>
              </a:spcAft>
            </a:pPr>
            <a:r>
              <a:rPr sz="2400" b="1" i="0">
                <a:solidFill>
                  <a:srgbClr val="FFFFFF"/>
                </a:solidFill>
                <a:latin typeface="Cambria"/>
              </a:rPr>
              <a:t>Thank you. Questions?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ctr" lIns="45720" rIns="45720">
            <a:spAutoFit/>
          </a:bodyPr>
          <a:lstStyle/>
          <a:p>
            <a:pPr algn="l">
              <a:spcAft>
                <a:spcPts val="0"/>
              </a:spcAft>
            </a:pPr>
            <a:r>
              <a:rPr sz="3200" b="1" i="0">
                <a:solidFill>
                  <a:srgbClr val="1E2A38"/>
                </a:solidFill>
                <a:latin typeface="Cambria"/>
              </a:rPr>
              <a:t>Demo: everything is reproducible</a:t>
            </a:r>
          </a:p>
        </p:txBody>
      </p:sp>
      <p:sp>
        <p:nvSpPr>
          <p:cNvPr id="3" name="TextBox 2"/>
          <p:cNvSpPr txBox="1"/>
          <p:nvPr/>
        </p:nvSpPr>
        <p:spPr>
          <a:xfrm>
            <a:off x="548640" y="1005840"/>
            <a:ext cx="11094415" cy="411480"/>
          </a:xfrm>
          <a:prstGeom prst="rect">
            <a:avLst/>
          </a:prstGeom>
          <a:noFill/>
        </p:spPr>
        <p:txBody>
          <a:bodyPr wrap="square" anchor="t" lIns="45720" rIns="45720">
            <a:spAutoFit/>
          </a:bodyPr>
          <a:lstStyle/>
          <a:p>
            <a:pPr algn="l">
              <a:spcAft>
                <a:spcPts val="0"/>
              </a:spcAft>
            </a:pPr>
            <a:r>
              <a:rPr sz="1600" b="0" i="0">
                <a:solidFill>
                  <a:srgbClr val="5F6B7A"/>
                </a:solidFill>
                <a:latin typeface="Calibri"/>
              </a:rPr>
              <a:t>All in the Git repository</a:t>
            </a:r>
          </a:p>
        </p:txBody>
      </p:sp>
      <p:sp>
        <p:nvSpPr>
          <p:cNvPr id="4" name="Rounded Rectangle 3"/>
          <p:cNvSpPr/>
          <p:nvPr/>
        </p:nvSpPr>
        <p:spPr>
          <a:xfrm>
            <a:off x="640080" y="1645920"/>
            <a:ext cx="6766560" cy="3931920"/>
          </a:xfrm>
          <a:prstGeom prst="roundRect">
            <a:avLst>
              <a:gd name="adj" fmla="val 4000"/>
            </a:avLst>
          </a:prstGeom>
          <a:solidFill>
            <a:srgbClr val="1B2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19" y="1719072"/>
            <a:ext cx="6583680" cy="3785615"/>
          </a:xfrm>
          <a:prstGeom prst="rect">
            <a:avLst/>
          </a:prstGeom>
          <a:noFill/>
        </p:spPr>
        <p:txBody>
          <a:bodyPr wrap="square" anchor="t" lIns="45720" rIns="45720">
            <a:spAutoFit/>
          </a:bodyPr>
          <a:lstStyle/>
          <a:p>
            <a:pPr algn="l">
              <a:spcAft>
                <a:spcPts val="0"/>
              </a:spcAft>
            </a:pPr>
            <a:r>
              <a:rPr sz="1400" b="0" i="0">
                <a:solidFill>
                  <a:srgbClr val="E6EDF3"/>
                </a:solidFill>
                <a:latin typeface="Courier New"/>
              </a:rPr>
              <a:t># software: setup, verify, profile, benchmark, compare</a:t>
            </a:r>
          </a:p>
          <a:p>
            <a:pPr algn="l">
              <a:spcAft>
                <a:spcPts val="0"/>
              </a:spcAft>
            </a:pPr>
            <a:r>
              <a:rPr sz="1400" b="0" i="0">
                <a:solidFill>
                  <a:srgbClr val="E6EDF3"/>
                </a:solidFill>
                <a:latin typeface="Courier New"/>
              </a:rPr>
              <a:t>sudo ./script_nbody.sh</a:t>
            </a:r>
          </a:p>
          <a:p>
            <a:pPr algn="l">
              <a:spcAft>
                <a:spcPts val="0"/>
              </a:spcAft>
            </a:pPr>
            <a:r>
              <a:rPr sz="1400" b="0" i="0">
                <a:solidFill>
                  <a:srgbClr val="E6EDF3"/>
                </a:solidFill>
                <a:latin typeface="Courier New"/>
              </a:rPr>
              <a:t>sudo ./script_raytrace.sh</a:t>
            </a:r>
          </a:p>
          <a:p>
            <a:pPr algn="l">
              <a:spcAft>
                <a:spcPts val="0"/>
              </a:spcAft>
            </a:pPr>
            <a:r>
              <a:rPr sz="1400" b="0" i="0">
                <a:solidFill>
                  <a:srgbClr val="E6EDF3"/>
                </a:solidFill>
                <a:latin typeface="Courier New"/>
              </a:rPr>
              <a:t>sudo SKIP_SETUP=1 FAST=1 ./script_nbody.sh   # quick</a:t>
            </a:r>
          </a:p>
          <a:p>
            <a:pPr algn="l">
              <a:spcAft>
                <a:spcPts val="0"/>
              </a:spcAft>
            </a:pPr>
            <a:r>
              <a:rPr sz="1400" b="0" i="0">
                <a:solidFill>
                  <a:srgbClr val="E6EDF3"/>
                </a:solidFill>
                <a:latin typeface="Courier New"/>
              </a:rPr>
              <a:t/>
            </a:r>
          </a:p>
          <a:p>
            <a:pPr algn="l">
              <a:spcAft>
                <a:spcPts val="0"/>
              </a:spcAft>
            </a:pPr>
            <a:r>
              <a:rPr sz="1400" b="0" i="0">
                <a:solidFill>
                  <a:srgbClr val="E6EDF3"/>
                </a:solidFill>
                <a:latin typeface="Courier New"/>
              </a:rPr>
              <a:t># correctness only</a:t>
            </a:r>
          </a:p>
          <a:p>
            <a:pPr algn="l">
              <a:spcAft>
                <a:spcPts val="0"/>
              </a:spcAft>
            </a:pPr>
            <a:r>
              <a:rPr sz="1400" b="0" i="0">
                <a:solidFill>
                  <a:srgbClr val="E6EDF3"/>
                </a:solidFill>
                <a:latin typeface="Courier New"/>
              </a:rPr>
              <a:t>python3 nbody/verify_nbody.py</a:t>
            </a:r>
          </a:p>
          <a:p>
            <a:pPr algn="l">
              <a:spcAft>
                <a:spcPts val="0"/>
              </a:spcAft>
            </a:pPr>
            <a:r>
              <a:rPr sz="1400" b="0" i="0">
                <a:solidFill>
                  <a:srgbClr val="E6EDF3"/>
                </a:solidFill>
                <a:latin typeface="Courier New"/>
              </a:rPr>
              <a:t>python3 raytrace/verify_raytrace.py</a:t>
            </a:r>
          </a:p>
          <a:p>
            <a:pPr algn="l">
              <a:spcAft>
                <a:spcPts val="0"/>
              </a:spcAft>
            </a:pPr>
            <a:r>
              <a:rPr sz="1400" b="0" i="0">
                <a:solidFill>
                  <a:srgbClr val="E6EDF3"/>
                </a:solidFill>
                <a:latin typeface="Courier New"/>
              </a:rPr>
              <a:t/>
            </a:r>
          </a:p>
          <a:p>
            <a:pPr algn="l">
              <a:spcAft>
                <a:spcPts val="0"/>
              </a:spcAft>
            </a:pPr>
            <a:r>
              <a:rPr sz="1400" b="0" i="0">
                <a:solidFill>
                  <a:srgbClr val="E6EDF3"/>
                </a:solidFill>
                <a:latin typeface="Courier New"/>
              </a:rPr>
              <a:t># hardware: FP units, accelerator, driver</a:t>
            </a:r>
          </a:p>
          <a:p>
            <a:pPr algn="l">
              <a:spcAft>
                <a:spcPts val="0"/>
              </a:spcAft>
            </a:pPr>
            <a:r>
              <a:rPr sz="1400" b="0" i="0">
                <a:solidFill>
                  <a:srgbClr val="E6EDF3"/>
                </a:solidFill>
                <a:latin typeface="Courier New"/>
              </a:rPr>
              <a:t>hw/nbody_accel/run_tests.sh</a:t>
            </a:r>
          </a:p>
          <a:p>
            <a:pPr algn="l">
              <a:spcAft>
                <a:spcPts val="0"/>
              </a:spcAft>
            </a:pPr>
            <a:r>
              <a:rPr sz="1400" b="0" i="0">
                <a:solidFill>
                  <a:srgbClr val="E6EDF3"/>
                </a:solidFill>
                <a:latin typeface="Courier New"/>
              </a:rPr>
              <a:t>python3 hw/nbody_accel/model/estimate_speedup.py</a:t>
            </a:r>
          </a:p>
        </p:txBody>
      </p:sp>
      <p:sp>
        <p:nvSpPr>
          <p:cNvPr id="6" name="TextBox 5"/>
          <p:cNvSpPr txBox="1"/>
          <p:nvPr/>
        </p:nvSpPr>
        <p:spPr>
          <a:xfrm>
            <a:off x="7772400" y="1645920"/>
            <a:ext cx="3840480" cy="4480560"/>
          </a:xfrm>
          <a:prstGeom prst="rect">
            <a:avLst/>
          </a:prstGeom>
          <a:noFill/>
        </p:spPr>
        <p:txBody>
          <a:bodyPr wrap="square" anchor="t" lIns="45720" rIns="45720">
            <a:spAutoFit/>
          </a:bodyPr>
          <a:lstStyle/>
          <a:p>
            <a:pPr algn="l" marL="228600" indent="-228600">
              <a:spcAft>
                <a:spcPts val="1000"/>
              </a:spcAft>
              <a:buChar char="•"/>
            </a:pPr>
            <a:r>
              <a:rPr sz="1500" b="1" i="0">
                <a:solidFill>
                  <a:srgbClr val="1E2A38"/>
                </a:solidFill>
                <a:latin typeface="Calibri"/>
              </a:rPr>
              <a:t>Reports: </a:t>
            </a:r>
            <a:r>
              <a:rPr sz="1500" b="0" i="0">
                <a:solidFill>
                  <a:srgbClr val="1E2A38"/>
                </a:solidFill>
                <a:latin typeface="Calibri"/>
              </a:rPr>
              <a:t>report_nbody.txt, report_raytrace.txt</a:t>
            </a:r>
          </a:p>
          <a:p>
            <a:pPr algn="l" marL="228600" indent="-228600">
              <a:spcAft>
                <a:spcPts val="1000"/>
              </a:spcAft>
              <a:buChar char="•"/>
            </a:pPr>
            <a:r>
              <a:rPr sz="1500" b="1" i="0">
                <a:solidFill>
                  <a:srgbClr val="1E2A38"/>
                </a:solidFill>
                <a:latin typeface="Calibri"/>
              </a:rPr>
              <a:t>Flame graphs: </a:t>
            </a:r>
            <a:r>
              <a:rPr sz="1500" b="0" i="0">
                <a:solidFill>
                  <a:srgbClr val="1E2A38"/>
                </a:solidFill>
                <a:latin typeface="Calibri"/>
              </a:rPr>
              <a:t>results/profiling/&lt;bench&gt;/&lt;version&gt;/</a:t>
            </a:r>
          </a:p>
          <a:p>
            <a:pPr algn="l" marL="228600" indent="-228600">
              <a:spcAft>
                <a:spcPts val="1000"/>
              </a:spcAft>
              <a:buChar char="•"/>
            </a:pPr>
            <a:r>
              <a:rPr sz="1500" b="1" i="0">
                <a:solidFill>
                  <a:srgbClr val="1E2A38"/>
                </a:solidFill>
                <a:latin typeface="Calibri"/>
              </a:rPr>
              <a:t>Raw timings: </a:t>
            </a:r>
            <a:r>
              <a:rPr sz="1500" b="0" i="0">
                <a:solidFill>
                  <a:srgbClr val="1E2A38"/>
                </a:solidFill>
                <a:latin typeface="Calibri"/>
              </a:rPr>
              <a:t>results/*.json + commands</a:t>
            </a:r>
          </a:p>
          <a:p>
            <a:pPr algn="l" marL="228600" indent="-228600">
              <a:spcAft>
                <a:spcPts val="1000"/>
              </a:spcAft>
              <a:buChar char="•"/>
            </a:pPr>
            <a:r>
              <a:rPr sz="1500" b="1" i="0">
                <a:solidFill>
                  <a:srgbClr val="1E2A38"/>
                </a:solidFill>
                <a:latin typeface="Calibri"/>
              </a:rPr>
              <a:t>Hardware: </a:t>
            </a:r>
            <a:r>
              <a:rPr sz="1500" b="0" i="0">
                <a:solidFill>
                  <a:srgbClr val="1E2A38"/>
                </a:solidFill>
                <a:latin typeface="Calibri"/>
              </a:rPr>
              <a:t>hw/nbody_accel/ (docs, rtl, tb, sw)</a:t>
            </a:r>
          </a:p>
          <a:p>
            <a:pPr algn="l" marL="228600" indent="-228600">
              <a:spcAft>
                <a:spcPts val="1000"/>
              </a:spcAft>
              <a:buChar char="•"/>
            </a:pPr>
            <a:r>
              <a:rPr sz="1500" b="1" i="0">
                <a:solidFill>
                  <a:srgbClr val="1E2A38"/>
                </a:solidFill>
                <a:latin typeface="Calibri"/>
              </a:rPr>
              <a:t>AI prompts: </a:t>
            </a:r>
            <a:r>
              <a:rPr sz="1500" b="0" i="0">
                <a:solidFill>
                  <a:srgbClr val="1E2A38"/>
                </a:solidFill>
                <a:latin typeface="Calibri"/>
              </a:rPr>
              <a:t>prompt.txt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